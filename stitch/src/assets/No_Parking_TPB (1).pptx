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x="18288000" cy="10287000"/>
  <p:notesSz cx="6858000" cy="9144000"/>
  <p:embeddedFontLst>
    <p:embeddedFont>
      <p:font typeface="Poppins Bold" charset="1" panose="00000800000000000000"/>
      <p:regular r:id="rId29"/>
    </p:embeddedFont>
    <p:embeddedFont>
      <p:font typeface="Poppins Semi-Bold" charset="1" panose="00000700000000000000"/>
      <p:regular r:id="rId30"/>
    </p:embeddedFont>
    <p:embeddedFont>
      <p:font typeface="Canva Sans" charset="1" panose="020B0503030501040103"/>
      <p:regular r:id="rId31"/>
    </p:embeddedFont>
    <p:embeddedFont>
      <p:font typeface="Poppins Medium" charset="1" panose="00000600000000000000"/>
      <p:regular r:id="rId32"/>
    </p:embeddedFont>
    <p:embeddedFont>
      <p:font typeface="Impact" charset="1" panose="020B0806030902050204"/>
      <p:regular r:id="rId33"/>
    </p:embeddedFont>
    <p:embeddedFont>
      <p:font typeface="Poppins" charset="1" panose="00000500000000000000"/>
      <p:regular r:id="rId34"/>
    </p:embeddedFont>
    <p:embeddedFont>
      <p:font typeface="Canva Sans Bold" charset="1" panose="020B0803030501040103"/>
      <p:regular r:id="rId35"/>
    </p:embeddedFont>
    <p:embeddedFont>
      <p:font typeface="Overpass Ultra-Bold" charset="1" panose="00000900000000000000"/>
      <p:regular r:id="rId36"/>
    </p:embeddedFont>
    <p:embeddedFont>
      <p:font typeface="Overpass" charset="1" panose="00000500000000000000"/>
      <p:regular r:id="rId37"/>
    </p:embeddedFont>
    <p:embeddedFont>
      <p:font typeface="Open Sauce Bold" charset="1" panose="00000800000000000000"/>
      <p:regular r:id="rId38"/>
    </p:embeddedFont>
    <p:embeddedFont>
      <p:font typeface="Open Sauce Light" charset="1" panose="00000400000000000000"/>
      <p:regular r:id="rId39"/>
    </p:embeddedFont>
    <p:embeddedFont>
      <p:font typeface="Open Sauce" charset="1" panose="00000500000000000000"/>
      <p:regular r:id="rId40"/>
    </p:embeddedFont>
    <p:embeddedFont>
      <p:font typeface="Cy Grotesk Wide Bold" charset="1" panose="00000805000000000000"/>
      <p:regular r:id="rId41"/>
    </p:embeddedFont>
    <p:embeddedFont>
      <p:font typeface="Cy Grotesk Wide" charset="1" panose="00000505000000000000"/>
      <p:regular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fonts/font42.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 Id="rId7" Target="../media/image10.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https://docs.google.com/document/d/1KA6UgK-b0Z1XY8rfkVqdTnzXJkNKobBWOYXVF1w83kI/edit?usp=sharing" TargetMode="External" Type="http://schemas.openxmlformats.org/officeDocument/2006/relationships/hyperlink"/><Relationship Id="rId3" Target="../media/image10.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https://www.motista.com" TargetMode="External" Type="http://schemas.openxmlformats.org/officeDocument/2006/relationships/hyperlink"/><Relationship Id="rId3" Target="https://www.mckinsey.com" TargetMode="External" Type="http://schemas.openxmlformats.org/officeDocument/2006/relationships/hyperlink"/><Relationship Id="rId4" Target="https://loyaltylion.com/blog/customer-retention-cost" TargetMode="External" Type="http://schemas.openxmlformats.org/officeDocument/2006/relationships/hyperlink"/><Relationship Id="rId5" Target="https://www.adobe.com/insights/digital-economy-index.html" TargetMode="External" Type="http://schemas.openxmlformats.org/officeDocument/2006/relationships/hyperlink"/><Relationship Id="rId6" Target="https://thebftonline.com/2024/05/24/the-importance-of-retention-rate-maxwell-ampong/" TargetMode="External" Type="http://schemas.openxmlformats.org/officeDocument/2006/relationships/hyperlink"/><Relationship Id="rId7" Target="https://smallbiztrends.com/increase-in-customer-retention-increases-profits/" TargetMode="External" Type="http://schemas.openxmlformats.org/officeDocument/2006/relationships/hyperlink"/><Relationship Id="rId8" Target="https://loyaltylion.com/blog/customer-retention-cost" TargetMode="External" Type="http://schemas.openxmlformats.org/officeDocument/2006/relationships/hyperlink"/><Relationship Id="rId9" Target="../media/image1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1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png" Type="http://schemas.openxmlformats.org/officeDocument/2006/relationships/image"/><Relationship Id="rId4" Target="../media/image20.png" Type="http://schemas.openxmlformats.org/officeDocument/2006/relationships/image"/><Relationship Id="rId5" Target="../media/image21.png" Type="http://schemas.openxmlformats.org/officeDocument/2006/relationships/image"/><Relationship Id="rId6" Target="../media/image22.png" Type="http://schemas.openxmlformats.org/officeDocument/2006/relationships/image"/><Relationship Id="rId7" Target="../media/image23.png" Type="http://schemas.openxmlformats.org/officeDocument/2006/relationships/image"/><Relationship Id="rId8" Target="../media/image1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https://docs.google.com/document/d/1KA6UgK-b0Z1XY8rfkVqdTnzXJkNKobBWOYXVF1w83kI/edit?usp=sharing" TargetMode="External" Type="http://schemas.openxmlformats.org/officeDocument/2006/relationships/hyperlink"/><Relationship Id="rId3" Target="../media/image1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1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png" Type="http://schemas.openxmlformats.org/officeDocument/2006/relationships/image"/><Relationship Id="rId4" Target="../media/image1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jpeg" Type="http://schemas.openxmlformats.org/officeDocument/2006/relationships/image"/><Relationship Id="rId3" Target="../media/image28.png" Type="http://schemas.openxmlformats.org/officeDocument/2006/relationships/image"/><Relationship Id="rId4" Target="../media/image10.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 Id="rId3" Target="../media/image10.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media/image10.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 Id="rId3" Target="../media/image10.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png" Type="http://schemas.openxmlformats.org/officeDocument/2006/relationships/image"/><Relationship Id="rId4" Target="../media/image10.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 Id="rId3" Target="https://www.mckinsey.com" TargetMode="External" Type="http://schemas.openxmlformats.org/officeDocument/2006/relationships/hyperlink"/><Relationship Id="rId4" Target="https://www.bcg.com" TargetMode="External" Type="http://schemas.openxmlformats.org/officeDocument/2006/relationships/hyperlink"/><Relationship Id="rId5" Target="../media/image10.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36.svg" Type="http://schemas.openxmlformats.org/officeDocument/2006/relationships/image"/><Relationship Id="rId4" Target="../media/image37.png" Type="http://schemas.openxmlformats.org/officeDocument/2006/relationships/image"/><Relationship Id="rId5" Target="../media/image38.svg" Type="http://schemas.openxmlformats.org/officeDocument/2006/relationships/image"/><Relationship Id="rId6" Target="../media/image10.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png" Type="http://schemas.openxmlformats.org/officeDocument/2006/relationships/image"/><Relationship Id="rId3" Target="../media/image40.png" Type="http://schemas.openxmlformats.org/officeDocument/2006/relationships/image"/><Relationship Id="rId4" Target="../media/image41.png" Type="http://schemas.openxmlformats.org/officeDocument/2006/relationships/image"/><Relationship Id="rId5" Target="../media/image10.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2.png" Type="http://schemas.openxmlformats.org/officeDocument/2006/relationships/image"/><Relationship Id="rId3" Target="../media/image43.svg" Type="http://schemas.openxmlformats.org/officeDocument/2006/relationships/image"/><Relationship Id="rId4" Target="../media/image44.png" Type="http://schemas.openxmlformats.org/officeDocument/2006/relationships/image"/><Relationship Id="rId5" Target="../media/image45.svg" Type="http://schemas.openxmlformats.org/officeDocument/2006/relationships/image"/><Relationship Id="rId6" Target="../media/image10.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6.png" Type="http://schemas.openxmlformats.org/officeDocument/2006/relationships/image"/><Relationship Id="rId3" Target="../media/image47.svg" Type="http://schemas.openxmlformats.org/officeDocument/2006/relationships/image"/><Relationship Id="rId4" Target="../media/image10.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png" Type="http://schemas.openxmlformats.org/officeDocument/2006/relationships/image"/><Relationship Id="rId2" Target="../media/image48.png" Type="http://schemas.openxmlformats.org/officeDocument/2006/relationships/image"/><Relationship Id="rId3" Target="../media/image49.svg" Type="http://schemas.openxmlformats.org/officeDocument/2006/relationships/image"/><Relationship Id="rId4" Target="../media/image50.png" Type="http://schemas.openxmlformats.org/officeDocument/2006/relationships/image"/><Relationship Id="rId5" Target="../media/image51.svg" Type="http://schemas.openxmlformats.org/officeDocument/2006/relationships/image"/><Relationship Id="rId6" Target="../media/image52.png" Type="http://schemas.openxmlformats.org/officeDocument/2006/relationships/image"/><Relationship Id="rId7" Target="../media/image53.svg" Type="http://schemas.openxmlformats.org/officeDocument/2006/relationships/image"/><Relationship Id="rId8" Target="../media/image54.png" Type="http://schemas.openxmlformats.org/officeDocument/2006/relationships/image"/><Relationship Id="rId9" Target="../media/image5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7061BD"/>
        </a:solidFill>
      </p:bgPr>
    </p:bg>
    <p:spTree>
      <p:nvGrpSpPr>
        <p:cNvPr id="1" name=""/>
        <p:cNvGrpSpPr/>
        <p:nvPr/>
      </p:nvGrpSpPr>
      <p:grpSpPr>
        <a:xfrm>
          <a:off x="0" y="0"/>
          <a:ext cx="0" cy="0"/>
          <a:chOff x="0" y="0"/>
          <a:chExt cx="0" cy="0"/>
        </a:xfrm>
      </p:grpSpPr>
      <p:grpSp>
        <p:nvGrpSpPr>
          <p:cNvPr name="Group 2" id="2"/>
          <p:cNvGrpSpPr/>
          <p:nvPr/>
        </p:nvGrpSpPr>
        <p:grpSpPr>
          <a:xfrm rot="0">
            <a:off x="-332753" y="5615657"/>
            <a:ext cx="19633980" cy="5857009"/>
            <a:chOff x="0" y="0"/>
            <a:chExt cx="5171089" cy="1542587"/>
          </a:xfrm>
        </p:grpSpPr>
        <p:sp>
          <p:nvSpPr>
            <p:cNvPr name="Freeform 3" id="3"/>
            <p:cNvSpPr/>
            <p:nvPr/>
          </p:nvSpPr>
          <p:spPr>
            <a:xfrm flipH="false" flipV="false" rot="0">
              <a:off x="0" y="0"/>
              <a:ext cx="5171089" cy="1542587"/>
            </a:xfrm>
            <a:custGeom>
              <a:avLst/>
              <a:gdLst/>
              <a:ahLst/>
              <a:cxnLst/>
              <a:rect r="r" b="b" t="t" l="l"/>
              <a:pathLst>
                <a:path h="1542587" w="5171089">
                  <a:moveTo>
                    <a:pt x="0" y="0"/>
                  </a:moveTo>
                  <a:lnTo>
                    <a:pt x="5171089" y="0"/>
                  </a:lnTo>
                  <a:lnTo>
                    <a:pt x="5171089" y="1542587"/>
                  </a:lnTo>
                  <a:lnTo>
                    <a:pt x="0" y="1542587"/>
                  </a:lnTo>
                  <a:close/>
                </a:path>
              </a:pathLst>
            </a:custGeom>
            <a:solidFill>
              <a:srgbClr val="DCD7F1"/>
            </a:solidFill>
          </p:spPr>
        </p:sp>
        <p:sp>
          <p:nvSpPr>
            <p:cNvPr name="TextBox 4" id="4"/>
            <p:cNvSpPr txBox="true"/>
            <p:nvPr/>
          </p:nvSpPr>
          <p:spPr>
            <a:xfrm>
              <a:off x="0" y="-38100"/>
              <a:ext cx="5171089" cy="1580687"/>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2393709" y="-6797019"/>
            <a:ext cx="12911838" cy="12648221"/>
          </a:xfrm>
          <a:custGeom>
            <a:avLst/>
            <a:gdLst/>
            <a:ahLst/>
            <a:cxnLst/>
            <a:rect r="r" b="b" t="t" l="l"/>
            <a:pathLst>
              <a:path h="12648221" w="12911838">
                <a:moveTo>
                  <a:pt x="0" y="0"/>
                </a:moveTo>
                <a:lnTo>
                  <a:pt x="12911838" y="0"/>
                </a:lnTo>
                <a:lnTo>
                  <a:pt x="12911838" y="12648221"/>
                </a:lnTo>
                <a:lnTo>
                  <a:pt x="0" y="12648221"/>
                </a:lnTo>
                <a:lnTo>
                  <a:pt x="0" y="0"/>
                </a:lnTo>
                <a:close/>
              </a:path>
            </a:pathLst>
          </a:custGeom>
          <a:blipFill>
            <a:blip r:embed="rId2">
              <a:alphaModFix amt="39000"/>
            </a:blip>
            <a:stretch>
              <a:fillRect l="0" t="0" r="0" b="0"/>
            </a:stretch>
          </a:blipFill>
        </p:spPr>
      </p:sp>
      <p:sp>
        <p:nvSpPr>
          <p:cNvPr name="Freeform 6" id="6"/>
          <p:cNvSpPr/>
          <p:nvPr/>
        </p:nvSpPr>
        <p:spPr>
          <a:xfrm flipH="false" flipV="false" rot="0">
            <a:off x="3956840" y="3623488"/>
            <a:ext cx="9824145" cy="5961830"/>
          </a:xfrm>
          <a:custGeom>
            <a:avLst/>
            <a:gdLst/>
            <a:ahLst/>
            <a:cxnLst/>
            <a:rect r="r" b="b" t="t" l="l"/>
            <a:pathLst>
              <a:path h="5961830" w="9824145">
                <a:moveTo>
                  <a:pt x="0" y="0"/>
                </a:moveTo>
                <a:lnTo>
                  <a:pt x="9824145" y="0"/>
                </a:lnTo>
                <a:lnTo>
                  <a:pt x="9824145" y="5961830"/>
                </a:lnTo>
                <a:lnTo>
                  <a:pt x="0" y="596183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695947" y="1927356"/>
            <a:ext cx="3449295" cy="2276535"/>
          </a:xfrm>
          <a:custGeom>
            <a:avLst/>
            <a:gdLst/>
            <a:ahLst/>
            <a:cxnLst/>
            <a:rect r="r" b="b" t="t" l="l"/>
            <a:pathLst>
              <a:path h="2276535" w="3449295">
                <a:moveTo>
                  <a:pt x="0" y="0"/>
                </a:moveTo>
                <a:lnTo>
                  <a:pt x="3449294" y="0"/>
                </a:lnTo>
                <a:lnTo>
                  <a:pt x="3449294" y="2276535"/>
                </a:lnTo>
                <a:lnTo>
                  <a:pt x="0" y="227653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6114128" y="1943730"/>
            <a:ext cx="3187100" cy="4114800"/>
          </a:xfrm>
          <a:custGeom>
            <a:avLst/>
            <a:gdLst/>
            <a:ahLst/>
            <a:cxnLst/>
            <a:rect r="r" b="b" t="t" l="l"/>
            <a:pathLst>
              <a:path h="4114800" w="3187100">
                <a:moveTo>
                  <a:pt x="0" y="0"/>
                </a:moveTo>
                <a:lnTo>
                  <a:pt x="3187100" y="0"/>
                </a:lnTo>
                <a:lnTo>
                  <a:pt x="318710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15791763" y="6058530"/>
            <a:ext cx="1669058" cy="3671927"/>
          </a:xfrm>
          <a:custGeom>
            <a:avLst/>
            <a:gdLst/>
            <a:ahLst/>
            <a:cxnLst/>
            <a:rect r="r" b="b" t="t" l="l"/>
            <a:pathLst>
              <a:path h="3671927" w="1669058">
                <a:moveTo>
                  <a:pt x="0" y="0"/>
                </a:moveTo>
                <a:lnTo>
                  <a:pt x="1669058" y="0"/>
                </a:lnTo>
                <a:lnTo>
                  <a:pt x="1669058" y="3671927"/>
                </a:lnTo>
                <a:lnTo>
                  <a:pt x="0" y="367192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0" id="10"/>
          <p:cNvGrpSpPr/>
          <p:nvPr/>
        </p:nvGrpSpPr>
        <p:grpSpPr>
          <a:xfrm rot="0">
            <a:off x="6136719" y="658604"/>
            <a:ext cx="7203366" cy="1285125"/>
            <a:chOff x="0" y="0"/>
            <a:chExt cx="9604488" cy="1713500"/>
          </a:xfrm>
        </p:grpSpPr>
        <p:grpSp>
          <p:nvGrpSpPr>
            <p:cNvPr name="Group 11" id="11"/>
            <p:cNvGrpSpPr/>
            <p:nvPr/>
          </p:nvGrpSpPr>
          <p:grpSpPr>
            <a:xfrm rot="0">
              <a:off x="0" y="0"/>
              <a:ext cx="1713500" cy="1713500"/>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1"/>
                <a:stretch>
                  <a:fillRect l="0" t="-446" r="0" b="0"/>
                </a:stretch>
              </a:blipFill>
            </p:spPr>
          </p:sp>
        </p:grpSp>
        <p:sp>
          <p:nvSpPr>
            <p:cNvPr name="TextBox 13" id="13"/>
            <p:cNvSpPr txBox="true"/>
            <p:nvPr/>
          </p:nvSpPr>
          <p:spPr>
            <a:xfrm rot="0">
              <a:off x="2005721" y="76973"/>
              <a:ext cx="5026776" cy="1635410"/>
            </a:xfrm>
            <a:prstGeom prst="rect">
              <a:avLst/>
            </a:prstGeom>
          </p:spPr>
          <p:txBody>
            <a:bodyPr anchor="t" rtlCol="false" tIns="0" lIns="0" bIns="0" rIns="0">
              <a:spAutoFit/>
            </a:bodyPr>
            <a:lstStyle/>
            <a:p>
              <a:pPr algn="l">
                <a:lnSpc>
                  <a:spcPts val="9831"/>
                </a:lnSpc>
                <a:spcBef>
                  <a:spcPct val="0"/>
                </a:spcBef>
              </a:pPr>
              <a:r>
                <a:rPr lang="en-US" b="true" sz="7022">
                  <a:solidFill>
                    <a:srgbClr val="FFFFFF"/>
                  </a:solidFill>
                  <a:latin typeface="Poppins Bold"/>
                  <a:ea typeface="Poppins Bold"/>
                  <a:cs typeface="Poppins Bold"/>
                  <a:sym typeface="Poppins Bold"/>
                </a:rPr>
                <a:t>No</a:t>
              </a:r>
            </a:p>
          </p:txBody>
        </p:sp>
        <p:sp>
          <p:nvSpPr>
            <p:cNvPr name="TextBox 14" id="14"/>
            <p:cNvSpPr txBox="true"/>
            <p:nvPr/>
          </p:nvSpPr>
          <p:spPr>
            <a:xfrm rot="0">
              <a:off x="3838803" y="76973"/>
              <a:ext cx="5765685" cy="1635410"/>
            </a:xfrm>
            <a:prstGeom prst="rect">
              <a:avLst/>
            </a:prstGeom>
          </p:spPr>
          <p:txBody>
            <a:bodyPr anchor="t" rtlCol="false" tIns="0" lIns="0" bIns="0" rIns="0">
              <a:spAutoFit/>
            </a:bodyPr>
            <a:lstStyle/>
            <a:p>
              <a:pPr algn="l">
                <a:lnSpc>
                  <a:spcPts val="9831"/>
                </a:lnSpc>
                <a:spcBef>
                  <a:spcPct val="0"/>
                </a:spcBef>
              </a:pPr>
              <a:r>
                <a:rPr lang="en-US" b="true" sz="7022">
                  <a:solidFill>
                    <a:srgbClr val="FFFFFF"/>
                  </a:solidFill>
                  <a:latin typeface="Poppins Semi-Bold"/>
                  <a:ea typeface="Poppins Semi-Bold"/>
                  <a:cs typeface="Poppins Semi-Bold"/>
                  <a:sym typeface="Poppins Semi-Bold"/>
                </a:rPr>
                <a:t>Parking</a:t>
              </a:r>
            </a:p>
          </p:txBody>
        </p:sp>
      </p:grpSp>
      <p:sp>
        <p:nvSpPr>
          <p:cNvPr name="TextBox 15" id="1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a:t>
            </a:r>
          </a:p>
        </p:txBody>
      </p:sp>
      <p:sp>
        <p:nvSpPr>
          <p:cNvPr name="TextBox 16" id="16"/>
          <p:cNvSpPr txBox="true"/>
          <p:nvPr/>
        </p:nvSpPr>
        <p:spPr>
          <a:xfrm rot="0">
            <a:off x="7516689" y="1886580"/>
            <a:ext cx="4443427" cy="817305"/>
          </a:xfrm>
          <a:prstGeom prst="rect">
            <a:avLst/>
          </a:prstGeom>
        </p:spPr>
        <p:txBody>
          <a:bodyPr anchor="t" rtlCol="false" tIns="0" lIns="0" bIns="0" rIns="0">
            <a:spAutoFit/>
          </a:bodyPr>
          <a:lstStyle/>
          <a:p>
            <a:pPr algn="ctr">
              <a:lnSpc>
                <a:spcPts val="3251"/>
              </a:lnSpc>
            </a:pPr>
            <a:r>
              <a:rPr lang="en-US" sz="2322" b="true">
                <a:solidFill>
                  <a:srgbClr val="F8F8F8"/>
                </a:solidFill>
                <a:latin typeface="Poppins Medium"/>
                <a:ea typeface="Poppins Medium"/>
                <a:cs typeface="Poppins Medium"/>
                <a:sym typeface="Poppins Medium"/>
              </a:rPr>
              <a:t>Done By Munzir, Aditya, Vishal</a:t>
            </a:r>
          </a:p>
          <a:p>
            <a:pPr algn="ctr">
              <a:lnSpc>
                <a:spcPts val="3251"/>
              </a:lnSpc>
              <a:spcBef>
                <a:spcPct val="0"/>
              </a:spcBef>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7061BD"/>
        </a:solidFill>
      </p:bgPr>
    </p:bg>
    <p:spTree>
      <p:nvGrpSpPr>
        <p:cNvPr id="1" name=""/>
        <p:cNvGrpSpPr/>
        <p:nvPr/>
      </p:nvGrpSpPr>
      <p:grpSpPr>
        <a:xfrm>
          <a:off x="0" y="0"/>
          <a:ext cx="0" cy="0"/>
          <a:chOff x="0" y="0"/>
          <a:chExt cx="0" cy="0"/>
        </a:xfrm>
      </p:grpSpPr>
      <p:grpSp>
        <p:nvGrpSpPr>
          <p:cNvPr name="Group 2" id="2"/>
          <p:cNvGrpSpPr/>
          <p:nvPr/>
        </p:nvGrpSpPr>
        <p:grpSpPr>
          <a:xfrm rot="0">
            <a:off x="-399926" y="5615657"/>
            <a:ext cx="19633980" cy="5857009"/>
            <a:chOff x="0" y="0"/>
            <a:chExt cx="5171089" cy="1542587"/>
          </a:xfrm>
        </p:grpSpPr>
        <p:sp>
          <p:nvSpPr>
            <p:cNvPr name="Freeform 3" id="3"/>
            <p:cNvSpPr/>
            <p:nvPr/>
          </p:nvSpPr>
          <p:spPr>
            <a:xfrm flipH="false" flipV="false" rot="0">
              <a:off x="0" y="0"/>
              <a:ext cx="5171089" cy="1542587"/>
            </a:xfrm>
            <a:custGeom>
              <a:avLst/>
              <a:gdLst/>
              <a:ahLst/>
              <a:cxnLst/>
              <a:rect r="r" b="b" t="t" l="l"/>
              <a:pathLst>
                <a:path h="1542587" w="5171089">
                  <a:moveTo>
                    <a:pt x="0" y="0"/>
                  </a:moveTo>
                  <a:lnTo>
                    <a:pt x="5171089" y="0"/>
                  </a:lnTo>
                  <a:lnTo>
                    <a:pt x="5171089" y="1542587"/>
                  </a:lnTo>
                  <a:lnTo>
                    <a:pt x="0" y="1542587"/>
                  </a:lnTo>
                  <a:close/>
                </a:path>
              </a:pathLst>
            </a:custGeom>
            <a:solidFill>
              <a:srgbClr val="DCD7F1"/>
            </a:solidFill>
          </p:spPr>
        </p:sp>
        <p:sp>
          <p:nvSpPr>
            <p:cNvPr name="TextBox 4" id="4"/>
            <p:cNvSpPr txBox="true"/>
            <p:nvPr/>
          </p:nvSpPr>
          <p:spPr>
            <a:xfrm>
              <a:off x="0" y="-38100"/>
              <a:ext cx="5171089" cy="1580687"/>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0010114" y="0"/>
            <a:ext cx="19633980" cy="10287000"/>
            <a:chOff x="0" y="0"/>
            <a:chExt cx="5171089" cy="2709333"/>
          </a:xfrm>
        </p:grpSpPr>
        <p:sp>
          <p:nvSpPr>
            <p:cNvPr name="Freeform 6" id="6"/>
            <p:cNvSpPr/>
            <p:nvPr/>
          </p:nvSpPr>
          <p:spPr>
            <a:xfrm flipH="false" flipV="false" rot="0">
              <a:off x="0" y="0"/>
              <a:ext cx="5171089" cy="2709333"/>
            </a:xfrm>
            <a:custGeom>
              <a:avLst/>
              <a:gdLst/>
              <a:ahLst/>
              <a:cxnLst/>
              <a:rect r="r" b="b" t="t" l="l"/>
              <a:pathLst>
                <a:path h="2709333" w="5171089">
                  <a:moveTo>
                    <a:pt x="12224" y="0"/>
                  </a:moveTo>
                  <a:lnTo>
                    <a:pt x="5158866" y="0"/>
                  </a:lnTo>
                  <a:cubicBezTo>
                    <a:pt x="5165617" y="0"/>
                    <a:pt x="5171089" y="5473"/>
                    <a:pt x="5171089" y="12224"/>
                  </a:cubicBezTo>
                  <a:lnTo>
                    <a:pt x="5171089" y="2697110"/>
                  </a:lnTo>
                  <a:cubicBezTo>
                    <a:pt x="5171089" y="2703861"/>
                    <a:pt x="5165617" y="2709333"/>
                    <a:pt x="5158866" y="2709333"/>
                  </a:cubicBezTo>
                  <a:lnTo>
                    <a:pt x="12224" y="2709333"/>
                  </a:lnTo>
                  <a:cubicBezTo>
                    <a:pt x="5473" y="2709333"/>
                    <a:pt x="0" y="2703861"/>
                    <a:pt x="0" y="2697110"/>
                  </a:cubicBezTo>
                  <a:lnTo>
                    <a:pt x="0" y="12224"/>
                  </a:lnTo>
                  <a:cubicBezTo>
                    <a:pt x="0" y="5473"/>
                    <a:pt x="5473" y="0"/>
                    <a:pt x="12224" y="0"/>
                  </a:cubicBezTo>
                  <a:close/>
                </a:path>
              </a:pathLst>
            </a:custGeom>
            <a:solidFill>
              <a:srgbClr val="443880"/>
            </a:solidFill>
          </p:spPr>
        </p:sp>
        <p:sp>
          <p:nvSpPr>
            <p:cNvPr name="TextBox 7" id="7"/>
            <p:cNvSpPr txBox="true"/>
            <p:nvPr/>
          </p:nvSpPr>
          <p:spPr>
            <a:xfrm>
              <a:off x="0" y="-38100"/>
              <a:ext cx="5171089"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5133368" y="3213363"/>
            <a:ext cx="13034904" cy="12089874"/>
          </a:xfrm>
          <a:custGeom>
            <a:avLst/>
            <a:gdLst/>
            <a:ahLst/>
            <a:cxnLst/>
            <a:rect r="r" b="b" t="t" l="l"/>
            <a:pathLst>
              <a:path h="12089874" w="13034904">
                <a:moveTo>
                  <a:pt x="0" y="0"/>
                </a:moveTo>
                <a:lnTo>
                  <a:pt x="13034904" y="0"/>
                </a:lnTo>
                <a:lnTo>
                  <a:pt x="13034904" y="12089874"/>
                </a:lnTo>
                <a:lnTo>
                  <a:pt x="0" y="12089874"/>
                </a:lnTo>
                <a:lnTo>
                  <a:pt x="0" y="0"/>
                </a:lnTo>
                <a:close/>
              </a:path>
            </a:pathLst>
          </a:custGeom>
          <a:blipFill>
            <a:blip r:embed="rId2">
              <a:alphaModFix amt="44999"/>
            </a:blip>
            <a:stretch>
              <a:fillRect l="0" t="0" r="0" b="0"/>
            </a:stretch>
          </a:blipFill>
        </p:spPr>
      </p:sp>
      <p:sp>
        <p:nvSpPr>
          <p:cNvPr name="Freeform 9" id="9"/>
          <p:cNvSpPr/>
          <p:nvPr/>
        </p:nvSpPr>
        <p:spPr>
          <a:xfrm flipH="false" flipV="false" rot="0">
            <a:off x="450970" y="2689319"/>
            <a:ext cx="8693030" cy="6324791"/>
          </a:xfrm>
          <a:custGeom>
            <a:avLst/>
            <a:gdLst/>
            <a:ahLst/>
            <a:cxnLst/>
            <a:rect r="r" b="b" t="t" l="l"/>
            <a:pathLst>
              <a:path h="6324791" w="8693030">
                <a:moveTo>
                  <a:pt x="0" y="0"/>
                </a:moveTo>
                <a:lnTo>
                  <a:pt x="8693030" y="0"/>
                </a:lnTo>
                <a:lnTo>
                  <a:pt x="8693030" y="6324792"/>
                </a:lnTo>
                <a:lnTo>
                  <a:pt x="0" y="632479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450970" y="1247014"/>
            <a:ext cx="1588156" cy="1660619"/>
          </a:xfrm>
          <a:custGeom>
            <a:avLst/>
            <a:gdLst/>
            <a:ahLst/>
            <a:cxnLst/>
            <a:rect r="r" b="b" t="t" l="l"/>
            <a:pathLst>
              <a:path h="1660619" w="1588156">
                <a:moveTo>
                  <a:pt x="0" y="0"/>
                </a:moveTo>
                <a:lnTo>
                  <a:pt x="1588156" y="0"/>
                </a:lnTo>
                <a:lnTo>
                  <a:pt x="1588156" y="1660620"/>
                </a:lnTo>
                <a:lnTo>
                  <a:pt x="0" y="166062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1" id="11"/>
          <p:cNvSpPr txBox="true"/>
          <p:nvPr/>
        </p:nvSpPr>
        <p:spPr>
          <a:xfrm rot="0">
            <a:off x="10393831" y="2936209"/>
            <a:ext cx="8411657" cy="2422862"/>
          </a:xfrm>
          <a:prstGeom prst="rect">
            <a:avLst/>
          </a:prstGeom>
        </p:spPr>
        <p:txBody>
          <a:bodyPr anchor="t" rtlCol="false" tIns="0" lIns="0" bIns="0" rIns="0">
            <a:spAutoFit/>
          </a:bodyPr>
          <a:lstStyle/>
          <a:p>
            <a:pPr algn="l">
              <a:lnSpc>
                <a:spcPts val="9075"/>
              </a:lnSpc>
            </a:pPr>
            <a:r>
              <a:rPr lang="en-US" sz="8561" b="true">
                <a:solidFill>
                  <a:srgbClr val="FFFFFF"/>
                </a:solidFill>
                <a:latin typeface="Poppins Bold"/>
                <a:ea typeface="Poppins Bold"/>
                <a:cs typeface="Poppins Bold"/>
                <a:sym typeface="Poppins Bold"/>
              </a:rPr>
              <a:t>What to </a:t>
            </a:r>
          </a:p>
          <a:p>
            <a:pPr algn="l">
              <a:lnSpc>
                <a:spcPts val="9075"/>
              </a:lnSpc>
            </a:pPr>
            <a:r>
              <a:rPr lang="en-US" sz="8561" b="true">
                <a:solidFill>
                  <a:srgbClr val="FFFFFF"/>
                </a:solidFill>
                <a:latin typeface="Poppins Bold"/>
                <a:ea typeface="Poppins Bold"/>
                <a:cs typeface="Poppins Bold"/>
                <a:sym typeface="Poppins Bold"/>
              </a:rPr>
              <a:t>Focus?</a:t>
            </a:r>
          </a:p>
        </p:txBody>
      </p:sp>
      <p:grpSp>
        <p:nvGrpSpPr>
          <p:cNvPr name="Group 12" id="12"/>
          <p:cNvGrpSpPr/>
          <p:nvPr/>
        </p:nvGrpSpPr>
        <p:grpSpPr>
          <a:xfrm rot="0">
            <a:off x="11361734" y="6970064"/>
            <a:ext cx="1815553" cy="732449"/>
            <a:chOff x="0" y="0"/>
            <a:chExt cx="2420737" cy="976599"/>
          </a:xfrm>
        </p:grpSpPr>
        <p:grpSp>
          <p:nvGrpSpPr>
            <p:cNvPr name="Group 13" id="13"/>
            <p:cNvGrpSpPr/>
            <p:nvPr/>
          </p:nvGrpSpPr>
          <p:grpSpPr>
            <a:xfrm rot="0">
              <a:off x="0" y="0"/>
              <a:ext cx="2420737" cy="976599"/>
              <a:chOff x="0" y="0"/>
              <a:chExt cx="1007361" cy="406400"/>
            </a:xfrm>
          </p:grpSpPr>
          <p:sp>
            <p:nvSpPr>
              <p:cNvPr name="Freeform 14" id="14"/>
              <p:cNvSpPr/>
              <p:nvPr/>
            </p:nvSpPr>
            <p:spPr>
              <a:xfrm flipH="false" flipV="false" rot="0">
                <a:off x="0" y="0"/>
                <a:ext cx="1007361" cy="406400"/>
              </a:xfrm>
              <a:custGeom>
                <a:avLst/>
                <a:gdLst/>
                <a:ahLst/>
                <a:cxnLst/>
                <a:rect r="r" b="b" t="t" l="l"/>
                <a:pathLst>
                  <a:path h="406400" w="1007361">
                    <a:moveTo>
                      <a:pt x="804161" y="0"/>
                    </a:moveTo>
                    <a:cubicBezTo>
                      <a:pt x="916385" y="0"/>
                      <a:pt x="1007361" y="90976"/>
                      <a:pt x="1007361" y="203200"/>
                    </a:cubicBezTo>
                    <a:cubicBezTo>
                      <a:pt x="1007361" y="315424"/>
                      <a:pt x="916385" y="406400"/>
                      <a:pt x="804161"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38100" cap="sq">
                <a:solidFill>
                  <a:srgbClr val="000000"/>
                </a:solidFill>
                <a:prstDash val="solid"/>
                <a:miter/>
              </a:ln>
            </p:spPr>
          </p:sp>
          <p:sp>
            <p:nvSpPr>
              <p:cNvPr name="TextBox 15" id="15"/>
              <p:cNvSpPr txBox="true"/>
              <p:nvPr/>
            </p:nvSpPr>
            <p:spPr>
              <a:xfrm>
                <a:off x="0" y="95250"/>
                <a:ext cx="1007361" cy="311150"/>
              </a:xfrm>
              <a:prstGeom prst="rect">
                <a:avLst/>
              </a:prstGeom>
            </p:spPr>
            <p:txBody>
              <a:bodyPr anchor="ctr" rtlCol="false" tIns="50800" lIns="50800" bIns="50800" rIns="50800"/>
              <a:lstStyle/>
              <a:p>
                <a:pPr algn="ctr">
                  <a:lnSpc>
                    <a:spcPts val="1625"/>
                  </a:lnSpc>
                </a:pPr>
              </a:p>
            </p:txBody>
          </p:sp>
        </p:grpSp>
        <p:sp>
          <p:nvSpPr>
            <p:cNvPr name="AutoShape 16" id="16"/>
            <p:cNvSpPr/>
            <p:nvPr/>
          </p:nvSpPr>
          <p:spPr>
            <a:xfrm>
              <a:off x="867910" y="461059"/>
              <a:ext cx="757055" cy="0"/>
            </a:xfrm>
            <a:prstGeom prst="line">
              <a:avLst/>
            </a:prstGeom>
            <a:ln cap="flat" w="54481">
              <a:solidFill>
                <a:srgbClr val="000000"/>
              </a:solidFill>
              <a:prstDash val="solid"/>
              <a:headEnd type="none" len="sm" w="sm"/>
              <a:tailEnd type="arrow" len="sm" w="med"/>
            </a:ln>
          </p:spPr>
        </p:sp>
      </p:grpSp>
      <p:grpSp>
        <p:nvGrpSpPr>
          <p:cNvPr name="Group 17" id="17"/>
          <p:cNvGrpSpPr/>
          <p:nvPr/>
        </p:nvGrpSpPr>
        <p:grpSpPr>
          <a:xfrm rot="0">
            <a:off x="0" y="9555697"/>
            <a:ext cx="4099091" cy="731303"/>
            <a:chOff x="0" y="0"/>
            <a:chExt cx="5465455" cy="975071"/>
          </a:xfrm>
        </p:grpSpPr>
        <p:grpSp>
          <p:nvGrpSpPr>
            <p:cNvPr name="Group 18" id="18"/>
            <p:cNvGrpSpPr/>
            <p:nvPr/>
          </p:nvGrpSpPr>
          <p:grpSpPr>
            <a:xfrm rot="0">
              <a:off x="0" y="0"/>
              <a:ext cx="975071" cy="975071"/>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7"/>
                <a:stretch>
                  <a:fillRect l="0" t="-446" r="0" b="0"/>
                </a:stretch>
              </a:blipFill>
            </p:spPr>
          </p:sp>
        </p:grpSp>
        <p:sp>
          <p:nvSpPr>
            <p:cNvPr name="TextBox 20" id="20"/>
            <p:cNvSpPr txBox="true"/>
            <p:nvPr/>
          </p:nvSpPr>
          <p:spPr>
            <a:xfrm rot="0">
              <a:off x="1141360" y="48747"/>
              <a:ext cx="2860498" cy="925689"/>
            </a:xfrm>
            <a:prstGeom prst="rect">
              <a:avLst/>
            </a:prstGeom>
          </p:spPr>
          <p:txBody>
            <a:bodyPr anchor="t" rtlCol="false" tIns="0" lIns="0" bIns="0" rIns="0">
              <a:spAutoFit/>
            </a:bodyPr>
            <a:lstStyle/>
            <a:p>
              <a:pPr algn="l">
                <a:lnSpc>
                  <a:spcPts val="5594"/>
                </a:lnSpc>
                <a:spcBef>
                  <a:spcPct val="0"/>
                </a:spcBef>
              </a:pPr>
              <a:r>
                <a:rPr lang="en-US" b="true" sz="3996">
                  <a:solidFill>
                    <a:srgbClr val="FFFFFF"/>
                  </a:solidFill>
                  <a:latin typeface="Poppins Bold"/>
                  <a:ea typeface="Poppins Bold"/>
                  <a:cs typeface="Poppins Bold"/>
                  <a:sym typeface="Poppins Bold"/>
                </a:rPr>
                <a:t>No</a:t>
              </a:r>
            </a:p>
          </p:txBody>
        </p:sp>
        <p:sp>
          <p:nvSpPr>
            <p:cNvPr name="TextBox 21" id="21"/>
            <p:cNvSpPr txBox="true"/>
            <p:nvPr/>
          </p:nvSpPr>
          <p:spPr>
            <a:xfrm rot="0">
              <a:off x="2184479" y="48747"/>
              <a:ext cx="3280976" cy="925689"/>
            </a:xfrm>
            <a:prstGeom prst="rect">
              <a:avLst/>
            </a:prstGeom>
          </p:spPr>
          <p:txBody>
            <a:bodyPr anchor="t" rtlCol="false" tIns="0" lIns="0" bIns="0" rIns="0">
              <a:spAutoFit/>
            </a:bodyPr>
            <a:lstStyle/>
            <a:p>
              <a:pPr algn="l">
                <a:lnSpc>
                  <a:spcPts val="5594"/>
                </a:lnSpc>
                <a:spcBef>
                  <a:spcPct val="0"/>
                </a:spcBef>
              </a:pPr>
              <a:r>
                <a:rPr lang="en-US" b="true" sz="3996">
                  <a:solidFill>
                    <a:srgbClr val="FFFFFF"/>
                  </a:solidFill>
                  <a:latin typeface="Poppins Semi-Bold"/>
                  <a:ea typeface="Poppins Semi-Bold"/>
                  <a:cs typeface="Poppins Semi-Bold"/>
                  <a:sym typeface="Poppins Semi-Bold"/>
                </a:rPr>
                <a:t>Parking</a:t>
              </a:r>
            </a:p>
          </p:txBody>
        </p:sp>
      </p:grpSp>
      <p:sp>
        <p:nvSpPr>
          <p:cNvPr name="TextBox 22" id="2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DCD7F1"/>
        </a:solidFill>
      </p:bgPr>
    </p:bg>
    <p:spTree>
      <p:nvGrpSpPr>
        <p:cNvPr id="1" name=""/>
        <p:cNvGrpSpPr/>
        <p:nvPr/>
      </p:nvGrpSpPr>
      <p:grpSpPr>
        <a:xfrm>
          <a:off x="0" y="0"/>
          <a:ext cx="0" cy="0"/>
          <a:chOff x="0" y="0"/>
          <a:chExt cx="0" cy="0"/>
        </a:xfrm>
      </p:grpSpPr>
      <p:grpSp>
        <p:nvGrpSpPr>
          <p:cNvPr name="Group 2" id="2"/>
          <p:cNvGrpSpPr/>
          <p:nvPr/>
        </p:nvGrpSpPr>
        <p:grpSpPr>
          <a:xfrm rot="0">
            <a:off x="1023598" y="1886683"/>
            <a:ext cx="11839548" cy="1143000"/>
            <a:chOff x="0" y="0"/>
            <a:chExt cx="15786064" cy="1524000"/>
          </a:xfrm>
        </p:grpSpPr>
        <p:grpSp>
          <p:nvGrpSpPr>
            <p:cNvPr name="Group 3" id="3"/>
            <p:cNvGrpSpPr/>
            <p:nvPr/>
          </p:nvGrpSpPr>
          <p:grpSpPr>
            <a:xfrm rot="0">
              <a:off x="823510" y="0"/>
              <a:ext cx="14962554" cy="1524000"/>
              <a:chOff x="0" y="0"/>
              <a:chExt cx="2955566" cy="301037"/>
            </a:xfrm>
          </p:grpSpPr>
          <p:sp>
            <p:nvSpPr>
              <p:cNvPr name="Freeform 4" id="4"/>
              <p:cNvSpPr/>
              <p:nvPr/>
            </p:nvSpPr>
            <p:spPr>
              <a:xfrm flipH="false" flipV="false" rot="0">
                <a:off x="0" y="0"/>
                <a:ext cx="2955566" cy="301037"/>
              </a:xfrm>
              <a:custGeom>
                <a:avLst/>
                <a:gdLst/>
                <a:ahLst/>
                <a:cxnLst/>
                <a:rect r="r" b="b" t="t" l="l"/>
                <a:pathLst>
                  <a:path h="301037" w="2955566">
                    <a:moveTo>
                      <a:pt x="2752366" y="0"/>
                    </a:moveTo>
                    <a:lnTo>
                      <a:pt x="0" y="0"/>
                    </a:lnTo>
                    <a:lnTo>
                      <a:pt x="0" y="301037"/>
                    </a:lnTo>
                    <a:lnTo>
                      <a:pt x="2752366" y="301037"/>
                    </a:lnTo>
                    <a:lnTo>
                      <a:pt x="2955566" y="150519"/>
                    </a:lnTo>
                    <a:lnTo>
                      <a:pt x="2752366" y="0"/>
                    </a:lnTo>
                    <a:close/>
                  </a:path>
                </a:pathLst>
              </a:custGeom>
              <a:solidFill>
                <a:srgbClr val="9055FB"/>
              </a:solidFill>
            </p:spPr>
          </p:sp>
          <p:sp>
            <p:nvSpPr>
              <p:cNvPr name="TextBox 5" id="5"/>
              <p:cNvSpPr txBox="true"/>
              <p:nvPr/>
            </p:nvSpPr>
            <p:spPr>
              <a:xfrm>
                <a:off x="0" y="95250"/>
                <a:ext cx="2841266" cy="205787"/>
              </a:xfrm>
              <a:prstGeom prst="rect">
                <a:avLst/>
              </a:prstGeom>
            </p:spPr>
            <p:txBody>
              <a:bodyPr anchor="ctr" rtlCol="false" tIns="50800" lIns="50800" bIns="50800" rIns="50800"/>
              <a:lstStyle/>
              <a:p>
                <a:pPr algn="ctr">
                  <a:lnSpc>
                    <a:spcPts val="1625"/>
                  </a:lnSpc>
                </a:pPr>
              </a:p>
            </p:txBody>
          </p:sp>
        </p:grpSp>
        <p:grpSp>
          <p:nvGrpSpPr>
            <p:cNvPr name="Group 6" id="6"/>
            <p:cNvGrpSpPr/>
            <p:nvPr/>
          </p:nvGrpSpPr>
          <p:grpSpPr>
            <a:xfrm rot="0">
              <a:off x="0" y="0"/>
              <a:ext cx="1647020" cy="1524000"/>
              <a:chOff x="0" y="0"/>
              <a:chExt cx="325337" cy="301037"/>
            </a:xfrm>
          </p:grpSpPr>
          <p:sp>
            <p:nvSpPr>
              <p:cNvPr name="Freeform 7" id="7"/>
              <p:cNvSpPr/>
              <p:nvPr/>
            </p:nvSpPr>
            <p:spPr>
              <a:xfrm flipH="false" flipV="false" rot="0">
                <a:off x="0" y="0"/>
                <a:ext cx="325337" cy="301037"/>
              </a:xfrm>
              <a:custGeom>
                <a:avLst/>
                <a:gdLst/>
                <a:ahLst/>
                <a:cxnLst/>
                <a:rect r="r" b="b" t="t" l="l"/>
                <a:pathLst>
                  <a:path h="301037" w="325337">
                    <a:moveTo>
                      <a:pt x="162669" y="301037"/>
                    </a:moveTo>
                    <a:lnTo>
                      <a:pt x="325337" y="0"/>
                    </a:lnTo>
                    <a:lnTo>
                      <a:pt x="0" y="0"/>
                    </a:lnTo>
                    <a:lnTo>
                      <a:pt x="162669" y="301037"/>
                    </a:lnTo>
                    <a:close/>
                  </a:path>
                </a:pathLst>
              </a:custGeom>
              <a:solidFill>
                <a:srgbClr val="9055FB"/>
              </a:solidFill>
            </p:spPr>
          </p:sp>
          <p:sp>
            <p:nvSpPr>
              <p:cNvPr name="TextBox 8" id="8"/>
              <p:cNvSpPr txBox="true"/>
              <p:nvPr/>
            </p:nvSpPr>
            <p:spPr>
              <a:xfrm>
                <a:off x="50834" y="116753"/>
                <a:ext cx="223669" cy="44517"/>
              </a:xfrm>
              <a:prstGeom prst="rect">
                <a:avLst/>
              </a:prstGeom>
            </p:spPr>
            <p:txBody>
              <a:bodyPr anchor="ctr" rtlCol="false" tIns="50800" lIns="50800" bIns="50800" rIns="50800"/>
              <a:lstStyle/>
              <a:p>
                <a:pPr algn="ctr">
                  <a:lnSpc>
                    <a:spcPts val="1625"/>
                  </a:lnSpc>
                </a:pPr>
              </a:p>
            </p:txBody>
          </p:sp>
        </p:grpSp>
      </p:grpSp>
      <p:grpSp>
        <p:nvGrpSpPr>
          <p:cNvPr name="Group 9" id="9"/>
          <p:cNvGrpSpPr/>
          <p:nvPr/>
        </p:nvGrpSpPr>
        <p:grpSpPr>
          <a:xfrm rot="0">
            <a:off x="1660281" y="3112935"/>
            <a:ext cx="11202865" cy="1143000"/>
            <a:chOff x="0" y="0"/>
            <a:chExt cx="14937154" cy="1524000"/>
          </a:xfrm>
        </p:grpSpPr>
        <p:grpSp>
          <p:nvGrpSpPr>
            <p:cNvPr name="Group 10" id="10"/>
            <p:cNvGrpSpPr/>
            <p:nvPr/>
          </p:nvGrpSpPr>
          <p:grpSpPr>
            <a:xfrm rot="0">
              <a:off x="779225" y="0"/>
              <a:ext cx="14157929" cy="1524000"/>
              <a:chOff x="0" y="0"/>
              <a:chExt cx="2796628" cy="301037"/>
            </a:xfrm>
          </p:grpSpPr>
          <p:sp>
            <p:nvSpPr>
              <p:cNvPr name="Freeform 11" id="11"/>
              <p:cNvSpPr/>
              <p:nvPr/>
            </p:nvSpPr>
            <p:spPr>
              <a:xfrm flipH="false" flipV="false" rot="0">
                <a:off x="0" y="0"/>
                <a:ext cx="2796628" cy="301037"/>
              </a:xfrm>
              <a:custGeom>
                <a:avLst/>
                <a:gdLst/>
                <a:ahLst/>
                <a:cxnLst/>
                <a:rect r="r" b="b" t="t" l="l"/>
                <a:pathLst>
                  <a:path h="301037" w="2796628">
                    <a:moveTo>
                      <a:pt x="2593428" y="0"/>
                    </a:moveTo>
                    <a:lnTo>
                      <a:pt x="0" y="0"/>
                    </a:lnTo>
                    <a:lnTo>
                      <a:pt x="0" y="301037"/>
                    </a:lnTo>
                    <a:lnTo>
                      <a:pt x="2593428" y="301037"/>
                    </a:lnTo>
                    <a:lnTo>
                      <a:pt x="2796628" y="150519"/>
                    </a:lnTo>
                    <a:lnTo>
                      <a:pt x="2593428" y="0"/>
                    </a:lnTo>
                    <a:close/>
                  </a:path>
                </a:pathLst>
              </a:custGeom>
              <a:solidFill>
                <a:srgbClr val="FFBE17"/>
              </a:solidFill>
            </p:spPr>
          </p:sp>
          <p:sp>
            <p:nvSpPr>
              <p:cNvPr name="TextBox 12" id="12"/>
              <p:cNvSpPr txBox="true"/>
              <p:nvPr/>
            </p:nvSpPr>
            <p:spPr>
              <a:xfrm>
                <a:off x="0" y="95250"/>
                <a:ext cx="2682328" cy="205787"/>
              </a:xfrm>
              <a:prstGeom prst="rect">
                <a:avLst/>
              </a:prstGeom>
            </p:spPr>
            <p:txBody>
              <a:bodyPr anchor="ctr" rtlCol="false" tIns="50800" lIns="50800" bIns="50800" rIns="50800"/>
              <a:lstStyle/>
              <a:p>
                <a:pPr algn="ctr">
                  <a:lnSpc>
                    <a:spcPts val="1625"/>
                  </a:lnSpc>
                </a:pPr>
              </a:p>
            </p:txBody>
          </p:sp>
        </p:grpSp>
        <p:grpSp>
          <p:nvGrpSpPr>
            <p:cNvPr name="Group 13" id="13"/>
            <p:cNvGrpSpPr/>
            <p:nvPr/>
          </p:nvGrpSpPr>
          <p:grpSpPr>
            <a:xfrm rot="0">
              <a:off x="0" y="0"/>
              <a:ext cx="1558450" cy="1524000"/>
              <a:chOff x="0" y="0"/>
              <a:chExt cx="307842" cy="301037"/>
            </a:xfrm>
          </p:grpSpPr>
          <p:sp>
            <p:nvSpPr>
              <p:cNvPr name="Freeform 14" id="14"/>
              <p:cNvSpPr/>
              <p:nvPr/>
            </p:nvSpPr>
            <p:spPr>
              <a:xfrm flipH="false" flipV="false" rot="0">
                <a:off x="0" y="0"/>
                <a:ext cx="307842" cy="301037"/>
              </a:xfrm>
              <a:custGeom>
                <a:avLst/>
                <a:gdLst/>
                <a:ahLst/>
                <a:cxnLst/>
                <a:rect r="r" b="b" t="t" l="l"/>
                <a:pathLst>
                  <a:path h="301037" w="307842">
                    <a:moveTo>
                      <a:pt x="153921" y="301037"/>
                    </a:moveTo>
                    <a:lnTo>
                      <a:pt x="307842" y="0"/>
                    </a:lnTo>
                    <a:lnTo>
                      <a:pt x="0" y="0"/>
                    </a:lnTo>
                    <a:lnTo>
                      <a:pt x="153921" y="301037"/>
                    </a:lnTo>
                    <a:close/>
                  </a:path>
                </a:pathLst>
              </a:custGeom>
              <a:solidFill>
                <a:srgbClr val="FFBE17"/>
              </a:solidFill>
            </p:spPr>
          </p:sp>
          <p:sp>
            <p:nvSpPr>
              <p:cNvPr name="TextBox 15" id="15"/>
              <p:cNvSpPr txBox="true"/>
              <p:nvPr/>
            </p:nvSpPr>
            <p:spPr>
              <a:xfrm>
                <a:off x="48100" y="116753"/>
                <a:ext cx="211641" cy="44517"/>
              </a:xfrm>
              <a:prstGeom prst="rect">
                <a:avLst/>
              </a:prstGeom>
            </p:spPr>
            <p:txBody>
              <a:bodyPr anchor="ctr" rtlCol="false" tIns="50800" lIns="50800" bIns="50800" rIns="50800"/>
              <a:lstStyle/>
              <a:p>
                <a:pPr algn="ctr">
                  <a:lnSpc>
                    <a:spcPts val="1625"/>
                  </a:lnSpc>
                </a:pPr>
              </a:p>
            </p:txBody>
          </p:sp>
        </p:grpSp>
      </p:grpSp>
      <p:grpSp>
        <p:nvGrpSpPr>
          <p:cNvPr name="Group 16" id="16"/>
          <p:cNvGrpSpPr/>
          <p:nvPr/>
        </p:nvGrpSpPr>
        <p:grpSpPr>
          <a:xfrm rot="0">
            <a:off x="2914596" y="4336725"/>
            <a:ext cx="9948551" cy="1143000"/>
            <a:chOff x="0" y="0"/>
            <a:chExt cx="2620194" cy="301037"/>
          </a:xfrm>
        </p:grpSpPr>
        <p:sp>
          <p:nvSpPr>
            <p:cNvPr name="Freeform 17" id="17"/>
            <p:cNvSpPr/>
            <p:nvPr/>
          </p:nvSpPr>
          <p:spPr>
            <a:xfrm flipH="false" flipV="false" rot="0">
              <a:off x="0" y="0"/>
              <a:ext cx="2620194" cy="301037"/>
            </a:xfrm>
            <a:custGeom>
              <a:avLst/>
              <a:gdLst/>
              <a:ahLst/>
              <a:cxnLst/>
              <a:rect r="r" b="b" t="t" l="l"/>
              <a:pathLst>
                <a:path h="301037" w="2620194">
                  <a:moveTo>
                    <a:pt x="2416994" y="0"/>
                  </a:moveTo>
                  <a:lnTo>
                    <a:pt x="0" y="0"/>
                  </a:lnTo>
                  <a:lnTo>
                    <a:pt x="0" y="301037"/>
                  </a:lnTo>
                  <a:lnTo>
                    <a:pt x="2416994" y="301037"/>
                  </a:lnTo>
                  <a:lnTo>
                    <a:pt x="2620194" y="150519"/>
                  </a:lnTo>
                  <a:lnTo>
                    <a:pt x="2416994" y="0"/>
                  </a:lnTo>
                  <a:close/>
                </a:path>
              </a:pathLst>
            </a:custGeom>
            <a:solidFill>
              <a:srgbClr val="F4A261"/>
            </a:solidFill>
          </p:spPr>
        </p:sp>
        <p:sp>
          <p:nvSpPr>
            <p:cNvPr name="TextBox 18" id="18"/>
            <p:cNvSpPr txBox="true"/>
            <p:nvPr/>
          </p:nvSpPr>
          <p:spPr>
            <a:xfrm>
              <a:off x="0" y="95250"/>
              <a:ext cx="2505894" cy="205787"/>
            </a:xfrm>
            <a:prstGeom prst="rect">
              <a:avLst/>
            </a:prstGeom>
          </p:spPr>
          <p:txBody>
            <a:bodyPr anchor="ctr" rtlCol="false" tIns="50800" lIns="50800" bIns="50800" rIns="50800"/>
            <a:lstStyle/>
            <a:p>
              <a:pPr algn="ctr">
                <a:lnSpc>
                  <a:spcPts val="1625"/>
                </a:lnSpc>
              </a:pPr>
            </a:p>
          </p:txBody>
        </p:sp>
      </p:grpSp>
      <p:grpSp>
        <p:nvGrpSpPr>
          <p:cNvPr name="Group 19" id="19"/>
          <p:cNvGrpSpPr/>
          <p:nvPr/>
        </p:nvGrpSpPr>
        <p:grpSpPr>
          <a:xfrm rot="0">
            <a:off x="2296963" y="4336725"/>
            <a:ext cx="1235265" cy="1143000"/>
            <a:chOff x="0" y="0"/>
            <a:chExt cx="325337" cy="301037"/>
          </a:xfrm>
        </p:grpSpPr>
        <p:sp>
          <p:nvSpPr>
            <p:cNvPr name="Freeform 20" id="20"/>
            <p:cNvSpPr/>
            <p:nvPr/>
          </p:nvSpPr>
          <p:spPr>
            <a:xfrm flipH="false" flipV="false" rot="0">
              <a:off x="0" y="0"/>
              <a:ext cx="325337" cy="301037"/>
            </a:xfrm>
            <a:custGeom>
              <a:avLst/>
              <a:gdLst/>
              <a:ahLst/>
              <a:cxnLst/>
              <a:rect r="r" b="b" t="t" l="l"/>
              <a:pathLst>
                <a:path h="301037" w="325337">
                  <a:moveTo>
                    <a:pt x="162669" y="301037"/>
                  </a:moveTo>
                  <a:lnTo>
                    <a:pt x="325337" y="0"/>
                  </a:lnTo>
                  <a:lnTo>
                    <a:pt x="0" y="0"/>
                  </a:lnTo>
                  <a:lnTo>
                    <a:pt x="162669" y="301037"/>
                  </a:lnTo>
                  <a:close/>
                </a:path>
              </a:pathLst>
            </a:custGeom>
            <a:solidFill>
              <a:srgbClr val="F4A261"/>
            </a:solidFill>
          </p:spPr>
        </p:sp>
        <p:sp>
          <p:nvSpPr>
            <p:cNvPr name="TextBox 21" id="21"/>
            <p:cNvSpPr txBox="true"/>
            <p:nvPr/>
          </p:nvSpPr>
          <p:spPr>
            <a:xfrm>
              <a:off x="50834" y="116753"/>
              <a:ext cx="223669" cy="44517"/>
            </a:xfrm>
            <a:prstGeom prst="rect">
              <a:avLst/>
            </a:prstGeom>
          </p:spPr>
          <p:txBody>
            <a:bodyPr anchor="ctr" rtlCol="false" tIns="50800" lIns="50800" bIns="50800" rIns="50800"/>
            <a:lstStyle/>
            <a:p>
              <a:pPr algn="ctr">
                <a:lnSpc>
                  <a:spcPts val="1625"/>
                </a:lnSpc>
              </a:pPr>
            </a:p>
          </p:txBody>
        </p:sp>
      </p:grpSp>
      <p:grpSp>
        <p:nvGrpSpPr>
          <p:cNvPr name="Group 22" id="22"/>
          <p:cNvGrpSpPr/>
          <p:nvPr/>
        </p:nvGrpSpPr>
        <p:grpSpPr>
          <a:xfrm rot="0">
            <a:off x="2962221" y="5562977"/>
            <a:ext cx="9919976" cy="1143000"/>
            <a:chOff x="0" y="0"/>
            <a:chExt cx="13226634" cy="1524000"/>
          </a:xfrm>
        </p:grpSpPr>
        <p:grpSp>
          <p:nvGrpSpPr>
            <p:cNvPr name="Group 23" id="23"/>
            <p:cNvGrpSpPr/>
            <p:nvPr/>
          </p:nvGrpSpPr>
          <p:grpSpPr>
            <a:xfrm rot="0">
              <a:off x="689992" y="0"/>
              <a:ext cx="12536642" cy="1524000"/>
              <a:chOff x="0" y="0"/>
              <a:chExt cx="2476374" cy="301037"/>
            </a:xfrm>
          </p:grpSpPr>
          <p:sp>
            <p:nvSpPr>
              <p:cNvPr name="Freeform 24" id="24"/>
              <p:cNvSpPr/>
              <p:nvPr/>
            </p:nvSpPr>
            <p:spPr>
              <a:xfrm flipH="false" flipV="false" rot="0">
                <a:off x="0" y="0"/>
                <a:ext cx="2476374" cy="301037"/>
              </a:xfrm>
              <a:custGeom>
                <a:avLst/>
                <a:gdLst/>
                <a:ahLst/>
                <a:cxnLst/>
                <a:rect r="r" b="b" t="t" l="l"/>
                <a:pathLst>
                  <a:path h="301037" w="2476374">
                    <a:moveTo>
                      <a:pt x="2273174" y="0"/>
                    </a:moveTo>
                    <a:lnTo>
                      <a:pt x="0" y="0"/>
                    </a:lnTo>
                    <a:lnTo>
                      <a:pt x="0" y="301037"/>
                    </a:lnTo>
                    <a:lnTo>
                      <a:pt x="2273174" y="301037"/>
                    </a:lnTo>
                    <a:lnTo>
                      <a:pt x="2476374" y="150519"/>
                    </a:lnTo>
                    <a:lnTo>
                      <a:pt x="2273174" y="0"/>
                    </a:lnTo>
                    <a:close/>
                  </a:path>
                </a:pathLst>
              </a:custGeom>
              <a:solidFill>
                <a:srgbClr val="FE7559"/>
              </a:solidFill>
            </p:spPr>
          </p:sp>
          <p:sp>
            <p:nvSpPr>
              <p:cNvPr name="TextBox 25" id="25"/>
              <p:cNvSpPr txBox="true"/>
              <p:nvPr/>
            </p:nvSpPr>
            <p:spPr>
              <a:xfrm>
                <a:off x="0" y="95250"/>
                <a:ext cx="2362074" cy="205787"/>
              </a:xfrm>
              <a:prstGeom prst="rect">
                <a:avLst/>
              </a:prstGeom>
            </p:spPr>
            <p:txBody>
              <a:bodyPr anchor="ctr" rtlCol="false" tIns="50800" lIns="50800" bIns="50800" rIns="50800"/>
              <a:lstStyle/>
              <a:p>
                <a:pPr algn="ctr">
                  <a:lnSpc>
                    <a:spcPts val="1625"/>
                  </a:lnSpc>
                </a:pPr>
              </a:p>
            </p:txBody>
          </p:sp>
        </p:grpSp>
        <p:grpSp>
          <p:nvGrpSpPr>
            <p:cNvPr name="Group 26" id="26"/>
            <p:cNvGrpSpPr/>
            <p:nvPr/>
          </p:nvGrpSpPr>
          <p:grpSpPr>
            <a:xfrm rot="0">
              <a:off x="0" y="0"/>
              <a:ext cx="1379985" cy="1524000"/>
              <a:chOff x="0" y="0"/>
              <a:chExt cx="272590" cy="301037"/>
            </a:xfrm>
          </p:grpSpPr>
          <p:sp>
            <p:nvSpPr>
              <p:cNvPr name="Freeform 27" id="27"/>
              <p:cNvSpPr/>
              <p:nvPr/>
            </p:nvSpPr>
            <p:spPr>
              <a:xfrm flipH="false" flipV="false" rot="0">
                <a:off x="0" y="0"/>
                <a:ext cx="272590" cy="301037"/>
              </a:xfrm>
              <a:custGeom>
                <a:avLst/>
                <a:gdLst/>
                <a:ahLst/>
                <a:cxnLst/>
                <a:rect r="r" b="b" t="t" l="l"/>
                <a:pathLst>
                  <a:path h="301037" w="272590">
                    <a:moveTo>
                      <a:pt x="136295" y="301037"/>
                    </a:moveTo>
                    <a:lnTo>
                      <a:pt x="272590" y="0"/>
                    </a:lnTo>
                    <a:lnTo>
                      <a:pt x="0" y="0"/>
                    </a:lnTo>
                    <a:lnTo>
                      <a:pt x="136295" y="301037"/>
                    </a:lnTo>
                    <a:close/>
                  </a:path>
                </a:pathLst>
              </a:custGeom>
              <a:solidFill>
                <a:srgbClr val="FE7559"/>
              </a:solidFill>
            </p:spPr>
          </p:sp>
          <p:sp>
            <p:nvSpPr>
              <p:cNvPr name="TextBox 28" id="28"/>
              <p:cNvSpPr txBox="true"/>
              <p:nvPr/>
            </p:nvSpPr>
            <p:spPr>
              <a:xfrm>
                <a:off x="42592" y="116753"/>
                <a:ext cx="187405" cy="44517"/>
              </a:xfrm>
              <a:prstGeom prst="rect">
                <a:avLst/>
              </a:prstGeom>
            </p:spPr>
            <p:txBody>
              <a:bodyPr anchor="ctr" rtlCol="false" tIns="50800" lIns="50800" bIns="50800" rIns="50800"/>
              <a:lstStyle/>
              <a:p>
                <a:pPr algn="ctr">
                  <a:lnSpc>
                    <a:spcPts val="1625"/>
                  </a:lnSpc>
                </a:pPr>
              </a:p>
            </p:txBody>
          </p:sp>
        </p:grpSp>
      </p:grpSp>
      <p:grpSp>
        <p:nvGrpSpPr>
          <p:cNvPr name="Group 29" id="29"/>
          <p:cNvGrpSpPr/>
          <p:nvPr/>
        </p:nvGrpSpPr>
        <p:grpSpPr>
          <a:xfrm rot="0">
            <a:off x="4140335" y="6791702"/>
            <a:ext cx="8675186" cy="1143000"/>
            <a:chOff x="0" y="0"/>
            <a:chExt cx="2284823" cy="301037"/>
          </a:xfrm>
        </p:grpSpPr>
        <p:sp>
          <p:nvSpPr>
            <p:cNvPr name="Freeform 30" id="30"/>
            <p:cNvSpPr/>
            <p:nvPr/>
          </p:nvSpPr>
          <p:spPr>
            <a:xfrm flipH="false" flipV="false" rot="0">
              <a:off x="0" y="0"/>
              <a:ext cx="2284823" cy="301037"/>
            </a:xfrm>
            <a:custGeom>
              <a:avLst/>
              <a:gdLst/>
              <a:ahLst/>
              <a:cxnLst/>
              <a:rect r="r" b="b" t="t" l="l"/>
              <a:pathLst>
                <a:path h="301037" w="2284823">
                  <a:moveTo>
                    <a:pt x="2081623" y="0"/>
                  </a:moveTo>
                  <a:lnTo>
                    <a:pt x="0" y="0"/>
                  </a:lnTo>
                  <a:lnTo>
                    <a:pt x="0" y="301037"/>
                  </a:lnTo>
                  <a:lnTo>
                    <a:pt x="2081623" y="301037"/>
                  </a:lnTo>
                  <a:lnTo>
                    <a:pt x="2284823" y="150519"/>
                  </a:lnTo>
                  <a:lnTo>
                    <a:pt x="2081623" y="0"/>
                  </a:lnTo>
                  <a:close/>
                </a:path>
              </a:pathLst>
            </a:custGeom>
            <a:solidFill>
              <a:srgbClr val="C55039"/>
            </a:solidFill>
          </p:spPr>
        </p:sp>
        <p:sp>
          <p:nvSpPr>
            <p:cNvPr name="TextBox 31" id="31"/>
            <p:cNvSpPr txBox="true"/>
            <p:nvPr/>
          </p:nvSpPr>
          <p:spPr>
            <a:xfrm>
              <a:off x="0" y="95250"/>
              <a:ext cx="2170523" cy="205787"/>
            </a:xfrm>
            <a:prstGeom prst="rect">
              <a:avLst/>
            </a:prstGeom>
          </p:spPr>
          <p:txBody>
            <a:bodyPr anchor="ctr" rtlCol="false" tIns="50800" lIns="50800" bIns="50800" rIns="50800"/>
            <a:lstStyle/>
            <a:p>
              <a:pPr algn="ctr">
                <a:lnSpc>
                  <a:spcPts val="1625"/>
                </a:lnSpc>
              </a:pPr>
            </a:p>
          </p:txBody>
        </p:sp>
      </p:grpSp>
      <p:grpSp>
        <p:nvGrpSpPr>
          <p:cNvPr name="Group 32" id="32"/>
          <p:cNvGrpSpPr/>
          <p:nvPr/>
        </p:nvGrpSpPr>
        <p:grpSpPr>
          <a:xfrm rot="0">
            <a:off x="3532228" y="6791702"/>
            <a:ext cx="1235265" cy="1143000"/>
            <a:chOff x="0" y="0"/>
            <a:chExt cx="325337" cy="301037"/>
          </a:xfrm>
        </p:grpSpPr>
        <p:sp>
          <p:nvSpPr>
            <p:cNvPr name="Freeform 33" id="33"/>
            <p:cNvSpPr/>
            <p:nvPr/>
          </p:nvSpPr>
          <p:spPr>
            <a:xfrm flipH="false" flipV="false" rot="0">
              <a:off x="0" y="0"/>
              <a:ext cx="325337" cy="301037"/>
            </a:xfrm>
            <a:custGeom>
              <a:avLst/>
              <a:gdLst/>
              <a:ahLst/>
              <a:cxnLst/>
              <a:rect r="r" b="b" t="t" l="l"/>
              <a:pathLst>
                <a:path h="301037" w="325337">
                  <a:moveTo>
                    <a:pt x="162669" y="301037"/>
                  </a:moveTo>
                  <a:lnTo>
                    <a:pt x="325337" y="0"/>
                  </a:lnTo>
                  <a:lnTo>
                    <a:pt x="0" y="0"/>
                  </a:lnTo>
                  <a:lnTo>
                    <a:pt x="162669" y="301037"/>
                  </a:lnTo>
                  <a:close/>
                </a:path>
              </a:pathLst>
            </a:custGeom>
            <a:solidFill>
              <a:srgbClr val="C55039"/>
            </a:solidFill>
          </p:spPr>
        </p:sp>
        <p:sp>
          <p:nvSpPr>
            <p:cNvPr name="TextBox 34" id="34"/>
            <p:cNvSpPr txBox="true"/>
            <p:nvPr/>
          </p:nvSpPr>
          <p:spPr>
            <a:xfrm>
              <a:off x="50834" y="116753"/>
              <a:ext cx="223669" cy="44517"/>
            </a:xfrm>
            <a:prstGeom prst="rect">
              <a:avLst/>
            </a:prstGeom>
          </p:spPr>
          <p:txBody>
            <a:bodyPr anchor="ctr" rtlCol="false" tIns="50800" lIns="50800" bIns="50800" rIns="50800"/>
            <a:lstStyle/>
            <a:p>
              <a:pPr algn="ctr">
                <a:lnSpc>
                  <a:spcPts val="1625"/>
                </a:lnSpc>
              </a:pPr>
            </a:p>
          </p:txBody>
        </p:sp>
      </p:grpSp>
      <p:grpSp>
        <p:nvGrpSpPr>
          <p:cNvPr name="Group 35" id="35"/>
          <p:cNvGrpSpPr/>
          <p:nvPr/>
        </p:nvGrpSpPr>
        <p:grpSpPr>
          <a:xfrm rot="0">
            <a:off x="4805593" y="8017954"/>
            <a:ext cx="8028978" cy="1143000"/>
            <a:chOff x="0" y="0"/>
            <a:chExt cx="2114628" cy="301037"/>
          </a:xfrm>
        </p:grpSpPr>
        <p:sp>
          <p:nvSpPr>
            <p:cNvPr name="Freeform 36" id="36"/>
            <p:cNvSpPr/>
            <p:nvPr/>
          </p:nvSpPr>
          <p:spPr>
            <a:xfrm flipH="false" flipV="false" rot="0">
              <a:off x="0" y="0"/>
              <a:ext cx="2114628" cy="301037"/>
            </a:xfrm>
            <a:custGeom>
              <a:avLst/>
              <a:gdLst/>
              <a:ahLst/>
              <a:cxnLst/>
              <a:rect r="r" b="b" t="t" l="l"/>
              <a:pathLst>
                <a:path h="301037" w="2114628">
                  <a:moveTo>
                    <a:pt x="1911428" y="0"/>
                  </a:moveTo>
                  <a:lnTo>
                    <a:pt x="0" y="0"/>
                  </a:lnTo>
                  <a:lnTo>
                    <a:pt x="0" y="301037"/>
                  </a:lnTo>
                  <a:lnTo>
                    <a:pt x="1911428" y="301037"/>
                  </a:lnTo>
                  <a:lnTo>
                    <a:pt x="2114628" y="150519"/>
                  </a:lnTo>
                  <a:lnTo>
                    <a:pt x="1911428" y="0"/>
                  </a:lnTo>
                  <a:close/>
                </a:path>
              </a:pathLst>
            </a:custGeom>
            <a:solidFill>
              <a:srgbClr val="92A4D7"/>
            </a:solidFill>
          </p:spPr>
        </p:sp>
        <p:sp>
          <p:nvSpPr>
            <p:cNvPr name="TextBox 37" id="37"/>
            <p:cNvSpPr txBox="true"/>
            <p:nvPr/>
          </p:nvSpPr>
          <p:spPr>
            <a:xfrm>
              <a:off x="0" y="95250"/>
              <a:ext cx="2000328" cy="205787"/>
            </a:xfrm>
            <a:prstGeom prst="rect">
              <a:avLst/>
            </a:prstGeom>
          </p:spPr>
          <p:txBody>
            <a:bodyPr anchor="ctr" rtlCol="false" tIns="50800" lIns="50800" bIns="50800" rIns="50800"/>
            <a:lstStyle/>
            <a:p>
              <a:pPr algn="ctr">
                <a:lnSpc>
                  <a:spcPts val="1625"/>
                </a:lnSpc>
              </a:pPr>
            </a:p>
          </p:txBody>
        </p:sp>
      </p:grpSp>
      <p:grpSp>
        <p:nvGrpSpPr>
          <p:cNvPr name="Group 38" id="38"/>
          <p:cNvGrpSpPr/>
          <p:nvPr/>
        </p:nvGrpSpPr>
        <p:grpSpPr>
          <a:xfrm rot="0">
            <a:off x="4187960" y="8017954"/>
            <a:ext cx="1235265" cy="1143000"/>
            <a:chOff x="0" y="0"/>
            <a:chExt cx="325337" cy="301037"/>
          </a:xfrm>
        </p:grpSpPr>
        <p:sp>
          <p:nvSpPr>
            <p:cNvPr name="Freeform 39" id="39"/>
            <p:cNvSpPr/>
            <p:nvPr/>
          </p:nvSpPr>
          <p:spPr>
            <a:xfrm flipH="false" flipV="false" rot="0">
              <a:off x="0" y="0"/>
              <a:ext cx="325337" cy="301037"/>
            </a:xfrm>
            <a:custGeom>
              <a:avLst/>
              <a:gdLst/>
              <a:ahLst/>
              <a:cxnLst/>
              <a:rect r="r" b="b" t="t" l="l"/>
              <a:pathLst>
                <a:path h="301037" w="325337">
                  <a:moveTo>
                    <a:pt x="162669" y="301037"/>
                  </a:moveTo>
                  <a:lnTo>
                    <a:pt x="325337" y="0"/>
                  </a:lnTo>
                  <a:lnTo>
                    <a:pt x="0" y="0"/>
                  </a:lnTo>
                  <a:lnTo>
                    <a:pt x="162669" y="301037"/>
                  </a:lnTo>
                  <a:close/>
                </a:path>
              </a:pathLst>
            </a:custGeom>
            <a:solidFill>
              <a:srgbClr val="92A4D7"/>
            </a:solidFill>
          </p:spPr>
        </p:sp>
        <p:sp>
          <p:nvSpPr>
            <p:cNvPr name="TextBox 40" id="40"/>
            <p:cNvSpPr txBox="true"/>
            <p:nvPr/>
          </p:nvSpPr>
          <p:spPr>
            <a:xfrm>
              <a:off x="50834" y="116753"/>
              <a:ext cx="223669" cy="44517"/>
            </a:xfrm>
            <a:prstGeom prst="rect">
              <a:avLst/>
            </a:prstGeom>
          </p:spPr>
          <p:txBody>
            <a:bodyPr anchor="ctr" rtlCol="false" tIns="50800" lIns="50800" bIns="50800" rIns="50800"/>
            <a:lstStyle/>
            <a:p>
              <a:pPr algn="ctr">
                <a:lnSpc>
                  <a:spcPts val="1625"/>
                </a:lnSpc>
              </a:pPr>
            </a:p>
          </p:txBody>
        </p:sp>
      </p:grpSp>
      <p:sp>
        <p:nvSpPr>
          <p:cNvPr name="TextBox 41" id="41"/>
          <p:cNvSpPr txBox="true"/>
          <p:nvPr/>
        </p:nvSpPr>
        <p:spPr>
          <a:xfrm rot="0">
            <a:off x="452661" y="366343"/>
            <a:ext cx="11878349" cy="682966"/>
          </a:xfrm>
          <a:prstGeom prst="rect">
            <a:avLst/>
          </a:prstGeom>
        </p:spPr>
        <p:txBody>
          <a:bodyPr anchor="t" rtlCol="false" tIns="0" lIns="0" bIns="0" rIns="0">
            <a:spAutoFit/>
          </a:bodyPr>
          <a:lstStyle/>
          <a:p>
            <a:pPr algn="l">
              <a:lnSpc>
                <a:spcPts val="4941"/>
              </a:lnSpc>
            </a:pPr>
            <a:r>
              <a:rPr lang="en-US" sz="4662" b="true">
                <a:solidFill>
                  <a:srgbClr val="000000"/>
                </a:solidFill>
                <a:latin typeface="Poppins Semi-Bold"/>
                <a:ea typeface="Poppins Semi-Bold"/>
                <a:cs typeface="Poppins Semi-Bold"/>
                <a:sym typeface="Poppins Semi-Bold"/>
              </a:rPr>
              <a:t>E-Commerce Customer Experience </a:t>
            </a:r>
          </a:p>
        </p:txBody>
      </p:sp>
      <p:sp>
        <p:nvSpPr>
          <p:cNvPr name="TextBox 42" id="42"/>
          <p:cNvSpPr txBox="true"/>
          <p:nvPr/>
        </p:nvSpPr>
        <p:spPr>
          <a:xfrm rot="0">
            <a:off x="877408" y="2217575"/>
            <a:ext cx="4463771" cy="809635"/>
          </a:xfrm>
          <a:prstGeom prst="rect">
            <a:avLst/>
          </a:prstGeom>
        </p:spPr>
        <p:txBody>
          <a:bodyPr anchor="t" rtlCol="false" tIns="0" lIns="0" bIns="0" rIns="0">
            <a:spAutoFit/>
          </a:bodyPr>
          <a:lstStyle/>
          <a:p>
            <a:pPr algn="ctr">
              <a:lnSpc>
                <a:spcPts val="4800"/>
              </a:lnSpc>
            </a:pPr>
            <a:r>
              <a:rPr lang="en-US" sz="6000" spc="-60">
                <a:solidFill>
                  <a:srgbClr val="FDF9DE"/>
                </a:solidFill>
                <a:latin typeface="Impact"/>
                <a:ea typeface="Impact"/>
                <a:cs typeface="Impact"/>
                <a:sym typeface="Impact"/>
              </a:rPr>
              <a:t>AWARENESS</a:t>
            </a:r>
          </a:p>
        </p:txBody>
      </p:sp>
      <p:sp>
        <p:nvSpPr>
          <p:cNvPr name="TextBox 43" id="43"/>
          <p:cNvSpPr txBox="true"/>
          <p:nvPr/>
        </p:nvSpPr>
        <p:spPr>
          <a:xfrm rot="0">
            <a:off x="1088308" y="3446300"/>
            <a:ext cx="4463771" cy="809635"/>
          </a:xfrm>
          <a:prstGeom prst="rect">
            <a:avLst/>
          </a:prstGeom>
        </p:spPr>
        <p:txBody>
          <a:bodyPr anchor="t" rtlCol="false" tIns="0" lIns="0" bIns="0" rIns="0">
            <a:spAutoFit/>
          </a:bodyPr>
          <a:lstStyle/>
          <a:p>
            <a:pPr algn="ctr">
              <a:lnSpc>
                <a:spcPts val="4800"/>
              </a:lnSpc>
            </a:pPr>
            <a:r>
              <a:rPr lang="en-US" sz="6000" spc="-60">
                <a:solidFill>
                  <a:srgbClr val="FDF9DE"/>
                </a:solidFill>
                <a:latin typeface="Impact"/>
                <a:ea typeface="Impact"/>
                <a:cs typeface="Impact"/>
                <a:sym typeface="Impact"/>
              </a:rPr>
              <a:t>INTEREST</a:t>
            </a:r>
          </a:p>
        </p:txBody>
      </p:sp>
      <p:sp>
        <p:nvSpPr>
          <p:cNvPr name="TextBox 44" id="44"/>
          <p:cNvSpPr txBox="true"/>
          <p:nvPr/>
        </p:nvSpPr>
        <p:spPr>
          <a:xfrm rot="0">
            <a:off x="2821670" y="4675035"/>
            <a:ext cx="1843372" cy="809635"/>
          </a:xfrm>
          <a:prstGeom prst="rect">
            <a:avLst/>
          </a:prstGeom>
        </p:spPr>
        <p:txBody>
          <a:bodyPr anchor="t" rtlCol="false" tIns="0" lIns="0" bIns="0" rIns="0">
            <a:spAutoFit/>
          </a:bodyPr>
          <a:lstStyle/>
          <a:p>
            <a:pPr algn="ctr">
              <a:lnSpc>
                <a:spcPts val="4800"/>
              </a:lnSpc>
            </a:pPr>
            <a:r>
              <a:rPr lang="en-US" sz="6000" spc="-60">
                <a:solidFill>
                  <a:srgbClr val="FDF9DE"/>
                </a:solidFill>
                <a:latin typeface="Impact"/>
                <a:ea typeface="Impact"/>
                <a:cs typeface="Impact"/>
                <a:sym typeface="Impact"/>
              </a:rPr>
              <a:t>DESIRE</a:t>
            </a:r>
          </a:p>
        </p:txBody>
      </p:sp>
      <p:sp>
        <p:nvSpPr>
          <p:cNvPr name="TextBox 45" id="45"/>
          <p:cNvSpPr txBox="true"/>
          <p:nvPr/>
        </p:nvSpPr>
        <p:spPr>
          <a:xfrm rot="0">
            <a:off x="3195672" y="5884719"/>
            <a:ext cx="2308782" cy="809635"/>
          </a:xfrm>
          <a:prstGeom prst="rect">
            <a:avLst/>
          </a:prstGeom>
        </p:spPr>
        <p:txBody>
          <a:bodyPr anchor="t" rtlCol="false" tIns="0" lIns="0" bIns="0" rIns="0">
            <a:spAutoFit/>
          </a:bodyPr>
          <a:lstStyle/>
          <a:p>
            <a:pPr algn="ctr">
              <a:lnSpc>
                <a:spcPts val="4800"/>
              </a:lnSpc>
            </a:pPr>
            <a:r>
              <a:rPr lang="en-US" sz="6000" spc="-60">
                <a:solidFill>
                  <a:srgbClr val="FDF9DE"/>
                </a:solidFill>
                <a:latin typeface="Impact"/>
                <a:ea typeface="Impact"/>
                <a:cs typeface="Impact"/>
                <a:sym typeface="Impact"/>
              </a:rPr>
              <a:t>ACTION</a:t>
            </a:r>
          </a:p>
        </p:txBody>
      </p:sp>
      <p:sp>
        <p:nvSpPr>
          <p:cNvPr name="TextBox 46" id="46"/>
          <p:cNvSpPr txBox="true"/>
          <p:nvPr/>
        </p:nvSpPr>
        <p:spPr>
          <a:xfrm rot="0">
            <a:off x="3959360" y="7106027"/>
            <a:ext cx="2173186" cy="809635"/>
          </a:xfrm>
          <a:prstGeom prst="rect">
            <a:avLst/>
          </a:prstGeom>
        </p:spPr>
        <p:txBody>
          <a:bodyPr anchor="t" rtlCol="false" tIns="0" lIns="0" bIns="0" rIns="0">
            <a:spAutoFit/>
          </a:bodyPr>
          <a:lstStyle/>
          <a:p>
            <a:pPr algn="ctr">
              <a:lnSpc>
                <a:spcPts val="4800"/>
              </a:lnSpc>
            </a:pPr>
            <a:r>
              <a:rPr lang="en-US" sz="6000" spc="-60">
                <a:solidFill>
                  <a:srgbClr val="FDF9DE"/>
                </a:solidFill>
                <a:latin typeface="Impact"/>
                <a:ea typeface="Impact"/>
                <a:cs typeface="Impact"/>
                <a:sym typeface="Impact"/>
              </a:rPr>
              <a:t>LOYALTY</a:t>
            </a:r>
          </a:p>
        </p:txBody>
      </p:sp>
      <p:sp>
        <p:nvSpPr>
          <p:cNvPr name="TextBox 47" id="47"/>
          <p:cNvSpPr txBox="true"/>
          <p:nvPr/>
        </p:nvSpPr>
        <p:spPr>
          <a:xfrm rot="0">
            <a:off x="3819556" y="8351320"/>
            <a:ext cx="4463771" cy="809635"/>
          </a:xfrm>
          <a:prstGeom prst="rect">
            <a:avLst/>
          </a:prstGeom>
        </p:spPr>
        <p:txBody>
          <a:bodyPr anchor="t" rtlCol="false" tIns="0" lIns="0" bIns="0" rIns="0">
            <a:spAutoFit/>
          </a:bodyPr>
          <a:lstStyle/>
          <a:p>
            <a:pPr algn="ctr">
              <a:lnSpc>
                <a:spcPts val="4800"/>
              </a:lnSpc>
            </a:pPr>
            <a:r>
              <a:rPr lang="en-US" sz="6000" spc="-60">
                <a:solidFill>
                  <a:srgbClr val="FDF9DE"/>
                </a:solidFill>
                <a:latin typeface="Impact"/>
                <a:ea typeface="Impact"/>
                <a:cs typeface="Impact"/>
                <a:sym typeface="Impact"/>
              </a:rPr>
              <a:t>ADVOCACY</a:t>
            </a:r>
          </a:p>
        </p:txBody>
      </p:sp>
      <p:grpSp>
        <p:nvGrpSpPr>
          <p:cNvPr name="Group 48" id="48"/>
          <p:cNvGrpSpPr/>
          <p:nvPr/>
        </p:nvGrpSpPr>
        <p:grpSpPr>
          <a:xfrm rot="0">
            <a:off x="13958063" y="2012797"/>
            <a:ext cx="2367224" cy="809625"/>
            <a:chOff x="0" y="0"/>
            <a:chExt cx="3156298" cy="1079500"/>
          </a:xfrm>
        </p:grpSpPr>
        <p:grpSp>
          <p:nvGrpSpPr>
            <p:cNvPr name="Group 49" id="49"/>
            <p:cNvGrpSpPr/>
            <p:nvPr/>
          </p:nvGrpSpPr>
          <p:grpSpPr>
            <a:xfrm rot="0">
              <a:off x="0" y="0"/>
              <a:ext cx="3156298" cy="1016000"/>
              <a:chOff x="0" y="0"/>
              <a:chExt cx="623466" cy="200691"/>
            </a:xfrm>
          </p:grpSpPr>
          <p:sp>
            <p:nvSpPr>
              <p:cNvPr name="Freeform 50" id="50"/>
              <p:cNvSpPr/>
              <p:nvPr/>
            </p:nvSpPr>
            <p:spPr>
              <a:xfrm flipH="false" flipV="false" rot="0">
                <a:off x="0" y="0"/>
                <a:ext cx="623466" cy="200691"/>
              </a:xfrm>
              <a:custGeom>
                <a:avLst/>
                <a:gdLst/>
                <a:ahLst/>
                <a:cxnLst/>
                <a:rect r="r" b="b" t="t" l="l"/>
                <a:pathLst>
                  <a:path h="200691" w="623466">
                    <a:moveTo>
                      <a:pt x="0" y="0"/>
                    </a:moveTo>
                    <a:lnTo>
                      <a:pt x="623466" y="0"/>
                    </a:lnTo>
                    <a:lnTo>
                      <a:pt x="623466" y="200691"/>
                    </a:lnTo>
                    <a:lnTo>
                      <a:pt x="0" y="200691"/>
                    </a:lnTo>
                    <a:close/>
                  </a:path>
                </a:pathLst>
              </a:custGeom>
              <a:solidFill>
                <a:srgbClr val="9055FB"/>
              </a:solidFill>
            </p:spPr>
          </p:sp>
          <p:sp>
            <p:nvSpPr>
              <p:cNvPr name="TextBox 51" id="51"/>
              <p:cNvSpPr txBox="true"/>
              <p:nvPr/>
            </p:nvSpPr>
            <p:spPr>
              <a:xfrm>
                <a:off x="0" y="95250"/>
                <a:ext cx="623466" cy="105441"/>
              </a:xfrm>
              <a:prstGeom prst="rect">
                <a:avLst/>
              </a:prstGeom>
            </p:spPr>
            <p:txBody>
              <a:bodyPr anchor="ctr" rtlCol="false" tIns="50800" lIns="50800" bIns="50800" rIns="50800"/>
              <a:lstStyle/>
              <a:p>
                <a:pPr algn="ctr">
                  <a:lnSpc>
                    <a:spcPts val="1625"/>
                  </a:lnSpc>
                </a:pPr>
              </a:p>
            </p:txBody>
          </p:sp>
        </p:grpSp>
        <p:sp>
          <p:nvSpPr>
            <p:cNvPr name="TextBox 52" id="52"/>
            <p:cNvSpPr txBox="true"/>
            <p:nvPr/>
          </p:nvSpPr>
          <p:spPr>
            <a:xfrm rot="0">
              <a:off x="418613" y="239515"/>
              <a:ext cx="2319073" cy="839985"/>
            </a:xfrm>
            <a:prstGeom prst="rect">
              <a:avLst/>
            </a:prstGeom>
          </p:spPr>
          <p:txBody>
            <a:bodyPr anchor="t" rtlCol="false" tIns="0" lIns="0" bIns="0" rIns="0">
              <a:spAutoFit/>
            </a:bodyPr>
            <a:lstStyle/>
            <a:p>
              <a:pPr algn="ctr">
                <a:lnSpc>
                  <a:spcPts val="3644"/>
                </a:lnSpc>
              </a:pPr>
              <a:r>
                <a:rPr lang="en-US" sz="4555" spc="-45">
                  <a:solidFill>
                    <a:srgbClr val="FDF9DE"/>
                  </a:solidFill>
                  <a:latin typeface="Impact"/>
                  <a:ea typeface="Impact"/>
                  <a:cs typeface="Impact"/>
                  <a:sym typeface="Impact"/>
                </a:rPr>
                <a:t>100</a:t>
              </a:r>
            </a:p>
          </p:txBody>
        </p:sp>
      </p:grpSp>
      <p:grpSp>
        <p:nvGrpSpPr>
          <p:cNvPr name="Group 53" id="53"/>
          <p:cNvGrpSpPr/>
          <p:nvPr/>
        </p:nvGrpSpPr>
        <p:grpSpPr>
          <a:xfrm rot="0">
            <a:off x="13958063" y="3317722"/>
            <a:ext cx="2367224" cy="762000"/>
            <a:chOff x="0" y="0"/>
            <a:chExt cx="623466" cy="200691"/>
          </a:xfrm>
        </p:grpSpPr>
        <p:sp>
          <p:nvSpPr>
            <p:cNvPr name="Freeform 54" id="54"/>
            <p:cNvSpPr/>
            <p:nvPr/>
          </p:nvSpPr>
          <p:spPr>
            <a:xfrm flipH="false" flipV="false" rot="0">
              <a:off x="0" y="0"/>
              <a:ext cx="623466" cy="200691"/>
            </a:xfrm>
            <a:custGeom>
              <a:avLst/>
              <a:gdLst/>
              <a:ahLst/>
              <a:cxnLst/>
              <a:rect r="r" b="b" t="t" l="l"/>
              <a:pathLst>
                <a:path h="200691" w="623466">
                  <a:moveTo>
                    <a:pt x="0" y="0"/>
                  </a:moveTo>
                  <a:lnTo>
                    <a:pt x="623466" y="0"/>
                  </a:lnTo>
                  <a:lnTo>
                    <a:pt x="623466" y="200691"/>
                  </a:lnTo>
                  <a:lnTo>
                    <a:pt x="0" y="200691"/>
                  </a:lnTo>
                  <a:close/>
                </a:path>
              </a:pathLst>
            </a:custGeom>
            <a:solidFill>
              <a:srgbClr val="FFBE17"/>
            </a:solidFill>
          </p:spPr>
        </p:sp>
        <p:sp>
          <p:nvSpPr>
            <p:cNvPr name="TextBox 55" id="55"/>
            <p:cNvSpPr txBox="true"/>
            <p:nvPr/>
          </p:nvSpPr>
          <p:spPr>
            <a:xfrm>
              <a:off x="0" y="95250"/>
              <a:ext cx="623466" cy="105441"/>
            </a:xfrm>
            <a:prstGeom prst="rect">
              <a:avLst/>
            </a:prstGeom>
          </p:spPr>
          <p:txBody>
            <a:bodyPr anchor="ctr" rtlCol="false" tIns="50800" lIns="50800" bIns="50800" rIns="50800"/>
            <a:lstStyle/>
            <a:p>
              <a:pPr algn="ctr">
                <a:lnSpc>
                  <a:spcPts val="1625"/>
                </a:lnSpc>
              </a:pPr>
            </a:p>
          </p:txBody>
        </p:sp>
      </p:grpSp>
      <p:sp>
        <p:nvSpPr>
          <p:cNvPr name="TextBox 56" id="56"/>
          <p:cNvSpPr txBox="true"/>
          <p:nvPr/>
        </p:nvSpPr>
        <p:spPr>
          <a:xfrm rot="0">
            <a:off x="14272022" y="3518790"/>
            <a:ext cx="1739305" cy="608558"/>
          </a:xfrm>
          <a:prstGeom prst="rect">
            <a:avLst/>
          </a:prstGeom>
        </p:spPr>
        <p:txBody>
          <a:bodyPr anchor="t" rtlCol="false" tIns="0" lIns="0" bIns="0" rIns="0">
            <a:spAutoFit/>
          </a:bodyPr>
          <a:lstStyle/>
          <a:p>
            <a:pPr algn="ctr">
              <a:lnSpc>
                <a:spcPts val="3644"/>
              </a:lnSpc>
            </a:pPr>
            <a:r>
              <a:rPr lang="en-US" sz="4555" spc="-45">
                <a:solidFill>
                  <a:srgbClr val="FDF9DE"/>
                </a:solidFill>
                <a:latin typeface="Impact"/>
                <a:ea typeface="Impact"/>
                <a:cs typeface="Impact"/>
                <a:sym typeface="Impact"/>
              </a:rPr>
              <a:t>20</a:t>
            </a:r>
          </a:p>
        </p:txBody>
      </p:sp>
      <p:sp>
        <p:nvSpPr>
          <p:cNvPr name="TextBox 57" id="57"/>
          <p:cNvSpPr txBox="true"/>
          <p:nvPr/>
        </p:nvSpPr>
        <p:spPr>
          <a:xfrm rot="0">
            <a:off x="14429072" y="2870568"/>
            <a:ext cx="1739305" cy="602907"/>
          </a:xfrm>
          <a:prstGeom prst="rect">
            <a:avLst/>
          </a:prstGeom>
        </p:spPr>
        <p:txBody>
          <a:bodyPr anchor="t" rtlCol="false" tIns="0" lIns="0" bIns="0" rIns="0">
            <a:spAutoFit/>
          </a:bodyPr>
          <a:lstStyle/>
          <a:p>
            <a:pPr algn="ctr">
              <a:lnSpc>
                <a:spcPts val="3644"/>
              </a:lnSpc>
            </a:pPr>
            <a:r>
              <a:rPr lang="en-US" sz="4555" spc="-45">
                <a:solidFill>
                  <a:srgbClr val="231F20"/>
                </a:solidFill>
                <a:latin typeface="Impact"/>
                <a:ea typeface="Impact"/>
                <a:cs typeface="Impact"/>
                <a:sym typeface="Impact"/>
              </a:rPr>
              <a:t>80%</a:t>
            </a:r>
          </a:p>
        </p:txBody>
      </p:sp>
      <p:grpSp>
        <p:nvGrpSpPr>
          <p:cNvPr name="Group 58" id="58"/>
          <p:cNvGrpSpPr/>
          <p:nvPr/>
        </p:nvGrpSpPr>
        <p:grpSpPr>
          <a:xfrm rot="0">
            <a:off x="13958063" y="4550506"/>
            <a:ext cx="2367224" cy="809625"/>
            <a:chOff x="0" y="0"/>
            <a:chExt cx="3156298" cy="1079500"/>
          </a:xfrm>
        </p:grpSpPr>
        <p:grpSp>
          <p:nvGrpSpPr>
            <p:cNvPr name="Group 59" id="59"/>
            <p:cNvGrpSpPr/>
            <p:nvPr/>
          </p:nvGrpSpPr>
          <p:grpSpPr>
            <a:xfrm rot="0">
              <a:off x="0" y="0"/>
              <a:ext cx="3156298" cy="1016000"/>
              <a:chOff x="0" y="0"/>
              <a:chExt cx="623466" cy="200691"/>
            </a:xfrm>
          </p:grpSpPr>
          <p:sp>
            <p:nvSpPr>
              <p:cNvPr name="Freeform 60" id="60"/>
              <p:cNvSpPr/>
              <p:nvPr/>
            </p:nvSpPr>
            <p:spPr>
              <a:xfrm flipH="false" flipV="false" rot="0">
                <a:off x="0" y="0"/>
                <a:ext cx="623466" cy="200691"/>
              </a:xfrm>
              <a:custGeom>
                <a:avLst/>
                <a:gdLst/>
                <a:ahLst/>
                <a:cxnLst/>
                <a:rect r="r" b="b" t="t" l="l"/>
                <a:pathLst>
                  <a:path h="200691" w="623466">
                    <a:moveTo>
                      <a:pt x="0" y="0"/>
                    </a:moveTo>
                    <a:lnTo>
                      <a:pt x="623466" y="0"/>
                    </a:lnTo>
                    <a:lnTo>
                      <a:pt x="623466" y="200691"/>
                    </a:lnTo>
                    <a:lnTo>
                      <a:pt x="0" y="200691"/>
                    </a:lnTo>
                    <a:close/>
                  </a:path>
                </a:pathLst>
              </a:custGeom>
              <a:solidFill>
                <a:srgbClr val="F4A262"/>
              </a:solidFill>
            </p:spPr>
          </p:sp>
          <p:sp>
            <p:nvSpPr>
              <p:cNvPr name="TextBox 61" id="61"/>
              <p:cNvSpPr txBox="true"/>
              <p:nvPr/>
            </p:nvSpPr>
            <p:spPr>
              <a:xfrm>
                <a:off x="0" y="95250"/>
                <a:ext cx="623466" cy="105441"/>
              </a:xfrm>
              <a:prstGeom prst="rect">
                <a:avLst/>
              </a:prstGeom>
            </p:spPr>
            <p:txBody>
              <a:bodyPr anchor="ctr" rtlCol="false" tIns="50800" lIns="50800" bIns="50800" rIns="50800"/>
              <a:lstStyle/>
              <a:p>
                <a:pPr algn="ctr">
                  <a:lnSpc>
                    <a:spcPts val="1625"/>
                  </a:lnSpc>
                </a:pPr>
              </a:p>
            </p:txBody>
          </p:sp>
        </p:grpSp>
        <p:sp>
          <p:nvSpPr>
            <p:cNvPr name="TextBox 62" id="62"/>
            <p:cNvSpPr txBox="true"/>
            <p:nvPr/>
          </p:nvSpPr>
          <p:spPr>
            <a:xfrm rot="0">
              <a:off x="418613" y="239515"/>
              <a:ext cx="2319073" cy="839985"/>
            </a:xfrm>
            <a:prstGeom prst="rect">
              <a:avLst/>
            </a:prstGeom>
          </p:spPr>
          <p:txBody>
            <a:bodyPr anchor="t" rtlCol="false" tIns="0" lIns="0" bIns="0" rIns="0">
              <a:spAutoFit/>
            </a:bodyPr>
            <a:lstStyle/>
            <a:p>
              <a:pPr algn="ctr">
                <a:lnSpc>
                  <a:spcPts val="3644"/>
                </a:lnSpc>
              </a:pPr>
              <a:r>
                <a:rPr lang="en-US" sz="4555" spc="-45">
                  <a:solidFill>
                    <a:srgbClr val="FDF9DE"/>
                  </a:solidFill>
                  <a:latin typeface="Impact"/>
                  <a:ea typeface="Impact"/>
                  <a:cs typeface="Impact"/>
                  <a:sym typeface="Impact"/>
                </a:rPr>
                <a:t>8</a:t>
              </a:r>
            </a:p>
          </p:txBody>
        </p:sp>
      </p:grpSp>
      <p:grpSp>
        <p:nvGrpSpPr>
          <p:cNvPr name="Group 63" id="63"/>
          <p:cNvGrpSpPr/>
          <p:nvPr/>
        </p:nvGrpSpPr>
        <p:grpSpPr>
          <a:xfrm rot="0">
            <a:off x="13958063" y="5779231"/>
            <a:ext cx="2367224" cy="809625"/>
            <a:chOff x="0" y="0"/>
            <a:chExt cx="3156298" cy="1079500"/>
          </a:xfrm>
        </p:grpSpPr>
        <p:grpSp>
          <p:nvGrpSpPr>
            <p:cNvPr name="Group 64" id="64"/>
            <p:cNvGrpSpPr/>
            <p:nvPr/>
          </p:nvGrpSpPr>
          <p:grpSpPr>
            <a:xfrm rot="0">
              <a:off x="0" y="0"/>
              <a:ext cx="3156298" cy="1016000"/>
              <a:chOff x="0" y="0"/>
              <a:chExt cx="623466" cy="200691"/>
            </a:xfrm>
          </p:grpSpPr>
          <p:sp>
            <p:nvSpPr>
              <p:cNvPr name="Freeform 65" id="65"/>
              <p:cNvSpPr/>
              <p:nvPr/>
            </p:nvSpPr>
            <p:spPr>
              <a:xfrm flipH="false" flipV="false" rot="0">
                <a:off x="0" y="0"/>
                <a:ext cx="623466" cy="200691"/>
              </a:xfrm>
              <a:custGeom>
                <a:avLst/>
                <a:gdLst/>
                <a:ahLst/>
                <a:cxnLst/>
                <a:rect r="r" b="b" t="t" l="l"/>
                <a:pathLst>
                  <a:path h="200691" w="623466">
                    <a:moveTo>
                      <a:pt x="0" y="0"/>
                    </a:moveTo>
                    <a:lnTo>
                      <a:pt x="623466" y="0"/>
                    </a:lnTo>
                    <a:lnTo>
                      <a:pt x="623466" y="200691"/>
                    </a:lnTo>
                    <a:lnTo>
                      <a:pt x="0" y="200691"/>
                    </a:lnTo>
                    <a:close/>
                  </a:path>
                </a:pathLst>
              </a:custGeom>
              <a:solidFill>
                <a:srgbClr val="FE765A"/>
              </a:solidFill>
            </p:spPr>
          </p:sp>
          <p:sp>
            <p:nvSpPr>
              <p:cNvPr name="TextBox 66" id="66"/>
              <p:cNvSpPr txBox="true"/>
              <p:nvPr/>
            </p:nvSpPr>
            <p:spPr>
              <a:xfrm>
                <a:off x="0" y="95250"/>
                <a:ext cx="623466" cy="105441"/>
              </a:xfrm>
              <a:prstGeom prst="rect">
                <a:avLst/>
              </a:prstGeom>
            </p:spPr>
            <p:txBody>
              <a:bodyPr anchor="ctr" rtlCol="false" tIns="50800" lIns="50800" bIns="50800" rIns="50800"/>
              <a:lstStyle/>
              <a:p>
                <a:pPr algn="ctr">
                  <a:lnSpc>
                    <a:spcPts val="1625"/>
                  </a:lnSpc>
                </a:pPr>
              </a:p>
            </p:txBody>
          </p:sp>
        </p:grpSp>
        <p:sp>
          <p:nvSpPr>
            <p:cNvPr name="TextBox 67" id="67"/>
            <p:cNvSpPr txBox="true"/>
            <p:nvPr/>
          </p:nvSpPr>
          <p:spPr>
            <a:xfrm rot="0">
              <a:off x="418613" y="239515"/>
              <a:ext cx="2319073" cy="839985"/>
            </a:xfrm>
            <a:prstGeom prst="rect">
              <a:avLst/>
            </a:prstGeom>
          </p:spPr>
          <p:txBody>
            <a:bodyPr anchor="t" rtlCol="false" tIns="0" lIns="0" bIns="0" rIns="0">
              <a:spAutoFit/>
            </a:bodyPr>
            <a:lstStyle/>
            <a:p>
              <a:pPr algn="ctr">
                <a:lnSpc>
                  <a:spcPts val="3644"/>
                </a:lnSpc>
              </a:pPr>
              <a:r>
                <a:rPr lang="en-US" sz="4555" spc="-45">
                  <a:solidFill>
                    <a:srgbClr val="FDF9DE"/>
                  </a:solidFill>
                  <a:latin typeface="Impact"/>
                  <a:ea typeface="Impact"/>
                  <a:cs typeface="Impact"/>
                  <a:sym typeface="Impact"/>
                </a:rPr>
                <a:t>4</a:t>
              </a:r>
            </a:p>
          </p:txBody>
        </p:sp>
      </p:grpSp>
      <p:sp>
        <p:nvSpPr>
          <p:cNvPr name="TextBox 68" id="68"/>
          <p:cNvSpPr txBox="true"/>
          <p:nvPr/>
        </p:nvSpPr>
        <p:spPr>
          <a:xfrm rot="0">
            <a:off x="14438597" y="5364710"/>
            <a:ext cx="1739305" cy="602907"/>
          </a:xfrm>
          <a:prstGeom prst="rect">
            <a:avLst/>
          </a:prstGeom>
        </p:spPr>
        <p:txBody>
          <a:bodyPr anchor="t" rtlCol="false" tIns="0" lIns="0" bIns="0" rIns="0">
            <a:spAutoFit/>
          </a:bodyPr>
          <a:lstStyle/>
          <a:p>
            <a:pPr algn="ctr">
              <a:lnSpc>
                <a:spcPts val="3644"/>
              </a:lnSpc>
            </a:pPr>
            <a:r>
              <a:rPr lang="en-US" sz="4555" spc="-45">
                <a:solidFill>
                  <a:srgbClr val="231F20"/>
                </a:solidFill>
                <a:latin typeface="Impact"/>
                <a:ea typeface="Impact"/>
                <a:cs typeface="Impact"/>
                <a:sym typeface="Impact"/>
              </a:rPr>
              <a:t>60%</a:t>
            </a:r>
          </a:p>
        </p:txBody>
      </p:sp>
      <p:grpSp>
        <p:nvGrpSpPr>
          <p:cNvPr name="Group 69" id="69"/>
          <p:cNvGrpSpPr/>
          <p:nvPr/>
        </p:nvGrpSpPr>
        <p:grpSpPr>
          <a:xfrm rot="0">
            <a:off x="13958063" y="7036531"/>
            <a:ext cx="2367224" cy="809625"/>
            <a:chOff x="0" y="0"/>
            <a:chExt cx="3156298" cy="1079500"/>
          </a:xfrm>
        </p:grpSpPr>
        <p:grpSp>
          <p:nvGrpSpPr>
            <p:cNvPr name="Group 70" id="70"/>
            <p:cNvGrpSpPr/>
            <p:nvPr/>
          </p:nvGrpSpPr>
          <p:grpSpPr>
            <a:xfrm rot="0">
              <a:off x="0" y="0"/>
              <a:ext cx="3156298" cy="1016000"/>
              <a:chOff x="0" y="0"/>
              <a:chExt cx="623466" cy="200691"/>
            </a:xfrm>
          </p:grpSpPr>
          <p:sp>
            <p:nvSpPr>
              <p:cNvPr name="Freeform 71" id="71"/>
              <p:cNvSpPr/>
              <p:nvPr/>
            </p:nvSpPr>
            <p:spPr>
              <a:xfrm flipH="false" flipV="false" rot="0">
                <a:off x="0" y="0"/>
                <a:ext cx="623466" cy="200691"/>
              </a:xfrm>
              <a:custGeom>
                <a:avLst/>
                <a:gdLst/>
                <a:ahLst/>
                <a:cxnLst/>
                <a:rect r="r" b="b" t="t" l="l"/>
                <a:pathLst>
                  <a:path h="200691" w="623466">
                    <a:moveTo>
                      <a:pt x="0" y="0"/>
                    </a:moveTo>
                    <a:lnTo>
                      <a:pt x="623466" y="0"/>
                    </a:lnTo>
                    <a:lnTo>
                      <a:pt x="623466" y="200691"/>
                    </a:lnTo>
                    <a:lnTo>
                      <a:pt x="0" y="200691"/>
                    </a:lnTo>
                    <a:close/>
                  </a:path>
                </a:pathLst>
              </a:custGeom>
              <a:solidFill>
                <a:srgbClr val="C5503A"/>
              </a:solidFill>
            </p:spPr>
          </p:sp>
          <p:sp>
            <p:nvSpPr>
              <p:cNvPr name="TextBox 72" id="72"/>
              <p:cNvSpPr txBox="true"/>
              <p:nvPr/>
            </p:nvSpPr>
            <p:spPr>
              <a:xfrm>
                <a:off x="0" y="95250"/>
                <a:ext cx="623466" cy="105441"/>
              </a:xfrm>
              <a:prstGeom prst="rect">
                <a:avLst/>
              </a:prstGeom>
            </p:spPr>
            <p:txBody>
              <a:bodyPr anchor="ctr" rtlCol="false" tIns="50800" lIns="50800" bIns="50800" rIns="50800"/>
              <a:lstStyle/>
              <a:p>
                <a:pPr algn="ctr">
                  <a:lnSpc>
                    <a:spcPts val="1625"/>
                  </a:lnSpc>
                </a:pPr>
              </a:p>
            </p:txBody>
          </p:sp>
        </p:grpSp>
        <p:sp>
          <p:nvSpPr>
            <p:cNvPr name="TextBox 73" id="73"/>
            <p:cNvSpPr txBox="true"/>
            <p:nvPr/>
          </p:nvSpPr>
          <p:spPr>
            <a:xfrm rot="0">
              <a:off x="418613" y="239515"/>
              <a:ext cx="2319073" cy="839985"/>
            </a:xfrm>
            <a:prstGeom prst="rect">
              <a:avLst/>
            </a:prstGeom>
          </p:spPr>
          <p:txBody>
            <a:bodyPr anchor="t" rtlCol="false" tIns="0" lIns="0" bIns="0" rIns="0">
              <a:spAutoFit/>
            </a:bodyPr>
            <a:lstStyle/>
            <a:p>
              <a:pPr algn="ctr">
                <a:lnSpc>
                  <a:spcPts val="3644"/>
                </a:lnSpc>
              </a:pPr>
              <a:r>
                <a:rPr lang="en-US" sz="4555" spc="-45">
                  <a:solidFill>
                    <a:srgbClr val="FDF9DE"/>
                  </a:solidFill>
                  <a:latin typeface="Impact"/>
                  <a:ea typeface="Impact"/>
                  <a:cs typeface="Impact"/>
                  <a:sym typeface="Impact"/>
                </a:rPr>
                <a:t>3</a:t>
              </a:r>
            </a:p>
          </p:txBody>
        </p:sp>
      </p:grpSp>
      <p:grpSp>
        <p:nvGrpSpPr>
          <p:cNvPr name="Group 74" id="74"/>
          <p:cNvGrpSpPr/>
          <p:nvPr/>
        </p:nvGrpSpPr>
        <p:grpSpPr>
          <a:xfrm rot="0">
            <a:off x="13958063" y="8293831"/>
            <a:ext cx="2367224" cy="809625"/>
            <a:chOff x="0" y="0"/>
            <a:chExt cx="3156298" cy="1079500"/>
          </a:xfrm>
        </p:grpSpPr>
        <p:grpSp>
          <p:nvGrpSpPr>
            <p:cNvPr name="Group 75" id="75"/>
            <p:cNvGrpSpPr/>
            <p:nvPr/>
          </p:nvGrpSpPr>
          <p:grpSpPr>
            <a:xfrm rot="0">
              <a:off x="0" y="0"/>
              <a:ext cx="3156298" cy="1016000"/>
              <a:chOff x="0" y="0"/>
              <a:chExt cx="623466" cy="200691"/>
            </a:xfrm>
          </p:grpSpPr>
          <p:sp>
            <p:nvSpPr>
              <p:cNvPr name="Freeform 76" id="76"/>
              <p:cNvSpPr/>
              <p:nvPr/>
            </p:nvSpPr>
            <p:spPr>
              <a:xfrm flipH="false" flipV="false" rot="0">
                <a:off x="0" y="0"/>
                <a:ext cx="623466" cy="200691"/>
              </a:xfrm>
              <a:custGeom>
                <a:avLst/>
                <a:gdLst/>
                <a:ahLst/>
                <a:cxnLst/>
                <a:rect r="r" b="b" t="t" l="l"/>
                <a:pathLst>
                  <a:path h="200691" w="623466">
                    <a:moveTo>
                      <a:pt x="0" y="0"/>
                    </a:moveTo>
                    <a:lnTo>
                      <a:pt x="623466" y="0"/>
                    </a:lnTo>
                    <a:lnTo>
                      <a:pt x="623466" y="200691"/>
                    </a:lnTo>
                    <a:lnTo>
                      <a:pt x="0" y="200691"/>
                    </a:lnTo>
                    <a:close/>
                  </a:path>
                </a:pathLst>
              </a:custGeom>
              <a:solidFill>
                <a:srgbClr val="92A4D7"/>
              </a:solidFill>
            </p:spPr>
          </p:sp>
          <p:sp>
            <p:nvSpPr>
              <p:cNvPr name="TextBox 77" id="77"/>
              <p:cNvSpPr txBox="true"/>
              <p:nvPr/>
            </p:nvSpPr>
            <p:spPr>
              <a:xfrm>
                <a:off x="0" y="95250"/>
                <a:ext cx="623466" cy="105441"/>
              </a:xfrm>
              <a:prstGeom prst="rect">
                <a:avLst/>
              </a:prstGeom>
            </p:spPr>
            <p:txBody>
              <a:bodyPr anchor="ctr" rtlCol="false" tIns="50800" lIns="50800" bIns="50800" rIns="50800"/>
              <a:lstStyle/>
              <a:p>
                <a:pPr algn="ctr">
                  <a:lnSpc>
                    <a:spcPts val="1625"/>
                  </a:lnSpc>
                </a:pPr>
              </a:p>
            </p:txBody>
          </p:sp>
        </p:grpSp>
        <p:sp>
          <p:nvSpPr>
            <p:cNvPr name="TextBox 78" id="78"/>
            <p:cNvSpPr txBox="true"/>
            <p:nvPr/>
          </p:nvSpPr>
          <p:spPr>
            <a:xfrm rot="0">
              <a:off x="418613" y="239515"/>
              <a:ext cx="2319073" cy="839985"/>
            </a:xfrm>
            <a:prstGeom prst="rect">
              <a:avLst/>
            </a:prstGeom>
          </p:spPr>
          <p:txBody>
            <a:bodyPr anchor="t" rtlCol="false" tIns="0" lIns="0" bIns="0" rIns="0">
              <a:spAutoFit/>
            </a:bodyPr>
            <a:lstStyle/>
            <a:p>
              <a:pPr algn="ctr">
                <a:lnSpc>
                  <a:spcPts val="3644"/>
                </a:lnSpc>
              </a:pPr>
              <a:r>
                <a:rPr lang="en-US" sz="4555" spc="-45">
                  <a:solidFill>
                    <a:srgbClr val="FDF9DE"/>
                  </a:solidFill>
                  <a:latin typeface="Impact"/>
                  <a:ea typeface="Impact"/>
                  <a:cs typeface="Impact"/>
                  <a:sym typeface="Impact"/>
                </a:rPr>
                <a:t>2</a:t>
              </a:r>
            </a:p>
          </p:txBody>
        </p:sp>
      </p:grpSp>
      <p:sp>
        <p:nvSpPr>
          <p:cNvPr name="TextBox 79" id="79"/>
          <p:cNvSpPr txBox="true"/>
          <p:nvPr/>
        </p:nvSpPr>
        <p:spPr>
          <a:xfrm rot="0">
            <a:off x="14457647" y="7869521"/>
            <a:ext cx="1739305" cy="602907"/>
          </a:xfrm>
          <a:prstGeom prst="rect">
            <a:avLst/>
          </a:prstGeom>
        </p:spPr>
        <p:txBody>
          <a:bodyPr anchor="t" rtlCol="false" tIns="0" lIns="0" bIns="0" rIns="0">
            <a:spAutoFit/>
          </a:bodyPr>
          <a:lstStyle/>
          <a:p>
            <a:pPr algn="ctr">
              <a:lnSpc>
                <a:spcPts val="3644"/>
              </a:lnSpc>
            </a:pPr>
            <a:r>
              <a:rPr lang="en-US" sz="4555" spc="-45">
                <a:solidFill>
                  <a:srgbClr val="231F20"/>
                </a:solidFill>
                <a:latin typeface="Impact"/>
                <a:ea typeface="Impact"/>
                <a:cs typeface="Impact"/>
                <a:sym typeface="Impact"/>
              </a:rPr>
              <a:t>20%</a:t>
            </a:r>
          </a:p>
        </p:txBody>
      </p:sp>
      <p:sp>
        <p:nvSpPr>
          <p:cNvPr name="TextBox 80" id="80"/>
          <p:cNvSpPr txBox="true"/>
          <p:nvPr/>
        </p:nvSpPr>
        <p:spPr>
          <a:xfrm rot="0">
            <a:off x="14419547" y="4152203"/>
            <a:ext cx="1739305" cy="602907"/>
          </a:xfrm>
          <a:prstGeom prst="rect">
            <a:avLst/>
          </a:prstGeom>
        </p:spPr>
        <p:txBody>
          <a:bodyPr anchor="t" rtlCol="false" tIns="0" lIns="0" bIns="0" rIns="0">
            <a:spAutoFit/>
          </a:bodyPr>
          <a:lstStyle/>
          <a:p>
            <a:pPr algn="ctr">
              <a:lnSpc>
                <a:spcPts val="3644"/>
              </a:lnSpc>
            </a:pPr>
            <a:r>
              <a:rPr lang="en-US" sz="4555" spc="-45">
                <a:solidFill>
                  <a:srgbClr val="231F20"/>
                </a:solidFill>
                <a:latin typeface="Impact"/>
                <a:ea typeface="Impact"/>
                <a:cs typeface="Impact"/>
                <a:sym typeface="Impact"/>
              </a:rPr>
              <a:t>70%</a:t>
            </a:r>
          </a:p>
        </p:txBody>
      </p:sp>
      <p:sp>
        <p:nvSpPr>
          <p:cNvPr name="TextBox 81" id="81"/>
          <p:cNvSpPr txBox="true"/>
          <p:nvPr/>
        </p:nvSpPr>
        <p:spPr>
          <a:xfrm rot="0">
            <a:off x="14438597" y="6609389"/>
            <a:ext cx="1739305" cy="602907"/>
          </a:xfrm>
          <a:prstGeom prst="rect">
            <a:avLst/>
          </a:prstGeom>
        </p:spPr>
        <p:txBody>
          <a:bodyPr anchor="t" rtlCol="false" tIns="0" lIns="0" bIns="0" rIns="0">
            <a:spAutoFit/>
          </a:bodyPr>
          <a:lstStyle/>
          <a:p>
            <a:pPr algn="ctr">
              <a:lnSpc>
                <a:spcPts val="3644"/>
              </a:lnSpc>
            </a:pPr>
            <a:r>
              <a:rPr lang="en-US" sz="4555" spc="-45">
                <a:solidFill>
                  <a:srgbClr val="231F20"/>
                </a:solidFill>
                <a:latin typeface="Impact"/>
                <a:ea typeface="Impact"/>
                <a:cs typeface="Impact"/>
                <a:sym typeface="Impact"/>
              </a:rPr>
              <a:t>20%</a:t>
            </a:r>
          </a:p>
        </p:txBody>
      </p:sp>
      <p:sp>
        <p:nvSpPr>
          <p:cNvPr name="TextBox 82" id="82"/>
          <p:cNvSpPr txBox="true"/>
          <p:nvPr/>
        </p:nvSpPr>
        <p:spPr>
          <a:xfrm rot="0">
            <a:off x="4873228" y="2053120"/>
            <a:ext cx="7202560" cy="755015"/>
          </a:xfrm>
          <a:prstGeom prst="rect">
            <a:avLst/>
          </a:prstGeom>
        </p:spPr>
        <p:txBody>
          <a:bodyPr anchor="t" rtlCol="false" tIns="0" lIns="0" bIns="0" rIns="0">
            <a:spAutoFit/>
          </a:bodyPr>
          <a:lstStyle/>
          <a:p>
            <a:pPr algn="just">
              <a:lnSpc>
                <a:spcPts val="1960"/>
              </a:lnSpc>
              <a:spcBef>
                <a:spcPct val="0"/>
              </a:spcBef>
            </a:pPr>
            <a:r>
              <a:rPr lang="en-US" sz="1400">
                <a:solidFill>
                  <a:srgbClr val="000000"/>
                </a:solidFill>
                <a:latin typeface="Poppins"/>
                <a:ea typeface="Poppins"/>
                <a:cs typeface="Poppins"/>
                <a:sym typeface="Poppins"/>
              </a:rPr>
              <a:t>Mostly </a:t>
            </a:r>
            <a:r>
              <a:rPr lang="en-US" b="true" sz="1400">
                <a:solidFill>
                  <a:srgbClr val="000000"/>
                </a:solidFill>
                <a:latin typeface="Poppins Bold"/>
                <a:ea typeface="Poppins Bold"/>
                <a:cs typeface="Poppins Bold"/>
                <a:sym typeface="Poppins Bold"/>
              </a:rPr>
              <a:t>Acquisition</a:t>
            </a:r>
            <a:r>
              <a:rPr lang="en-US" sz="1400">
                <a:solidFill>
                  <a:srgbClr val="000000"/>
                </a:solidFill>
                <a:latin typeface="Poppins"/>
                <a:ea typeface="Poppins"/>
                <a:cs typeface="Poppins"/>
                <a:sym typeface="Poppins"/>
              </a:rPr>
              <a:t>: Capture the attention of potential customers through brand awareness campaigns. Common activities include ads, social media campaigns, SEO, and brand partnerships to reach a broad audience. </a:t>
            </a:r>
            <a:r>
              <a:rPr lang="en-US" b="true" sz="1400">
                <a:solidFill>
                  <a:srgbClr val="000000"/>
                </a:solidFill>
                <a:latin typeface="Poppins Bold"/>
                <a:ea typeface="Poppins Bold"/>
                <a:cs typeface="Poppins Bold"/>
                <a:sym typeface="Poppins Bold"/>
              </a:rPr>
              <a:t>Cost: High</a:t>
            </a:r>
          </a:p>
        </p:txBody>
      </p:sp>
      <p:sp>
        <p:nvSpPr>
          <p:cNvPr name="TextBox 83" id="83"/>
          <p:cNvSpPr txBox="true"/>
          <p:nvPr/>
        </p:nvSpPr>
        <p:spPr>
          <a:xfrm rot="0">
            <a:off x="4873228" y="3303425"/>
            <a:ext cx="7202560" cy="755015"/>
          </a:xfrm>
          <a:prstGeom prst="rect">
            <a:avLst/>
          </a:prstGeom>
        </p:spPr>
        <p:txBody>
          <a:bodyPr anchor="t" rtlCol="false" tIns="0" lIns="0" bIns="0" rIns="0">
            <a:spAutoFit/>
          </a:bodyPr>
          <a:lstStyle/>
          <a:p>
            <a:pPr algn="just">
              <a:lnSpc>
                <a:spcPts val="1960"/>
              </a:lnSpc>
              <a:spcBef>
                <a:spcPct val="0"/>
              </a:spcBef>
            </a:pPr>
            <a:r>
              <a:rPr lang="en-US" sz="1400">
                <a:solidFill>
                  <a:srgbClr val="000000"/>
                </a:solidFill>
                <a:latin typeface="Poppins"/>
                <a:ea typeface="Poppins"/>
                <a:cs typeface="Poppins"/>
                <a:sym typeface="Poppins"/>
              </a:rPr>
              <a:t>Mostly </a:t>
            </a:r>
            <a:r>
              <a:rPr lang="en-US" b="true" sz="1400">
                <a:solidFill>
                  <a:srgbClr val="000000"/>
                </a:solidFill>
                <a:latin typeface="Poppins Bold"/>
                <a:ea typeface="Poppins Bold"/>
                <a:cs typeface="Poppins Bold"/>
                <a:sym typeface="Poppins Bold"/>
              </a:rPr>
              <a:t>Acquisition</a:t>
            </a:r>
            <a:r>
              <a:rPr lang="en-US" sz="1400">
                <a:solidFill>
                  <a:srgbClr val="000000"/>
                </a:solidFill>
                <a:latin typeface="Poppins"/>
                <a:ea typeface="Poppins"/>
                <a:cs typeface="Poppins"/>
                <a:sym typeface="Poppins"/>
              </a:rPr>
              <a:t>: Engage customers and nurture their initial interest in the brand or product. This stage often involves content marketing, email nurturing, and remarketing efforts to keep customers engaged. </a:t>
            </a:r>
            <a:r>
              <a:rPr lang="en-US" b="true" sz="1400">
                <a:solidFill>
                  <a:srgbClr val="000000"/>
                </a:solidFill>
                <a:latin typeface="Poppins Bold"/>
                <a:ea typeface="Poppins Bold"/>
                <a:cs typeface="Poppins Bold"/>
                <a:sym typeface="Poppins Bold"/>
              </a:rPr>
              <a:t>Cost: Moderate</a:t>
            </a:r>
          </a:p>
        </p:txBody>
      </p:sp>
      <p:sp>
        <p:nvSpPr>
          <p:cNvPr name="TextBox 84" id="84"/>
          <p:cNvSpPr txBox="true"/>
          <p:nvPr/>
        </p:nvSpPr>
        <p:spPr>
          <a:xfrm rot="0">
            <a:off x="4876648" y="4512687"/>
            <a:ext cx="7202560" cy="690880"/>
          </a:xfrm>
          <a:prstGeom prst="rect">
            <a:avLst/>
          </a:prstGeom>
        </p:spPr>
        <p:txBody>
          <a:bodyPr anchor="t" rtlCol="false" tIns="0" lIns="0" bIns="0" rIns="0">
            <a:spAutoFit/>
          </a:bodyPr>
          <a:lstStyle/>
          <a:p>
            <a:pPr algn="just">
              <a:lnSpc>
                <a:spcPts val="1820"/>
              </a:lnSpc>
              <a:spcBef>
                <a:spcPct val="0"/>
              </a:spcBef>
            </a:pPr>
            <a:r>
              <a:rPr lang="en-US" sz="1300">
                <a:solidFill>
                  <a:srgbClr val="000000"/>
                </a:solidFill>
                <a:latin typeface="Poppins"/>
                <a:ea typeface="Poppins"/>
                <a:cs typeface="Poppins"/>
                <a:sym typeface="Poppins"/>
              </a:rPr>
              <a:t>Between </a:t>
            </a:r>
            <a:r>
              <a:rPr lang="en-US" b="true" sz="1300">
                <a:solidFill>
                  <a:srgbClr val="000000"/>
                </a:solidFill>
                <a:latin typeface="Poppins Bold"/>
                <a:ea typeface="Poppins Bold"/>
                <a:cs typeface="Poppins Bold"/>
                <a:sym typeface="Poppins Bold"/>
              </a:rPr>
              <a:t>Acquisition and Retention</a:t>
            </a:r>
            <a:r>
              <a:rPr lang="en-US" sz="1300">
                <a:solidFill>
                  <a:srgbClr val="000000"/>
                </a:solidFill>
                <a:latin typeface="Poppins"/>
                <a:ea typeface="Poppins"/>
                <a:cs typeface="Poppins"/>
                <a:sym typeface="Poppins"/>
              </a:rPr>
              <a:t>: Persuade customers to seriously consider the product by providing product comparisons, customer reviews, detailed guides, and targeted ads to address specific needs or objections. </a:t>
            </a:r>
            <a:r>
              <a:rPr lang="en-US" b="true" sz="1300">
                <a:solidFill>
                  <a:srgbClr val="000000"/>
                </a:solidFill>
                <a:latin typeface="Poppins Bold"/>
                <a:ea typeface="Poppins Bold"/>
                <a:cs typeface="Poppins Bold"/>
                <a:sym typeface="Poppins Bold"/>
              </a:rPr>
              <a:t>Cost: Moderate</a:t>
            </a:r>
          </a:p>
        </p:txBody>
      </p:sp>
      <p:sp>
        <p:nvSpPr>
          <p:cNvPr name="TextBox 85" id="85"/>
          <p:cNvSpPr txBox="true"/>
          <p:nvPr/>
        </p:nvSpPr>
        <p:spPr>
          <a:xfrm rot="0">
            <a:off x="5423225" y="5784525"/>
            <a:ext cx="6652563" cy="626745"/>
          </a:xfrm>
          <a:prstGeom prst="rect">
            <a:avLst/>
          </a:prstGeom>
        </p:spPr>
        <p:txBody>
          <a:bodyPr anchor="t" rtlCol="false" tIns="0" lIns="0" bIns="0" rIns="0">
            <a:spAutoFit/>
          </a:bodyPr>
          <a:lstStyle/>
          <a:p>
            <a:pPr algn="just">
              <a:lnSpc>
                <a:spcPts val="1680"/>
              </a:lnSpc>
              <a:spcBef>
                <a:spcPct val="0"/>
              </a:spcBef>
            </a:pPr>
            <a:r>
              <a:rPr lang="en-US" sz="1200">
                <a:solidFill>
                  <a:srgbClr val="000000"/>
                </a:solidFill>
                <a:latin typeface="Poppins"/>
                <a:ea typeface="Poppins"/>
                <a:cs typeface="Poppins"/>
                <a:sym typeface="Poppins"/>
              </a:rPr>
              <a:t>Mostly </a:t>
            </a:r>
            <a:r>
              <a:rPr lang="en-US" b="true" sz="1200">
                <a:solidFill>
                  <a:srgbClr val="000000"/>
                </a:solidFill>
                <a:latin typeface="Poppins Bold"/>
                <a:ea typeface="Poppins Bold"/>
                <a:cs typeface="Poppins Bold"/>
                <a:sym typeface="Poppins Bold"/>
              </a:rPr>
              <a:t>Retention</a:t>
            </a:r>
            <a:r>
              <a:rPr lang="en-US" sz="1200">
                <a:solidFill>
                  <a:srgbClr val="000000"/>
                </a:solidFill>
                <a:latin typeface="Poppins"/>
                <a:ea typeface="Poppins"/>
                <a:cs typeface="Poppins"/>
                <a:sym typeface="Poppins"/>
              </a:rPr>
              <a:t>: Convert interested customers into buyers by offering discounts, promotional offers, and ensuring a smooth checkout experience to encourage purchase completion. </a:t>
            </a:r>
            <a:r>
              <a:rPr lang="en-US" b="true" sz="1200">
                <a:solidFill>
                  <a:srgbClr val="000000"/>
                </a:solidFill>
                <a:latin typeface="Poppins Bold"/>
                <a:ea typeface="Poppins Bold"/>
                <a:cs typeface="Poppins Bold"/>
                <a:sym typeface="Poppins Bold"/>
              </a:rPr>
              <a:t>Cost: Moderate to High</a:t>
            </a:r>
          </a:p>
        </p:txBody>
      </p:sp>
      <p:sp>
        <p:nvSpPr>
          <p:cNvPr name="TextBox 86" id="86"/>
          <p:cNvSpPr txBox="true"/>
          <p:nvPr/>
        </p:nvSpPr>
        <p:spPr>
          <a:xfrm rot="0">
            <a:off x="6182008" y="6937977"/>
            <a:ext cx="5812187" cy="836295"/>
          </a:xfrm>
          <a:prstGeom prst="rect">
            <a:avLst/>
          </a:prstGeom>
        </p:spPr>
        <p:txBody>
          <a:bodyPr anchor="t" rtlCol="false" tIns="0" lIns="0" bIns="0" rIns="0">
            <a:spAutoFit/>
          </a:bodyPr>
          <a:lstStyle/>
          <a:p>
            <a:pPr algn="just">
              <a:lnSpc>
                <a:spcPts val="1680"/>
              </a:lnSpc>
              <a:spcBef>
                <a:spcPct val="0"/>
              </a:spcBef>
            </a:pPr>
            <a:r>
              <a:rPr lang="en-US" sz="1200">
                <a:solidFill>
                  <a:srgbClr val="000000"/>
                </a:solidFill>
                <a:latin typeface="Poppins"/>
                <a:ea typeface="Poppins"/>
                <a:cs typeface="Poppins"/>
                <a:sym typeface="Poppins"/>
              </a:rPr>
              <a:t>Mostly </a:t>
            </a:r>
            <a:r>
              <a:rPr lang="en-US" b="true" sz="1200">
                <a:solidFill>
                  <a:srgbClr val="000000"/>
                </a:solidFill>
                <a:latin typeface="Poppins Bold"/>
                <a:ea typeface="Poppins Bold"/>
                <a:cs typeface="Poppins Bold"/>
                <a:sym typeface="Poppins Bold"/>
              </a:rPr>
              <a:t>Retention</a:t>
            </a:r>
            <a:r>
              <a:rPr lang="en-US" sz="1200">
                <a:solidFill>
                  <a:srgbClr val="000000"/>
                </a:solidFill>
                <a:latin typeface="Poppins"/>
                <a:ea typeface="Poppins"/>
                <a:cs typeface="Poppins"/>
                <a:sym typeface="Poppins"/>
              </a:rPr>
              <a:t>: Encourage repeat purchases and foster loyalty among existing customers. Strategies include loyalty programs, personalized offers, and post-purchase support, creating a positive ongoing experience.</a:t>
            </a:r>
            <a:r>
              <a:rPr lang="en-US" b="true" sz="1200">
                <a:solidFill>
                  <a:srgbClr val="000000"/>
                </a:solidFill>
                <a:latin typeface="Poppins Bold"/>
                <a:ea typeface="Poppins Bold"/>
                <a:cs typeface="Poppins Bold"/>
                <a:sym typeface="Poppins Bold"/>
              </a:rPr>
              <a:t> Cost: Low to Moderate</a:t>
            </a:r>
          </a:p>
        </p:txBody>
      </p:sp>
      <p:sp>
        <p:nvSpPr>
          <p:cNvPr name="TextBox 87" id="87"/>
          <p:cNvSpPr txBox="true"/>
          <p:nvPr/>
        </p:nvSpPr>
        <p:spPr>
          <a:xfrm rot="0">
            <a:off x="7539285" y="8157019"/>
            <a:ext cx="4539923" cy="836295"/>
          </a:xfrm>
          <a:prstGeom prst="rect">
            <a:avLst/>
          </a:prstGeom>
        </p:spPr>
        <p:txBody>
          <a:bodyPr anchor="t" rtlCol="false" tIns="0" lIns="0" bIns="0" rIns="0">
            <a:spAutoFit/>
          </a:bodyPr>
          <a:lstStyle/>
          <a:p>
            <a:pPr algn="just">
              <a:lnSpc>
                <a:spcPts val="1680"/>
              </a:lnSpc>
              <a:spcBef>
                <a:spcPct val="0"/>
              </a:spcBef>
            </a:pPr>
            <a:r>
              <a:rPr lang="en-US" sz="1200">
                <a:solidFill>
                  <a:srgbClr val="000000"/>
                </a:solidFill>
                <a:latin typeface="Poppins"/>
                <a:ea typeface="Poppins"/>
                <a:cs typeface="Poppins"/>
                <a:sym typeface="Poppins"/>
              </a:rPr>
              <a:t>Mostly </a:t>
            </a:r>
            <a:r>
              <a:rPr lang="en-US" b="true" sz="1200">
                <a:solidFill>
                  <a:srgbClr val="000000"/>
                </a:solidFill>
                <a:latin typeface="Poppins Bold"/>
                <a:ea typeface="Poppins Bold"/>
                <a:cs typeface="Poppins Bold"/>
                <a:sym typeface="Poppins Bold"/>
              </a:rPr>
              <a:t>Retention</a:t>
            </a:r>
            <a:r>
              <a:rPr lang="en-US" sz="1200">
                <a:solidFill>
                  <a:srgbClr val="000000"/>
                </a:solidFill>
                <a:latin typeface="Poppins"/>
                <a:ea typeface="Poppins"/>
                <a:cs typeface="Poppins"/>
                <a:sym typeface="Poppins"/>
              </a:rPr>
              <a:t>: Turn loyal customers into advocates who refer new customers through word-of-mouth. Referral programs, ambassador incentives, and rewards for reviews are effective ways to support advocacy. </a:t>
            </a:r>
            <a:r>
              <a:rPr lang="en-US" b="true" sz="1200">
                <a:solidFill>
                  <a:srgbClr val="000000"/>
                </a:solidFill>
                <a:latin typeface="Poppins Bold"/>
                <a:ea typeface="Poppins Bold"/>
                <a:cs typeface="Poppins Bold"/>
                <a:sym typeface="Poppins Bold"/>
              </a:rPr>
              <a:t>Cost: Low</a:t>
            </a:r>
          </a:p>
        </p:txBody>
      </p:sp>
      <p:sp>
        <p:nvSpPr>
          <p:cNvPr name="AutoShape 88" id="88"/>
          <p:cNvSpPr/>
          <p:nvPr/>
        </p:nvSpPr>
        <p:spPr>
          <a:xfrm>
            <a:off x="13958063" y="2417610"/>
            <a:ext cx="499584" cy="609600"/>
          </a:xfrm>
          <a:prstGeom prst="line">
            <a:avLst/>
          </a:prstGeom>
          <a:ln cap="flat" w="38100">
            <a:solidFill>
              <a:srgbClr val="000000"/>
            </a:solidFill>
            <a:prstDash val="solid"/>
            <a:headEnd type="none" len="sm" w="sm"/>
            <a:tailEnd type="triangle" len="med" w="lg"/>
          </a:ln>
        </p:spPr>
      </p:sp>
      <p:sp>
        <p:nvSpPr>
          <p:cNvPr name="AutoShape 89" id="89"/>
          <p:cNvSpPr/>
          <p:nvPr/>
        </p:nvSpPr>
        <p:spPr>
          <a:xfrm>
            <a:off x="16168376" y="3129160"/>
            <a:ext cx="156910" cy="569563"/>
          </a:xfrm>
          <a:prstGeom prst="line">
            <a:avLst/>
          </a:prstGeom>
          <a:ln cap="flat" w="38100">
            <a:solidFill>
              <a:srgbClr val="000000"/>
            </a:solidFill>
            <a:prstDash val="solid"/>
            <a:headEnd type="none" len="sm" w="sm"/>
            <a:tailEnd type="triangle" len="med" w="lg"/>
          </a:ln>
        </p:spPr>
      </p:sp>
      <p:sp>
        <p:nvSpPr>
          <p:cNvPr name="AutoShape 90" id="90"/>
          <p:cNvSpPr/>
          <p:nvPr/>
        </p:nvSpPr>
        <p:spPr>
          <a:xfrm>
            <a:off x="15818970" y="4410794"/>
            <a:ext cx="506316" cy="544524"/>
          </a:xfrm>
          <a:prstGeom prst="line">
            <a:avLst/>
          </a:prstGeom>
          <a:ln cap="flat" w="38100">
            <a:solidFill>
              <a:srgbClr val="000000"/>
            </a:solidFill>
            <a:prstDash val="solid"/>
            <a:headEnd type="none" len="sm" w="sm"/>
            <a:tailEnd type="triangle" len="med" w="lg"/>
          </a:ln>
        </p:spPr>
      </p:sp>
      <p:sp>
        <p:nvSpPr>
          <p:cNvPr name="AutoShape 91" id="91"/>
          <p:cNvSpPr/>
          <p:nvPr/>
        </p:nvSpPr>
        <p:spPr>
          <a:xfrm>
            <a:off x="16177901" y="5623301"/>
            <a:ext cx="147385" cy="787969"/>
          </a:xfrm>
          <a:prstGeom prst="line">
            <a:avLst/>
          </a:prstGeom>
          <a:ln cap="flat" w="38100">
            <a:solidFill>
              <a:srgbClr val="000000"/>
            </a:solidFill>
            <a:prstDash val="solid"/>
            <a:headEnd type="none" len="sm" w="sm"/>
            <a:tailEnd type="triangle" len="med" w="lg"/>
          </a:ln>
        </p:spPr>
      </p:sp>
      <p:sp>
        <p:nvSpPr>
          <p:cNvPr name="AutoShape 92" id="92"/>
          <p:cNvSpPr/>
          <p:nvPr/>
        </p:nvSpPr>
        <p:spPr>
          <a:xfrm>
            <a:off x="16177901" y="6867980"/>
            <a:ext cx="147385" cy="573363"/>
          </a:xfrm>
          <a:prstGeom prst="line">
            <a:avLst/>
          </a:prstGeom>
          <a:ln cap="flat" w="38100">
            <a:solidFill>
              <a:srgbClr val="000000"/>
            </a:solidFill>
            <a:prstDash val="solid"/>
            <a:headEnd type="none" len="sm" w="sm"/>
            <a:tailEnd type="triangle" len="med" w="lg"/>
          </a:ln>
        </p:spPr>
      </p:sp>
      <p:sp>
        <p:nvSpPr>
          <p:cNvPr name="AutoShape 93" id="93"/>
          <p:cNvSpPr/>
          <p:nvPr/>
        </p:nvSpPr>
        <p:spPr>
          <a:xfrm flipH="true">
            <a:off x="16168376" y="8128113"/>
            <a:ext cx="28575" cy="575637"/>
          </a:xfrm>
          <a:prstGeom prst="line">
            <a:avLst/>
          </a:prstGeom>
          <a:ln cap="flat" w="38100">
            <a:solidFill>
              <a:srgbClr val="000000"/>
            </a:solidFill>
            <a:prstDash val="solid"/>
            <a:headEnd type="none" len="sm" w="sm"/>
            <a:tailEnd type="triangle" len="med" w="lg"/>
          </a:ln>
        </p:spPr>
      </p:sp>
      <p:sp>
        <p:nvSpPr>
          <p:cNvPr name="AutoShape 94" id="94"/>
          <p:cNvSpPr/>
          <p:nvPr/>
        </p:nvSpPr>
        <p:spPr>
          <a:xfrm>
            <a:off x="13958063" y="3698722"/>
            <a:ext cx="461484" cy="712071"/>
          </a:xfrm>
          <a:prstGeom prst="line">
            <a:avLst/>
          </a:prstGeom>
          <a:ln cap="flat" w="38100">
            <a:solidFill>
              <a:srgbClr val="000000"/>
            </a:solidFill>
            <a:prstDash val="solid"/>
            <a:headEnd type="none" len="sm" w="sm"/>
            <a:tailEnd type="triangle" len="med" w="lg"/>
          </a:ln>
        </p:spPr>
      </p:sp>
      <p:sp>
        <p:nvSpPr>
          <p:cNvPr name="AutoShape 95" id="95"/>
          <p:cNvSpPr/>
          <p:nvPr/>
        </p:nvSpPr>
        <p:spPr>
          <a:xfrm>
            <a:off x="13958063" y="4955318"/>
            <a:ext cx="480534" cy="667983"/>
          </a:xfrm>
          <a:prstGeom prst="line">
            <a:avLst/>
          </a:prstGeom>
          <a:ln cap="flat" w="38100">
            <a:solidFill>
              <a:srgbClr val="000000"/>
            </a:solidFill>
            <a:prstDash val="solid"/>
            <a:headEnd type="none" len="sm" w="sm"/>
            <a:tailEnd type="triangle" len="med" w="lg"/>
          </a:ln>
        </p:spPr>
      </p:sp>
      <p:sp>
        <p:nvSpPr>
          <p:cNvPr name="AutoShape 96" id="96"/>
          <p:cNvSpPr/>
          <p:nvPr/>
        </p:nvSpPr>
        <p:spPr>
          <a:xfrm>
            <a:off x="13958063" y="6184043"/>
            <a:ext cx="480534" cy="683937"/>
          </a:xfrm>
          <a:prstGeom prst="line">
            <a:avLst/>
          </a:prstGeom>
          <a:ln cap="flat" w="38100">
            <a:solidFill>
              <a:srgbClr val="000000"/>
            </a:solidFill>
            <a:prstDash val="solid"/>
            <a:headEnd type="none" len="sm" w="sm"/>
            <a:tailEnd type="triangle" len="med" w="lg"/>
          </a:ln>
        </p:spPr>
      </p:sp>
      <p:sp>
        <p:nvSpPr>
          <p:cNvPr name="AutoShape 97" id="97"/>
          <p:cNvSpPr/>
          <p:nvPr/>
        </p:nvSpPr>
        <p:spPr>
          <a:xfrm>
            <a:off x="13958063" y="7441343"/>
            <a:ext cx="840161" cy="744251"/>
          </a:xfrm>
          <a:prstGeom prst="line">
            <a:avLst/>
          </a:prstGeom>
          <a:ln cap="flat" w="38100">
            <a:solidFill>
              <a:srgbClr val="000000"/>
            </a:solidFill>
            <a:prstDash val="solid"/>
            <a:headEnd type="none" len="sm" w="sm"/>
            <a:tailEnd type="triangle" len="med" w="lg"/>
          </a:ln>
        </p:spPr>
      </p:sp>
      <p:sp>
        <p:nvSpPr>
          <p:cNvPr name="TextBox 98" id="98"/>
          <p:cNvSpPr txBox="true"/>
          <p:nvPr/>
        </p:nvSpPr>
        <p:spPr>
          <a:xfrm rot="0">
            <a:off x="15647445" y="9149715"/>
            <a:ext cx="2477319" cy="198120"/>
          </a:xfrm>
          <a:prstGeom prst="rect">
            <a:avLst/>
          </a:prstGeom>
        </p:spPr>
        <p:txBody>
          <a:bodyPr anchor="t" rtlCol="false" tIns="0" lIns="0" bIns="0" rIns="0">
            <a:spAutoFit/>
          </a:bodyPr>
          <a:lstStyle/>
          <a:p>
            <a:pPr algn="ctr">
              <a:lnSpc>
                <a:spcPts val="1680"/>
              </a:lnSpc>
            </a:pPr>
            <a:r>
              <a:rPr lang="en-US" sz="1200" u="sng">
                <a:solidFill>
                  <a:srgbClr val="000000"/>
                </a:solidFill>
                <a:latin typeface="Canva Sans"/>
                <a:ea typeface="Canva Sans"/>
                <a:cs typeface="Canva Sans"/>
                <a:sym typeface="Canva Sans"/>
                <a:hlinkClick r:id="rId2" tooltip="https://docs.google.com/document/d/1KA6UgK-b0Z1XY8rfkVqdTnzXJkNKobBWOYXVF1w83kI/edit?usp=sharing"/>
              </a:rPr>
              <a:t>[*]check the reference of the data</a:t>
            </a:r>
          </a:p>
        </p:txBody>
      </p:sp>
      <p:sp>
        <p:nvSpPr>
          <p:cNvPr name="TextBox 99" id="99"/>
          <p:cNvSpPr txBox="true"/>
          <p:nvPr/>
        </p:nvSpPr>
        <p:spPr>
          <a:xfrm rot="0">
            <a:off x="13958063" y="1578457"/>
            <a:ext cx="2367224" cy="434340"/>
          </a:xfrm>
          <a:prstGeom prst="rect">
            <a:avLst/>
          </a:prstGeom>
        </p:spPr>
        <p:txBody>
          <a:bodyPr anchor="t" rtlCol="false" tIns="0" lIns="0" bIns="0" rIns="0">
            <a:spAutoFit/>
          </a:bodyPr>
          <a:lstStyle/>
          <a:p>
            <a:pPr algn="l">
              <a:lnSpc>
                <a:spcPts val="3180"/>
              </a:lnSpc>
            </a:pPr>
            <a:r>
              <a:rPr lang="en-US" sz="3000" b="true">
                <a:solidFill>
                  <a:srgbClr val="000000"/>
                </a:solidFill>
                <a:latin typeface="Poppins Bold"/>
                <a:ea typeface="Poppins Bold"/>
                <a:cs typeface="Poppins Bold"/>
                <a:sym typeface="Poppins Bold"/>
              </a:rPr>
              <a:t>Churn Rate</a:t>
            </a:r>
          </a:p>
        </p:txBody>
      </p:sp>
      <p:grpSp>
        <p:nvGrpSpPr>
          <p:cNvPr name="Group 100" id="100"/>
          <p:cNvGrpSpPr/>
          <p:nvPr/>
        </p:nvGrpSpPr>
        <p:grpSpPr>
          <a:xfrm rot="0">
            <a:off x="0" y="9555697"/>
            <a:ext cx="4099091" cy="731303"/>
            <a:chOff x="0" y="0"/>
            <a:chExt cx="5465455" cy="975071"/>
          </a:xfrm>
        </p:grpSpPr>
        <p:grpSp>
          <p:nvGrpSpPr>
            <p:cNvPr name="Group 101" id="101"/>
            <p:cNvGrpSpPr/>
            <p:nvPr/>
          </p:nvGrpSpPr>
          <p:grpSpPr>
            <a:xfrm rot="0">
              <a:off x="0" y="0"/>
              <a:ext cx="975071" cy="975071"/>
              <a:chOff x="0" y="0"/>
              <a:chExt cx="812800" cy="812800"/>
            </a:xfrm>
          </p:grpSpPr>
          <p:sp>
            <p:nvSpPr>
              <p:cNvPr name="Freeform 102" id="10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0" t="-446" r="0" b="0"/>
                </a:stretch>
              </a:blipFill>
            </p:spPr>
          </p:sp>
        </p:grpSp>
        <p:sp>
          <p:nvSpPr>
            <p:cNvPr name="TextBox 103" id="103"/>
            <p:cNvSpPr txBox="true"/>
            <p:nvPr/>
          </p:nvSpPr>
          <p:spPr>
            <a:xfrm rot="0">
              <a:off x="1141360" y="48747"/>
              <a:ext cx="2860498" cy="925689"/>
            </a:xfrm>
            <a:prstGeom prst="rect">
              <a:avLst/>
            </a:prstGeom>
          </p:spPr>
          <p:txBody>
            <a:bodyPr anchor="t" rtlCol="false" tIns="0" lIns="0" bIns="0" rIns="0">
              <a:spAutoFit/>
            </a:bodyPr>
            <a:lstStyle/>
            <a:p>
              <a:pPr algn="l">
                <a:lnSpc>
                  <a:spcPts val="5594"/>
                </a:lnSpc>
                <a:spcBef>
                  <a:spcPct val="0"/>
                </a:spcBef>
              </a:pPr>
              <a:r>
                <a:rPr lang="en-US" b="true" sz="3996">
                  <a:solidFill>
                    <a:srgbClr val="FFFFFF"/>
                  </a:solidFill>
                  <a:latin typeface="Poppins Bold"/>
                  <a:ea typeface="Poppins Bold"/>
                  <a:cs typeface="Poppins Bold"/>
                  <a:sym typeface="Poppins Bold"/>
                </a:rPr>
                <a:t>No</a:t>
              </a:r>
            </a:p>
          </p:txBody>
        </p:sp>
        <p:sp>
          <p:nvSpPr>
            <p:cNvPr name="TextBox 104" id="104"/>
            <p:cNvSpPr txBox="true"/>
            <p:nvPr/>
          </p:nvSpPr>
          <p:spPr>
            <a:xfrm rot="0">
              <a:off x="2184479" y="48747"/>
              <a:ext cx="3280976" cy="925689"/>
            </a:xfrm>
            <a:prstGeom prst="rect">
              <a:avLst/>
            </a:prstGeom>
          </p:spPr>
          <p:txBody>
            <a:bodyPr anchor="t" rtlCol="false" tIns="0" lIns="0" bIns="0" rIns="0">
              <a:spAutoFit/>
            </a:bodyPr>
            <a:lstStyle/>
            <a:p>
              <a:pPr algn="l">
                <a:lnSpc>
                  <a:spcPts val="5594"/>
                </a:lnSpc>
                <a:spcBef>
                  <a:spcPct val="0"/>
                </a:spcBef>
              </a:pPr>
              <a:r>
                <a:rPr lang="en-US" b="true" sz="3996">
                  <a:solidFill>
                    <a:srgbClr val="FFFFFF"/>
                  </a:solidFill>
                  <a:latin typeface="Poppins Semi-Bold"/>
                  <a:ea typeface="Poppins Semi-Bold"/>
                  <a:cs typeface="Poppins Semi-Bold"/>
                  <a:sym typeface="Poppins Semi-Bold"/>
                </a:rPr>
                <a:t>Parking</a:t>
              </a:r>
            </a:p>
          </p:txBody>
        </p:sp>
      </p:grpSp>
      <p:sp>
        <p:nvSpPr>
          <p:cNvPr name="TextBox 105" id="10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DCD7F1"/>
        </a:solidFill>
      </p:bgPr>
    </p:bg>
    <p:spTree>
      <p:nvGrpSpPr>
        <p:cNvPr id="1" name=""/>
        <p:cNvGrpSpPr/>
        <p:nvPr/>
      </p:nvGrpSpPr>
      <p:grpSpPr>
        <a:xfrm>
          <a:off x="0" y="0"/>
          <a:ext cx="0" cy="0"/>
          <a:chOff x="0" y="0"/>
          <a:chExt cx="0" cy="0"/>
        </a:xfrm>
      </p:grpSpPr>
      <p:grpSp>
        <p:nvGrpSpPr>
          <p:cNvPr name="Group 2" id="2"/>
          <p:cNvGrpSpPr/>
          <p:nvPr/>
        </p:nvGrpSpPr>
        <p:grpSpPr>
          <a:xfrm rot="0">
            <a:off x="150713" y="5383811"/>
            <a:ext cx="17986573" cy="4439711"/>
            <a:chOff x="0" y="0"/>
            <a:chExt cx="23982097" cy="5919615"/>
          </a:xfrm>
        </p:grpSpPr>
        <p:grpSp>
          <p:nvGrpSpPr>
            <p:cNvPr name="Group 3" id="3"/>
            <p:cNvGrpSpPr/>
            <p:nvPr/>
          </p:nvGrpSpPr>
          <p:grpSpPr>
            <a:xfrm rot="0">
              <a:off x="1545803" y="129292"/>
              <a:ext cx="1647020" cy="1524000"/>
              <a:chOff x="0" y="0"/>
              <a:chExt cx="325337" cy="301037"/>
            </a:xfrm>
          </p:grpSpPr>
          <p:sp>
            <p:nvSpPr>
              <p:cNvPr name="Freeform 4" id="4"/>
              <p:cNvSpPr/>
              <p:nvPr/>
            </p:nvSpPr>
            <p:spPr>
              <a:xfrm flipH="false" flipV="false" rot="0">
                <a:off x="0" y="0"/>
                <a:ext cx="325337" cy="301037"/>
              </a:xfrm>
              <a:custGeom>
                <a:avLst/>
                <a:gdLst/>
                <a:ahLst/>
                <a:cxnLst/>
                <a:rect r="r" b="b" t="t" l="l"/>
                <a:pathLst>
                  <a:path h="301037" w="325337">
                    <a:moveTo>
                      <a:pt x="162669" y="301037"/>
                    </a:moveTo>
                    <a:lnTo>
                      <a:pt x="325337" y="0"/>
                    </a:lnTo>
                    <a:lnTo>
                      <a:pt x="0" y="0"/>
                    </a:lnTo>
                    <a:lnTo>
                      <a:pt x="162669" y="301037"/>
                    </a:lnTo>
                    <a:close/>
                  </a:path>
                </a:pathLst>
              </a:custGeom>
              <a:solidFill>
                <a:srgbClr val="F4A261"/>
              </a:solidFill>
            </p:spPr>
          </p:sp>
          <p:sp>
            <p:nvSpPr>
              <p:cNvPr name="TextBox 5" id="5"/>
              <p:cNvSpPr txBox="true"/>
              <p:nvPr/>
            </p:nvSpPr>
            <p:spPr>
              <a:xfrm>
                <a:off x="50834" y="116753"/>
                <a:ext cx="223669" cy="44517"/>
              </a:xfrm>
              <a:prstGeom prst="rect">
                <a:avLst/>
              </a:prstGeom>
            </p:spPr>
            <p:txBody>
              <a:bodyPr anchor="ctr" rtlCol="false" tIns="50800" lIns="50800" bIns="50800" rIns="50800"/>
              <a:lstStyle/>
              <a:p>
                <a:pPr algn="ctr">
                  <a:lnSpc>
                    <a:spcPts val="1625"/>
                  </a:lnSpc>
                </a:pPr>
              </a:p>
            </p:txBody>
          </p:sp>
        </p:grpSp>
        <p:sp>
          <p:nvSpPr>
            <p:cNvPr name="TextBox 6" id="6"/>
            <p:cNvSpPr txBox="true"/>
            <p:nvPr/>
          </p:nvSpPr>
          <p:spPr>
            <a:xfrm rot="0">
              <a:off x="2245412" y="545447"/>
              <a:ext cx="2457830" cy="1114438"/>
            </a:xfrm>
            <a:prstGeom prst="rect">
              <a:avLst/>
            </a:prstGeom>
          </p:spPr>
          <p:txBody>
            <a:bodyPr anchor="t" rtlCol="false" tIns="0" lIns="0" bIns="0" rIns="0">
              <a:spAutoFit/>
            </a:bodyPr>
            <a:lstStyle/>
            <a:p>
              <a:pPr algn="ctr">
                <a:lnSpc>
                  <a:spcPts val="4800"/>
                </a:lnSpc>
              </a:pPr>
              <a:r>
                <a:rPr lang="en-US" sz="6000" spc="-60">
                  <a:solidFill>
                    <a:srgbClr val="FDF9DE"/>
                  </a:solidFill>
                  <a:latin typeface="Impact"/>
                  <a:ea typeface="Impact"/>
                  <a:cs typeface="Impact"/>
                  <a:sym typeface="Impact"/>
                </a:rPr>
                <a:t>DESIRE</a:t>
              </a:r>
            </a:p>
          </p:txBody>
        </p:sp>
        <p:sp>
          <p:nvSpPr>
            <p:cNvPr name="TextBox 7" id="7"/>
            <p:cNvSpPr txBox="true"/>
            <p:nvPr/>
          </p:nvSpPr>
          <p:spPr>
            <a:xfrm rot="0">
              <a:off x="0" y="1814224"/>
              <a:ext cx="7101921" cy="4069207"/>
            </a:xfrm>
            <a:prstGeom prst="rect">
              <a:avLst/>
            </a:prstGeom>
          </p:spPr>
          <p:txBody>
            <a:bodyPr anchor="t" rtlCol="false" tIns="0" lIns="0" bIns="0" rIns="0">
              <a:spAutoFit/>
            </a:bodyPr>
            <a:lstStyle/>
            <a:p>
              <a:pPr algn="l" marL="367031" indent="-183515" lvl="1">
                <a:lnSpc>
                  <a:spcPts val="2703"/>
                </a:lnSpc>
                <a:buFont typeface="Arial"/>
                <a:buChar char="•"/>
              </a:pPr>
              <a:r>
                <a:rPr lang="en-US" b="true" sz="1700">
                  <a:solidFill>
                    <a:srgbClr val="000000"/>
                  </a:solidFill>
                  <a:latin typeface="Canva Sans Bold"/>
                  <a:ea typeface="Canva Sans Bold"/>
                  <a:cs typeface="Canva Sans Bold"/>
                  <a:sym typeface="Canva Sans Bold"/>
                </a:rPr>
                <a:t>Emotional Connection: </a:t>
              </a:r>
              <a:r>
                <a:rPr lang="en-US" sz="1700">
                  <a:solidFill>
                    <a:srgbClr val="000000"/>
                  </a:solidFill>
                  <a:latin typeface="Canva Sans"/>
                  <a:ea typeface="Canva Sans"/>
                  <a:cs typeface="Canva Sans"/>
                  <a:sym typeface="Canva Sans"/>
                </a:rPr>
                <a:t>Building an emotional connection with customers can increase loyalty by 50%.</a:t>
              </a:r>
              <a:r>
                <a:rPr lang="en-US" b="true" sz="1700">
                  <a:solidFill>
                    <a:srgbClr val="000000"/>
                  </a:solidFill>
                  <a:latin typeface="Canva Sans Bold"/>
                  <a:ea typeface="Canva Sans Bold"/>
                  <a:cs typeface="Canva Sans Bold"/>
                  <a:sym typeface="Canva Sans Bold"/>
                </a:rPr>
                <a:t> </a:t>
              </a:r>
              <a:r>
                <a:rPr lang="en-US" sz="1700">
                  <a:solidFill>
                    <a:srgbClr val="000000"/>
                  </a:solidFill>
                  <a:latin typeface="Canva Sans"/>
                  <a:ea typeface="Canva Sans"/>
                  <a:cs typeface="Canva Sans"/>
                  <a:sym typeface="Canva Sans"/>
                </a:rPr>
                <a:t>[</a:t>
              </a:r>
              <a:r>
                <a:rPr lang="en-US" sz="1700" u="sng">
                  <a:solidFill>
                    <a:srgbClr val="000000"/>
                  </a:solidFill>
                  <a:latin typeface="Canva Sans"/>
                  <a:ea typeface="Canva Sans"/>
                  <a:cs typeface="Canva Sans"/>
                  <a:sym typeface="Canva Sans"/>
                  <a:hlinkClick r:id="rId2" tooltip="https://www.motista.com"/>
                </a:rPr>
                <a:t>Motista</a:t>
              </a:r>
              <a:r>
                <a:rPr lang="en-US" sz="1700">
                  <a:solidFill>
                    <a:srgbClr val="000000"/>
                  </a:solidFill>
                  <a:latin typeface="Canva Sans"/>
                  <a:ea typeface="Canva Sans"/>
                  <a:cs typeface="Canva Sans"/>
                  <a:sym typeface="Canva Sans"/>
                </a:rPr>
                <a:t>]</a:t>
              </a:r>
            </a:p>
            <a:p>
              <a:pPr algn="l" marL="367031" indent="-183515" lvl="1">
                <a:lnSpc>
                  <a:spcPts val="2703"/>
                </a:lnSpc>
                <a:buFont typeface="Arial"/>
                <a:buChar char="•"/>
              </a:pPr>
              <a:r>
                <a:rPr lang="en-US" b="true" sz="1700">
                  <a:solidFill>
                    <a:srgbClr val="000000"/>
                  </a:solidFill>
                  <a:latin typeface="Canva Sans Bold"/>
                  <a:ea typeface="Canva Sans Bold"/>
                  <a:cs typeface="Canva Sans Bold"/>
                  <a:sym typeface="Canva Sans Bold"/>
                </a:rPr>
                <a:t>Reduce Cart Abandonment: </a:t>
              </a:r>
              <a:r>
                <a:rPr lang="en-US" sz="1700">
                  <a:solidFill>
                    <a:srgbClr val="000000"/>
                  </a:solidFill>
                  <a:latin typeface="Canva Sans"/>
                  <a:ea typeface="Canva Sans"/>
                  <a:cs typeface="Canva Sans"/>
                  <a:sym typeface="Canva Sans"/>
                </a:rPr>
                <a:t>Addressing friction in product discovery and ensuring clear pricing can help lower the cart abandonment rate, which currently affects 69% of online shopping carts.</a:t>
              </a:r>
              <a:r>
                <a:rPr lang="en-US" b="true" sz="1700">
                  <a:solidFill>
                    <a:srgbClr val="000000"/>
                  </a:solidFill>
                  <a:latin typeface="Canva Sans Bold"/>
                  <a:ea typeface="Canva Sans Bold"/>
                  <a:cs typeface="Canva Sans Bold"/>
                  <a:sym typeface="Canva Sans Bold"/>
                </a:rPr>
                <a:t> </a:t>
              </a:r>
              <a:r>
                <a:rPr lang="en-US" sz="1700">
                  <a:solidFill>
                    <a:srgbClr val="000000"/>
                  </a:solidFill>
                  <a:latin typeface="Canva Sans"/>
                  <a:ea typeface="Canva Sans"/>
                  <a:cs typeface="Canva Sans"/>
                  <a:sym typeface="Canva Sans"/>
                </a:rPr>
                <a:t>[</a:t>
              </a:r>
              <a:r>
                <a:rPr lang="en-US" sz="1700" u="sng">
                  <a:solidFill>
                    <a:srgbClr val="000000"/>
                  </a:solidFill>
                  <a:latin typeface="Canva Sans"/>
                  <a:ea typeface="Canva Sans"/>
                  <a:cs typeface="Canva Sans"/>
                  <a:sym typeface="Canva Sans"/>
                </a:rPr>
                <a:t>Baymard Institute]</a:t>
              </a:r>
            </a:p>
            <a:p>
              <a:pPr algn="l">
                <a:lnSpc>
                  <a:spcPts val="2703"/>
                </a:lnSpc>
              </a:pPr>
            </a:p>
          </p:txBody>
        </p:sp>
        <p:grpSp>
          <p:nvGrpSpPr>
            <p:cNvPr name="Group 8" id="8"/>
            <p:cNvGrpSpPr/>
            <p:nvPr/>
          </p:nvGrpSpPr>
          <p:grpSpPr>
            <a:xfrm rot="0">
              <a:off x="10073314" y="132588"/>
              <a:ext cx="1379985" cy="1524000"/>
              <a:chOff x="0" y="0"/>
              <a:chExt cx="272590" cy="301037"/>
            </a:xfrm>
          </p:grpSpPr>
          <p:sp>
            <p:nvSpPr>
              <p:cNvPr name="Freeform 9" id="9"/>
              <p:cNvSpPr/>
              <p:nvPr/>
            </p:nvSpPr>
            <p:spPr>
              <a:xfrm flipH="false" flipV="false" rot="0">
                <a:off x="0" y="0"/>
                <a:ext cx="272590" cy="301037"/>
              </a:xfrm>
              <a:custGeom>
                <a:avLst/>
                <a:gdLst/>
                <a:ahLst/>
                <a:cxnLst/>
                <a:rect r="r" b="b" t="t" l="l"/>
                <a:pathLst>
                  <a:path h="301037" w="272590">
                    <a:moveTo>
                      <a:pt x="136295" y="301037"/>
                    </a:moveTo>
                    <a:lnTo>
                      <a:pt x="272590" y="0"/>
                    </a:lnTo>
                    <a:lnTo>
                      <a:pt x="0" y="0"/>
                    </a:lnTo>
                    <a:lnTo>
                      <a:pt x="136295" y="301037"/>
                    </a:lnTo>
                    <a:close/>
                  </a:path>
                </a:pathLst>
              </a:custGeom>
              <a:solidFill>
                <a:srgbClr val="FE7559"/>
              </a:solidFill>
            </p:spPr>
          </p:sp>
          <p:sp>
            <p:nvSpPr>
              <p:cNvPr name="TextBox 10" id="10"/>
              <p:cNvSpPr txBox="true"/>
              <p:nvPr/>
            </p:nvSpPr>
            <p:spPr>
              <a:xfrm>
                <a:off x="42592" y="116753"/>
                <a:ext cx="187405" cy="44517"/>
              </a:xfrm>
              <a:prstGeom prst="rect">
                <a:avLst/>
              </a:prstGeom>
            </p:spPr>
            <p:txBody>
              <a:bodyPr anchor="ctr" rtlCol="false" tIns="50800" lIns="50800" bIns="50800" rIns="50800"/>
              <a:lstStyle/>
              <a:p>
                <a:pPr algn="ctr">
                  <a:lnSpc>
                    <a:spcPts val="1625"/>
                  </a:lnSpc>
                </a:pPr>
              </a:p>
            </p:txBody>
          </p:sp>
        </p:grpSp>
        <p:sp>
          <p:nvSpPr>
            <p:cNvPr name="TextBox 11" id="11"/>
            <p:cNvSpPr txBox="true"/>
            <p:nvPr/>
          </p:nvSpPr>
          <p:spPr>
            <a:xfrm rot="0">
              <a:off x="10384583" y="526653"/>
              <a:ext cx="3078376" cy="1114438"/>
            </a:xfrm>
            <a:prstGeom prst="rect">
              <a:avLst/>
            </a:prstGeom>
          </p:spPr>
          <p:txBody>
            <a:bodyPr anchor="t" rtlCol="false" tIns="0" lIns="0" bIns="0" rIns="0">
              <a:spAutoFit/>
            </a:bodyPr>
            <a:lstStyle/>
            <a:p>
              <a:pPr algn="ctr">
                <a:lnSpc>
                  <a:spcPts val="4800"/>
                </a:lnSpc>
              </a:pPr>
              <a:r>
                <a:rPr lang="en-US" sz="6000" spc="-60">
                  <a:solidFill>
                    <a:srgbClr val="FDF9DE"/>
                  </a:solidFill>
                  <a:latin typeface="Impact"/>
                  <a:ea typeface="Impact"/>
                  <a:cs typeface="Impact"/>
                  <a:sym typeface="Impact"/>
                </a:rPr>
                <a:t>ACTION</a:t>
              </a:r>
            </a:p>
          </p:txBody>
        </p:sp>
        <p:sp>
          <p:nvSpPr>
            <p:cNvPr name="TextBox 12" id="12"/>
            <p:cNvSpPr txBox="true"/>
            <p:nvPr/>
          </p:nvSpPr>
          <p:spPr>
            <a:xfrm rot="0">
              <a:off x="8321121" y="1814224"/>
              <a:ext cx="7101921" cy="3612007"/>
            </a:xfrm>
            <a:prstGeom prst="rect">
              <a:avLst/>
            </a:prstGeom>
          </p:spPr>
          <p:txBody>
            <a:bodyPr anchor="t" rtlCol="false" tIns="0" lIns="0" bIns="0" rIns="0">
              <a:spAutoFit/>
            </a:bodyPr>
            <a:lstStyle/>
            <a:p>
              <a:pPr algn="l" marL="367031" indent="-183515" lvl="1">
                <a:lnSpc>
                  <a:spcPts val="2703"/>
                </a:lnSpc>
                <a:buFont typeface="Arial"/>
                <a:buChar char="•"/>
              </a:pPr>
              <a:r>
                <a:rPr lang="en-US" b="true" sz="1700">
                  <a:solidFill>
                    <a:srgbClr val="000000"/>
                  </a:solidFill>
                  <a:latin typeface="Canva Sans Bold"/>
                  <a:ea typeface="Canva Sans Bold"/>
                  <a:cs typeface="Canva Sans Bold"/>
                  <a:sym typeface="Canva Sans Bold"/>
                </a:rPr>
                <a:t>Optimize Checkout: </a:t>
              </a:r>
              <a:r>
                <a:rPr lang="en-US" sz="1700">
                  <a:solidFill>
                    <a:srgbClr val="000000"/>
                  </a:solidFill>
                  <a:latin typeface="Canva Sans"/>
                  <a:ea typeface="Canva Sans"/>
                  <a:cs typeface="Canva Sans"/>
                  <a:sym typeface="Canva Sans"/>
                </a:rPr>
                <a:t>Streamlined checkout processes can increase conversion rates, reducing abandonment at the purchase stage and boosting initial conversions by up to 35%.</a:t>
              </a:r>
            </a:p>
            <a:p>
              <a:pPr algn="l" marL="367031" indent="-183515" lvl="1">
                <a:lnSpc>
                  <a:spcPts val="2703"/>
                </a:lnSpc>
                <a:buFont typeface="Arial"/>
                <a:buChar char="•"/>
              </a:pPr>
              <a:r>
                <a:rPr lang="en-US" b="true" sz="1700">
                  <a:solidFill>
                    <a:srgbClr val="000000"/>
                  </a:solidFill>
                  <a:latin typeface="Canva Sans Bold"/>
                  <a:ea typeface="Canva Sans Bold"/>
                  <a:cs typeface="Canva Sans Bold"/>
                  <a:sym typeface="Canva Sans Bold"/>
                </a:rPr>
                <a:t>Impact on Retention: </a:t>
              </a:r>
              <a:r>
                <a:rPr lang="en-US" sz="1700">
                  <a:solidFill>
                    <a:srgbClr val="000000"/>
                  </a:solidFill>
                  <a:latin typeface="Canva Sans"/>
                  <a:ea typeface="Canva Sans"/>
                  <a:cs typeface="Canva Sans"/>
                  <a:sym typeface="Canva Sans"/>
                </a:rPr>
                <a:t>Customers who have a positive first purchase experience are 3x more likely to return.</a:t>
              </a:r>
              <a:r>
                <a:rPr lang="en-US" b="true" sz="1700">
                  <a:solidFill>
                    <a:srgbClr val="000000"/>
                  </a:solidFill>
                  <a:latin typeface="Canva Sans Bold"/>
                  <a:ea typeface="Canva Sans Bold"/>
                  <a:cs typeface="Canva Sans Bold"/>
                  <a:sym typeface="Canva Sans Bold"/>
                </a:rPr>
                <a:t> </a:t>
              </a:r>
              <a:r>
                <a:rPr lang="en-US" sz="1700">
                  <a:solidFill>
                    <a:srgbClr val="000000"/>
                  </a:solidFill>
                  <a:latin typeface="Canva Sans"/>
                  <a:ea typeface="Canva Sans"/>
                  <a:cs typeface="Canva Sans"/>
                  <a:sym typeface="Canva Sans"/>
                </a:rPr>
                <a:t>[</a:t>
              </a:r>
              <a:r>
                <a:rPr lang="en-US" sz="1700" u="sng">
                  <a:solidFill>
                    <a:srgbClr val="000000"/>
                  </a:solidFill>
                  <a:latin typeface="Canva Sans"/>
                  <a:ea typeface="Canva Sans"/>
                  <a:cs typeface="Canva Sans"/>
                  <a:sym typeface="Canva Sans"/>
                  <a:hlinkClick r:id="rId3" tooltip="https://www.mckinsey.com"/>
                </a:rPr>
                <a:t>McKinsey</a:t>
              </a:r>
              <a:r>
                <a:rPr lang="en-US" sz="1700">
                  <a:solidFill>
                    <a:srgbClr val="000000"/>
                  </a:solidFill>
                  <a:latin typeface="Canva Sans"/>
                  <a:ea typeface="Canva Sans"/>
                  <a:cs typeface="Canva Sans"/>
                  <a:sym typeface="Canva Sans"/>
                </a:rPr>
                <a:t>]</a:t>
              </a:r>
            </a:p>
            <a:p>
              <a:pPr algn="l">
                <a:lnSpc>
                  <a:spcPts val="2703"/>
                </a:lnSpc>
              </a:pPr>
            </a:p>
          </p:txBody>
        </p:sp>
        <p:grpSp>
          <p:nvGrpSpPr>
            <p:cNvPr name="Group 13" id="13"/>
            <p:cNvGrpSpPr/>
            <p:nvPr/>
          </p:nvGrpSpPr>
          <p:grpSpPr>
            <a:xfrm rot="0">
              <a:off x="17637838" y="0"/>
              <a:ext cx="1647020" cy="1524000"/>
              <a:chOff x="0" y="0"/>
              <a:chExt cx="325337" cy="301037"/>
            </a:xfrm>
          </p:grpSpPr>
          <p:sp>
            <p:nvSpPr>
              <p:cNvPr name="Freeform 14" id="14"/>
              <p:cNvSpPr/>
              <p:nvPr/>
            </p:nvSpPr>
            <p:spPr>
              <a:xfrm flipH="false" flipV="false" rot="0">
                <a:off x="0" y="0"/>
                <a:ext cx="325337" cy="301037"/>
              </a:xfrm>
              <a:custGeom>
                <a:avLst/>
                <a:gdLst/>
                <a:ahLst/>
                <a:cxnLst/>
                <a:rect r="r" b="b" t="t" l="l"/>
                <a:pathLst>
                  <a:path h="301037" w="325337">
                    <a:moveTo>
                      <a:pt x="162669" y="301037"/>
                    </a:moveTo>
                    <a:lnTo>
                      <a:pt x="325337" y="0"/>
                    </a:lnTo>
                    <a:lnTo>
                      <a:pt x="0" y="0"/>
                    </a:lnTo>
                    <a:lnTo>
                      <a:pt x="162669" y="301037"/>
                    </a:lnTo>
                    <a:close/>
                  </a:path>
                </a:pathLst>
              </a:custGeom>
              <a:solidFill>
                <a:srgbClr val="C55039"/>
              </a:solidFill>
            </p:spPr>
          </p:sp>
          <p:sp>
            <p:nvSpPr>
              <p:cNvPr name="TextBox 15" id="15"/>
              <p:cNvSpPr txBox="true"/>
              <p:nvPr/>
            </p:nvSpPr>
            <p:spPr>
              <a:xfrm>
                <a:off x="50834" y="116753"/>
                <a:ext cx="223669" cy="44517"/>
              </a:xfrm>
              <a:prstGeom prst="rect">
                <a:avLst/>
              </a:prstGeom>
            </p:spPr>
            <p:txBody>
              <a:bodyPr anchor="ctr" rtlCol="false" tIns="50800" lIns="50800" bIns="50800" rIns="50800"/>
              <a:lstStyle/>
              <a:p>
                <a:pPr algn="ctr">
                  <a:lnSpc>
                    <a:spcPts val="1625"/>
                  </a:lnSpc>
                </a:pPr>
              </a:p>
            </p:txBody>
          </p:sp>
        </p:grpSp>
        <p:sp>
          <p:nvSpPr>
            <p:cNvPr name="TextBox 16" id="16"/>
            <p:cNvSpPr txBox="true"/>
            <p:nvPr/>
          </p:nvSpPr>
          <p:spPr>
            <a:xfrm rot="0">
              <a:off x="18207348" y="384175"/>
              <a:ext cx="2897581" cy="1114438"/>
            </a:xfrm>
            <a:prstGeom prst="rect">
              <a:avLst/>
            </a:prstGeom>
          </p:spPr>
          <p:txBody>
            <a:bodyPr anchor="t" rtlCol="false" tIns="0" lIns="0" bIns="0" rIns="0">
              <a:spAutoFit/>
            </a:bodyPr>
            <a:lstStyle/>
            <a:p>
              <a:pPr algn="ctr">
                <a:lnSpc>
                  <a:spcPts val="4800"/>
                </a:lnSpc>
              </a:pPr>
              <a:r>
                <a:rPr lang="en-US" sz="6000" spc="-60">
                  <a:solidFill>
                    <a:srgbClr val="FDF9DE"/>
                  </a:solidFill>
                  <a:latin typeface="Impact"/>
                  <a:ea typeface="Impact"/>
                  <a:cs typeface="Impact"/>
                  <a:sym typeface="Impact"/>
                </a:rPr>
                <a:t>LOYALTY</a:t>
              </a:r>
            </a:p>
          </p:txBody>
        </p:sp>
        <p:sp>
          <p:nvSpPr>
            <p:cNvPr name="TextBox 17" id="17"/>
            <p:cNvSpPr txBox="true"/>
            <p:nvPr/>
          </p:nvSpPr>
          <p:spPr>
            <a:xfrm rot="0">
              <a:off x="16880176" y="1672110"/>
              <a:ext cx="7101921" cy="4211320"/>
            </a:xfrm>
            <a:prstGeom prst="rect">
              <a:avLst/>
            </a:prstGeom>
          </p:spPr>
          <p:txBody>
            <a:bodyPr anchor="t" rtlCol="false" tIns="0" lIns="0" bIns="0" rIns="0">
              <a:spAutoFit/>
            </a:bodyPr>
            <a:lstStyle/>
            <a:p>
              <a:pPr algn="l" marL="431799" indent="-215899" lvl="1">
                <a:lnSpc>
                  <a:spcPts val="3179"/>
                </a:lnSpc>
                <a:buFont typeface="Arial"/>
                <a:buChar char="•"/>
              </a:pPr>
              <a:r>
                <a:rPr lang="en-US" b="true" sz="1999">
                  <a:solidFill>
                    <a:srgbClr val="000000"/>
                  </a:solidFill>
                  <a:latin typeface="Canva Sans Bold"/>
                  <a:ea typeface="Canva Sans Bold"/>
                  <a:cs typeface="Canva Sans Bold"/>
                  <a:sym typeface="Canva Sans Bold"/>
                </a:rPr>
                <a:t>Repeat Purchases: </a:t>
              </a:r>
              <a:r>
                <a:rPr lang="en-US" sz="1999">
                  <a:solidFill>
                    <a:srgbClr val="000000"/>
                  </a:solidFill>
                  <a:latin typeface="Canva Sans"/>
                  <a:ea typeface="Canva Sans"/>
                  <a:cs typeface="Canva Sans"/>
                  <a:sym typeface="Canva Sans"/>
                </a:rPr>
                <a:t>Loyal customers contribute 40% of revenue despite being only 8% of site visitors.</a:t>
              </a:r>
              <a:r>
                <a:rPr lang="en-US" b="true" sz="1999">
                  <a:solidFill>
                    <a:srgbClr val="000000"/>
                  </a:solidFill>
                  <a:latin typeface="Canva Sans Bold"/>
                  <a:ea typeface="Canva Sans Bold"/>
                  <a:cs typeface="Canva Sans Bold"/>
                  <a:sym typeface="Canva Sans Bold"/>
                </a:rPr>
                <a:t> </a:t>
              </a:r>
              <a:r>
                <a:rPr lang="en-US" sz="1999">
                  <a:solidFill>
                    <a:srgbClr val="000000"/>
                  </a:solidFill>
                  <a:latin typeface="Canva Sans"/>
                  <a:ea typeface="Canva Sans"/>
                  <a:cs typeface="Canva Sans"/>
                  <a:sym typeface="Canva Sans"/>
                </a:rPr>
                <a:t>[</a:t>
              </a:r>
              <a:r>
                <a:rPr lang="en-US" sz="1999" u="sng">
                  <a:solidFill>
                    <a:srgbClr val="000000"/>
                  </a:solidFill>
                  <a:latin typeface="Canva Sans"/>
                  <a:ea typeface="Canva Sans"/>
                  <a:cs typeface="Canva Sans"/>
                  <a:sym typeface="Canva Sans"/>
                  <a:hlinkClick r:id="rId4" tooltip="https://loyaltylion.com/blog/customer-retention-cost"/>
                </a:rPr>
                <a:t>LoyaltyLion</a:t>
              </a:r>
              <a:r>
                <a:rPr lang="en-US" sz="1999">
                  <a:solidFill>
                    <a:srgbClr val="000000"/>
                  </a:solidFill>
                  <a:latin typeface="Canva Sans"/>
                  <a:ea typeface="Canva Sans"/>
                  <a:cs typeface="Canva Sans"/>
                  <a:sym typeface="Canva Sans"/>
                </a:rPr>
                <a:t>]</a:t>
              </a:r>
            </a:p>
            <a:p>
              <a:pPr algn="l" marL="431799" indent="-215899" lvl="1">
                <a:lnSpc>
                  <a:spcPts val="3179"/>
                </a:lnSpc>
                <a:buFont typeface="Arial"/>
                <a:buChar char="•"/>
              </a:pPr>
              <a:r>
                <a:rPr lang="en-US" b="true" sz="1999">
                  <a:solidFill>
                    <a:srgbClr val="000000"/>
                  </a:solidFill>
                  <a:latin typeface="Canva Sans Bold"/>
                  <a:ea typeface="Canva Sans Bold"/>
                  <a:cs typeface="Canva Sans Bold"/>
                  <a:sym typeface="Canva Sans Bold"/>
                </a:rPr>
                <a:t>Higher Spend: </a:t>
              </a:r>
              <a:r>
                <a:rPr lang="en-US" sz="1999">
                  <a:solidFill>
                    <a:srgbClr val="000000"/>
                  </a:solidFill>
                  <a:latin typeface="Canva Sans"/>
                  <a:ea typeface="Canva Sans"/>
                  <a:cs typeface="Canva Sans"/>
                  <a:sym typeface="Canva Sans"/>
                </a:rPr>
                <a:t>Loyal customers tend to spend 67% more than new customers.</a:t>
              </a:r>
              <a:r>
                <a:rPr lang="en-US" b="true" sz="1999">
                  <a:solidFill>
                    <a:srgbClr val="000000"/>
                  </a:solidFill>
                  <a:latin typeface="Canva Sans Bold"/>
                  <a:ea typeface="Canva Sans Bold"/>
                  <a:cs typeface="Canva Sans Bold"/>
                  <a:sym typeface="Canva Sans Bold"/>
                </a:rPr>
                <a:t> </a:t>
              </a:r>
              <a:r>
                <a:rPr lang="en-US" sz="1999">
                  <a:solidFill>
                    <a:srgbClr val="000000"/>
                  </a:solidFill>
                  <a:latin typeface="Canva Sans"/>
                  <a:ea typeface="Canva Sans"/>
                  <a:cs typeface="Canva Sans"/>
                  <a:sym typeface="Canva Sans"/>
                </a:rPr>
                <a:t>[</a:t>
              </a:r>
              <a:r>
                <a:rPr lang="en-US" sz="1999" u="sng">
                  <a:solidFill>
                    <a:srgbClr val="000000"/>
                  </a:solidFill>
                  <a:latin typeface="Canva Sans"/>
                  <a:ea typeface="Canva Sans"/>
                  <a:cs typeface="Canva Sans"/>
                  <a:sym typeface="Canva Sans"/>
                  <a:hlinkClick r:id="rId5" tooltip="https://www.adobe.com/insights/digital-economy-index.html"/>
                </a:rPr>
                <a:t>Adobe Digital Index</a:t>
              </a:r>
              <a:r>
                <a:rPr lang="en-US" sz="1999">
                  <a:solidFill>
                    <a:srgbClr val="000000"/>
                  </a:solidFill>
                  <a:latin typeface="Canva Sans"/>
                  <a:ea typeface="Canva Sans"/>
                  <a:cs typeface="Canva Sans"/>
                  <a:sym typeface="Canva Sans"/>
                </a:rPr>
                <a:t>]</a:t>
              </a:r>
            </a:p>
            <a:p>
              <a:pPr algn="l">
                <a:lnSpc>
                  <a:spcPts val="3179"/>
                </a:lnSpc>
              </a:pPr>
            </a:p>
          </p:txBody>
        </p:sp>
        <p:sp>
          <p:nvSpPr>
            <p:cNvPr name="AutoShape 18" id="18"/>
            <p:cNvSpPr/>
            <p:nvPr/>
          </p:nvSpPr>
          <p:spPr>
            <a:xfrm>
              <a:off x="7711521" y="132588"/>
              <a:ext cx="0" cy="5787026"/>
            </a:xfrm>
            <a:prstGeom prst="line">
              <a:avLst/>
            </a:prstGeom>
            <a:ln cap="flat" w="50800">
              <a:solidFill>
                <a:srgbClr val="F9F5E3"/>
              </a:solidFill>
              <a:prstDash val="solid"/>
              <a:headEnd type="none" len="sm" w="sm"/>
              <a:tailEnd type="none" len="sm" w="sm"/>
            </a:ln>
          </p:spPr>
        </p:sp>
        <p:sp>
          <p:nvSpPr>
            <p:cNvPr name="AutoShape 19" id="19"/>
            <p:cNvSpPr/>
            <p:nvPr/>
          </p:nvSpPr>
          <p:spPr>
            <a:xfrm>
              <a:off x="16021350" y="132588"/>
              <a:ext cx="0" cy="5787026"/>
            </a:xfrm>
            <a:prstGeom prst="line">
              <a:avLst/>
            </a:prstGeom>
            <a:ln cap="flat" w="50800">
              <a:solidFill>
                <a:srgbClr val="F9F5E3"/>
              </a:solidFill>
              <a:prstDash val="solid"/>
              <a:headEnd type="none" len="sm" w="sm"/>
              <a:tailEnd type="none" len="sm" w="sm"/>
            </a:ln>
          </p:spPr>
        </p:sp>
      </p:grpSp>
      <p:sp>
        <p:nvSpPr>
          <p:cNvPr name="TextBox 20" id="20"/>
          <p:cNvSpPr txBox="true"/>
          <p:nvPr/>
        </p:nvSpPr>
        <p:spPr>
          <a:xfrm rot="0">
            <a:off x="452661" y="366343"/>
            <a:ext cx="11097234" cy="887054"/>
          </a:xfrm>
          <a:prstGeom prst="rect">
            <a:avLst/>
          </a:prstGeom>
        </p:spPr>
        <p:txBody>
          <a:bodyPr anchor="t" rtlCol="false" tIns="0" lIns="0" bIns="0" rIns="0">
            <a:spAutoFit/>
          </a:bodyPr>
          <a:lstStyle/>
          <a:p>
            <a:pPr algn="l">
              <a:lnSpc>
                <a:spcPts val="6319"/>
              </a:lnSpc>
            </a:pPr>
            <a:r>
              <a:rPr lang="en-US" sz="5961" b="true">
                <a:solidFill>
                  <a:srgbClr val="000000"/>
                </a:solidFill>
                <a:latin typeface="Poppins Semi-Bold"/>
                <a:ea typeface="Poppins Semi-Bold"/>
                <a:cs typeface="Poppins Semi-Bold"/>
                <a:sym typeface="Poppins Semi-Bold"/>
              </a:rPr>
              <a:t>Target Group and Segment</a:t>
            </a:r>
          </a:p>
        </p:txBody>
      </p:sp>
      <p:sp>
        <p:nvSpPr>
          <p:cNvPr name="TextBox 21" id="21"/>
          <p:cNvSpPr txBox="true"/>
          <p:nvPr/>
        </p:nvSpPr>
        <p:spPr>
          <a:xfrm rot="0">
            <a:off x="452661" y="1438047"/>
            <a:ext cx="3204865" cy="887095"/>
          </a:xfrm>
          <a:prstGeom prst="rect">
            <a:avLst/>
          </a:prstGeom>
        </p:spPr>
        <p:txBody>
          <a:bodyPr anchor="t" rtlCol="false" tIns="0" lIns="0" bIns="0" rIns="0">
            <a:spAutoFit/>
          </a:bodyPr>
          <a:lstStyle/>
          <a:p>
            <a:pPr algn="ctr">
              <a:lnSpc>
                <a:spcPts val="7279"/>
              </a:lnSpc>
            </a:pPr>
            <a:r>
              <a:rPr lang="en-US" sz="5199" b="true">
                <a:solidFill>
                  <a:srgbClr val="000000"/>
                </a:solidFill>
                <a:latin typeface="Canva Sans Bold"/>
                <a:ea typeface="Canva Sans Bold"/>
                <a:cs typeface="Canva Sans Bold"/>
                <a:sym typeface="Canva Sans Bold"/>
              </a:rPr>
              <a:t>Retention</a:t>
            </a:r>
          </a:p>
        </p:txBody>
      </p:sp>
      <p:sp>
        <p:nvSpPr>
          <p:cNvPr name="TextBox 22" id="22"/>
          <p:cNvSpPr txBox="true"/>
          <p:nvPr/>
        </p:nvSpPr>
        <p:spPr>
          <a:xfrm rot="0">
            <a:off x="142875" y="2363242"/>
            <a:ext cx="16302389" cy="2791969"/>
          </a:xfrm>
          <a:prstGeom prst="rect">
            <a:avLst/>
          </a:prstGeom>
        </p:spPr>
        <p:txBody>
          <a:bodyPr anchor="t" rtlCol="false" tIns="0" lIns="0" bIns="0" rIns="0">
            <a:spAutoFit/>
          </a:bodyPr>
          <a:lstStyle/>
          <a:p>
            <a:pPr algn="l" marL="453388" indent="-226694" lvl="1">
              <a:lnSpc>
                <a:spcPts val="4535"/>
              </a:lnSpc>
              <a:buFont typeface="Arial"/>
              <a:buChar char="•"/>
            </a:pPr>
            <a:r>
              <a:rPr lang="en-US" b="true" sz="2099">
                <a:solidFill>
                  <a:srgbClr val="000000"/>
                </a:solidFill>
                <a:latin typeface="Canva Sans Bold"/>
                <a:ea typeface="Canva Sans Bold"/>
                <a:cs typeface="Canva Sans Bold"/>
                <a:sym typeface="Canva Sans Bold"/>
              </a:rPr>
              <a:t>Cost-Effective:</a:t>
            </a:r>
            <a:r>
              <a:rPr lang="en-US" sz="2099">
                <a:solidFill>
                  <a:srgbClr val="000000"/>
                </a:solidFill>
                <a:latin typeface="Canva Sans"/>
                <a:ea typeface="Canva Sans"/>
                <a:cs typeface="Canva Sans"/>
                <a:sym typeface="Canva Sans"/>
              </a:rPr>
              <a:t> </a:t>
            </a:r>
            <a:r>
              <a:rPr lang="en-US" sz="2099">
                <a:solidFill>
                  <a:srgbClr val="000000"/>
                </a:solidFill>
                <a:latin typeface="Canva Sans"/>
                <a:ea typeface="Canva Sans"/>
                <a:cs typeface="Canva Sans"/>
                <a:sym typeface="Canva Sans"/>
              </a:rPr>
              <a:t>Acquiring a new customer can cost 5 to 25 times more than retaining an existing one. [</a:t>
            </a:r>
            <a:r>
              <a:rPr lang="en-US" sz="2099" u="sng">
                <a:solidFill>
                  <a:srgbClr val="000000"/>
                </a:solidFill>
                <a:latin typeface="Canva Sans"/>
                <a:ea typeface="Canva Sans"/>
                <a:cs typeface="Canva Sans"/>
                <a:sym typeface="Canva Sans"/>
                <a:hlinkClick r:id="rId6" tooltip="https://thebftonline.com/2024/05/24/the-importance-of-retention-rate-maxwell-ampong/"/>
              </a:rPr>
              <a:t>The BFT</a:t>
            </a:r>
            <a:r>
              <a:rPr lang="en-US" sz="2099">
                <a:solidFill>
                  <a:srgbClr val="000000"/>
                </a:solidFill>
                <a:latin typeface="Canva Sans"/>
                <a:ea typeface="Canva Sans"/>
                <a:cs typeface="Canva Sans"/>
                <a:sym typeface="Canva Sans"/>
              </a:rPr>
              <a:t>]</a:t>
            </a:r>
          </a:p>
          <a:p>
            <a:pPr algn="l" marL="453388" indent="-226694" lvl="1">
              <a:lnSpc>
                <a:spcPts val="4535"/>
              </a:lnSpc>
              <a:buFont typeface="Arial"/>
              <a:buChar char="•"/>
            </a:pPr>
            <a:r>
              <a:rPr lang="en-US" b="true" sz="2099">
                <a:solidFill>
                  <a:srgbClr val="000000"/>
                </a:solidFill>
                <a:latin typeface="Canva Sans Bold"/>
                <a:ea typeface="Canva Sans Bold"/>
                <a:cs typeface="Canva Sans Bold"/>
                <a:sym typeface="Canva Sans Bold"/>
              </a:rPr>
              <a:t>Higher Profit Potential:</a:t>
            </a:r>
            <a:r>
              <a:rPr lang="en-US" sz="2099">
                <a:solidFill>
                  <a:srgbClr val="000000"/>
                </a:solidFill>
                <a:latin typeface="Canva Sans"/>
                <a:ea typeface="Canva Sans"/>
                <a:cs typeface="Canva Sans"/>
                <a:sym typeface="Canva Sans"/>
              </a:rPr>
              <a:t> A 5% increase in customer retention can boost profits by 25% to 95%. [</a:t>
            </a:r>
            <a:r>
              <a:rPr lang="en-US" sz="2099" u="sng">
                <a:solidFill>
                  <a:srgbClr val="000000"/>
                </a:solidFill>
                <a:latin typeface="Canva Sans"/>
                <a:ea typeface="Canva Sans"/>
                <a:cs typeface="Canva Sans"/>
                <a:sym typeface="Canva Sans"/>
                <a:hlinkClick r:id="rId7" tooltip="https://smallbiztrends.com/increase-in-customer-retention-increases-profits/"/>
              </a:rPr>
              <a:t>Small Business Trends</a:t>
            </a:r>
            <a:r>
              <a:rPr lang="en-US" sz="2099">
                <a:solidFill>
                  <a:srgbClr val="000000"/>
                </a:solidFill>
                <a:latin typeface="Canva Sans"/>
                <a:ea typeface="Canva Sans"/>
                <a:cs typeface="Canva Sans"/>
                <a:sym typeface="Canva Sans"/>
              </a:rPr>
              <a:t>]</a:t>
            </a:r>
          </a:p>
          <a:p>
            <a:pPr algn="l" marL="453388" indent="-226694" lvl="1">
              <a:lnSpc>
                <a:spcPts val="4535"/>
              </a:lnSpc>
              <a:buFont typeface="Arial"/>
              <a:buChar char="•"/>
            </a:pPr>
            <a:r>
              <a:rPr lang="en-US" b="true" sz="2099">
                <a:solidFill>
                  <a:srgbClr val="000000"/>
                </a:solidFill>
                <a:latin typeface="Canva Sans Bold"/>
                <a:ea typeface="Canva Sans Bold"/>
                <a:cs typeface="Canva Sans Bold"/>
                <a:sym typeface="Canva Sans Bold"/>
              </a:rPr>
              <a:t>Better Conversion Rates:</a:t>
            </a:r>
            <a:r>
              <a:rPr lang="en-US" sz="2099">
                <a:solidFill>
                  <a:srgbClr val="000000"/>
                </a:solidFill>
                <a:latin typeface="Canva Sans"/>
                <a:ea typeface="Canva Sans"/>
                <a:cs typeface="Canva Sans"/>
                <a:sym typeface="Canva Sans"/>
              </a:rPr>
              <a:t> Existing customers are more likely to make a purchase compared to new prospects. [</a:t>
            </a:r>
            <a:r>
              <a:rPr lang="en-US" sz="2099" u="sng">
                <a:solidFill>
                  <a:srgbClr val="000000"/>
                </a:solidFill>
                <a:latin typeface="Canva Sans"/>
                <a:ea typeface="Canva Sans"/>
                <a:cs typeface="Canva Sans"/>
                <a:sym typeface="Canva Sans"/>
                <a:hlinkClick r:id="rId8" tooltip="https://loyaltylion.com/blog/customer-retention-cost"/>
              </a:rPr>
              <a:t>LoyaltyLion</a:t>
            </a:r>
            <a:r>
              <a:rPr lang="en-US" sz="2099">
                <a:solidFill>
                  <a:srgbClr val="000000"/>
                </a:solidFill>
                <a:latin typeface="Canva Sans"/>
                <a:ea typeface="Canva Sans"/>
                <a:cs typeface="Canva Sans"/>
                <a:sym typeface="Canva Sans"/>
              </a:rPr>
              <a:t>]</a:t>
            </a:r>
          </a:p>
          <a:p>
            <a:pPr algn="l">
              <a:lnSpc>
                <a:spcPts val="4535"/>
              </a:lnSpc>
            </a:pPr>
          </a:p>
          <a:p>
            <a:pPr algn="l">
              <a:lnSpc>
                <a:spcPts val="4535"/>
              </a:lnSpc>
            </a:pPr>
          </a:p>
        </p:txBody>
      </p:sp>
      <p:sp>
        <p:nvSpPr>
          <p:cNvPr name="TextBox 23" id="23"/>
          <p:cNvSpPr txBox="true"/>
          <p:nvPr/>
        </p:nvSpPr>
        <p:spPr>
          <a:xfrm rot="0">
            <a:off x="142875" y="4563110"/>
            <a:ext cx="17986573" cy="580390"/>
          </a:xfrm>
          <a:prstGeom prst="rect">
            <a:avLst/>
          </a:prstGeom>
        </p:spPr>
        <p:txBody>
          <a:bodyPr anchor="t" rtlCol="false" tIns="0" lIns="0" bIns="0" rIns="0">
            <a:spAutoFit/>
          </a:bodyPr>
          <a:lstStyle/>
          <a:p>
            <a:pPr algn="ctr">
              <a:lnSpc>
                <a:spcPts val="4759"/>
              </a:lnSpc>
            </a:pPr>
            <a:r>
              <a:rPr lang="en-US" sz="3399" b="true">
                <a:solidFill>
                  <a:srgbClr val="000000"/>
                </a:solidFill>
                <a:latin typeface="Canva Sans Bold"/>
                <a:ea typeface="Canva Sans Bold"/>
                <a:cs typeface="Canva Sans Bold"/>
                <a:sym typeface="Canva Sans Bold"/>
              </a:rPr>
              <a:t>Considering Conversation Rate and Cost-Result Ratio, We Choose</a:t>
            </a:r>
          </a:p>
        </p:txBody>
      </p:sp>
      <p:grpSp>
        <p:nvGrpSpPr>
          <p:cNvPr name="Group 24" id="24"/>
          <p:cNvGrpSpPr/>
          <p:nvPr/>
        </p:nvGrpSpPr>
        <p:grpSpPr>
          <a:xfrm rot="0">
            <a:off x="0" y="9555697"/>
            <a:ext cx="4099091" cy="731303"/>
            <a:chOff x="0" y="0"/>
            <a:chExt cx="5465455" cy="975071"/>
          </a:xfrm>
        </p:grpSpPr>
        <p:grpSp>
          <p:nvGrpSpPr>
            <p:cNvPr name="Group 25" id="25"/>
            <p:cNvGrpSpPr/>
            <p:nvPr/>
          </p:nvGrpSpPr>
          <p:grpSpPr>
            <a:xfrm rot="0">
              <a:off x="0" y="0"/>
              <a:ext cx="975071" cy="975071"/>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9"/>
                <a:stretch>
                  <a:fillRect l="0" t="-446" r="0" b="0"/>
                </a:stretch>
              </a:blipFill>
            </p:spPr>
          </p:sp>
        </p:grpSp>
        <p:sp>
          <p:nvSpPr>
            <p:cNvPr name="TextBox 27" id="27"/>
            <p:cNvSpPr txBox="true"/>
            <p:nvPr/>
          </p:nvSpPr>
          <p:spPr>
            <a:xfrm rot="0">
              <a:off x="1141360" y="48747"/>
              <a:ext cx="2860498" cy="925689"/>
            </a:xfrm>
            <a:prstGeom prst="rect">
              <a:avLst/>
            </a:prstGeom>
          </p:spPr>
          <p:txBody>
            <a:bodyPr anchor="t" rtlCol="false" tIns="0" lIns="0" bIns="0" rIns="0">
              <a:spAutoFit/>
            </a:bodyPr>
            <a:lstStyle/>
            <a:p>
              <a:pPr algn="l">
                <a:lnSpc>
                  <a:spcPts val="5594"/>
                </a:lnSpc>
                <a:spcBef>
                  <a:spcPct val="0"/>
                </a:spcBef>
              </a:pPr>
              <a:r>
                <a:rPr lang="en-US" b="true" sz="3996">
                  <a:solidFill>
                    <a:srgbClr val="FFFFFF"/>
                  </a:solidFill>
                  <a:latin typeface="Poppins Bold"/>
                  <a:ea typeface="Poppins Bold"/>
                  <a:cs typeface="Poppins Bold"/>
                  <a:sym typeface="Poppins Bold"/>
                </a:rPr>
                <a:t>No</a:t>
              </a:r>
            </a:p>
          </p:txBody>
        </p:sp>
        <p:sp>
          <p:nvSpPr>
            <p:cNvPr name="TextBox 28" id="28"/>
            <p:cNvSpPr txBox="true"/>
            <p:nvPr/>
          </p:nvSpPr>
          <p:spPr>
            <a:xfrm rot="0">
              <a:off x="2184479" y="48747"/>
              <a:ext cx="3280976" cy="925689"/>
            </a:xfrm>
            <a:prstGeom prst="rect">
              <a:avLst/>
            </a:prstGeom>
          </p:spPr>
          <p:txBody>
            <a:bodyPr anchor="t" rtlCol="false" tIns="0" lIns="0" bIns="0" rIns="0">
              <a:spAutoFit/>
            </a:bodyPr>
            <a:lstStyle/>
            <a:p>
              <a:pPr algn="l">
                <a:lnSpc>
                  <a:spcPts val="5594"/>
                </a:lnSpc>
                <a:spcBef>
                  <a:spcPct val="0"/>
                </a:spcBef>
              </a:pPr>
              <a:r>
                <a:rPr lang="en-US" b="true" sz="3996">
                  <a:solidFill>
                    <a:srgbClr val="FFFFFF"/>
                  </a:solidFill>
                  <a:latin typeface="Poppins Semi-Bold"/>
                  <a:ea typeface="Poppins Semi-Bold"/>
                  <a:cs typeface="Poppins Semi-Bold"/>
                  <a:sym typeface="Poppins Semi-Bold"/>
                </a:rPr>
                <a:t>Parking</a:t>
              </a:r>
            </a:p>
          </p:txBody>
        </p:sp>
      </p:grpSp>
      <p:sp>
        <p:nvSpPr>
          <p:cNvPr name="TextBox 29" id="2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4</a:t>
            </a:r>
          </a:p>
        </p:txBody>
      </p:sp>
    </p:spTree>
  </p:cSld>
  <p:clrMapOvr>
    <a:masterClrMapping/>
  </p:clrMapOvr>
  <p:transition spd="fast">
    <p:circle/>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7061BD"/>
        </a:solidFill>
      </p:bgPr>
    </p:bg>
    <p:spTree>
      <p:nvGrpSpPr>
        <p:cNvPr id="1" name=""/>
        <p:cNvGrpSpPr/>
        <p:nvPr/>
      </p:nvGrpSpPr>
      <p:grpSpPr>
        <a:xfrm>
          <a:off x="0" y="0"/>
          <a:ext cx="0" cy="0"/>
          <a:chOff x="0" y="0"/>
          <a:chExt cx="0" cy="0"/>
        </a:xfrm>
      </p:grpSpPr>
      <p:grpSp>
        <p:nvGrpSpPr>
          <p:cNvPr name="Group 2" id="2"/>
          <p:cNvGrpSpPr/>
          <p:nvPr/>
        </p:nvGrpSpPr>
        <p:grpSpPr>
          <a:xfrm rot="0">
            <a:off x="7408999" y="-429963"/>
            <a:ext cx="11825055" cy="11902629"/>
            <a:chOff x="0" y="0"/>
            <a:chExt cx="3114418" cy="3134849"/>
          </a:xfrm>
        </p:grpSpPr>
        <p:sp>
          <p:nvSpPr>
            <p:cNvPr name="Freeform 3" id="3"/>
            <p:cNvSpPr/>
            <p:nvPr/>
          </p:nvSpPr>
          <p:spPr>
            <a:xfrm flipH="false" flipV="false" rot="0">
              <a:off x="0" y="0"/>
              <a:ext cx="3114418" cy="3134849"/>
            </a:xfrm>
            <a:custGeom>
              <a:avLst/>
              <a:gdLst/>
              <a:ahLst/>
              <a:cxnLst/>
              <a:rect r="r" b="b" t="t" l="l"/>
              <a:pathLst>
                <a:path h="3134849" w="3114418">
                  <a:moveTo>
                    <a:pt x="0" y="0"/>
                  </a:moveTo>
                  <a:lnTo>
                    <a:pt x="3114418" y="0"/>
                  </a:lnTo>
                  <a:lnTo>
                    <a:pt x="3114418" y="3134849"/>
                  </a:lnTo>
                  <a:lnTo>
                    <a:pt x="0" y="3134849"/>
                  </a:lnTo>
                  <a:close/>
                </a:path>
              </a:pathLst>
            </a:custGeom>
            <a:solidFill>
              <a:srgbClr val="DCD7F1"/>
            </a:solidFill>
          </p:spPr>
        </p:sp>
        <p:sp>
          <p:nvSpPr>
            <p:cNvPr name="TextBox 4" id="4"/>
            <p:cNvSpPr txBox="true"/>
            <p:nvPr/>
          </p:nvSpPr>
          <p:spPr>
            <a:xfrm>
              <a:off x="0" y="-38100"/>
              <a:ext cx="3114418" cy="3172949"/>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847243"/>
            <a:ext cx="7516228" cy="8902369"/>
          </a:xfrm>
          <a:custGeom>
            <a:avLst/>
            <a:gdLst/>
            <a:ahLst/>
            <a:cxnLst/>
            <a:rect r="r" b="b" t="t" l="l"/>
            <a:pathLst>
              <a:path h="8902369" w="7516228">
                <a:moveTo>
                  <a:pt x="0" y="0"/>
                </a:moveTo>
                <a:lnTo>
                  <a:pt x="7516228" y="0"/>
                </a:lnTo>
                <a:lnTo>
                  <a:pt x="7516228" y="8902369"/>
                </a:lnTo>
                <a:lnTo>
                  <a:pt x="0" y="890236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0393831" y="2767376"/>
            <a:ext cx="6564912" cy="2422862"/>
          </a:xfrm>
          <a:prstGeom prst="rect">
            <a:avLst/>
          </a:prstGeom>
        </p:spPr>
        <p:txBody>
          <a:bodyPr anchor="t" rtlCol="false" tIns="0" lIns="0" bIns="0" rIns="0">
            <a:spAutoFit/>
          </a:bodyPr>
          <a:lstStyle/>
          <a:p>
            <a:pPr algn="l">
              <a:lnSpc>
                <a:spcPts val="9075"/>
              </a:lnSpc>
            </a:pPr>
            <a:r>
              <a:rPr lang="en-US" sz="8561" b="true">
                <a:solidFill>
                  <a:srgbClr val="010111"/>
                </a:solidFill>
                <a:latin typeface="Poppins Semi-Bold"/>
                <a:ea typeface="Poppins Semi-Bold"/>
                <a:cs typeface="Poppins Semi-Bold"/>
                <a:sym typeface="Poppins Semi-Bold"/>
              </a:rPr>
              <a:t>Idea Generation</a:t>
            </a:r>
          </a:p>
        </p:txBody>
      </p:sp>
      <p:grpSp>
        <p:nvGrpSpPr>
          <p:cNvPr name="Group 7" id="7"/>
          <p:cNvGrpSpPr/>
          <p:nvPr/>
        </p:nvGrpSpPr>
        <p:grpSpPr>
          <a:xfrm rot="0">
            <a:off x="10393831" y="8632721"/>
            <a:ext cx="1692893" cy="682965"/>
            <a:chOff x="0" y="0"/>
            <a:chExt cx="2257191" cy="910620"/>
          </a:xfrm>
        </p:grpSpPr>
        <p:grpSp>
          <p:nvGrpSpPr>
            <p:cNvPr name="Group 8" id="8"/>
            <p:cNvGrpSpPr/>
            <p:nvPr/>
          </p:nvGrpSpPr>
          <p:grpSpPr>
            <a:xfrm rot="0">
              <a:off x="0" y="0"/>
              <a:ext cx="2257191" cy="910620"/>
              <a:chOff x="0" y="0"/>
              <a:chExt cx="1007361" cy="406400"/>
            </a:xfrm>
          </p:grpSpPr>
          <p:sp>
            <p:nvSpPr>
              <p:cNvPr name="Freeform 9" id="9"/>
              <p:cNvSpPr/>
              <p:nvPr/>
            </p:nvSpPr>
            <p:spPr>
              <a:xfrm flipH="false" flipV="false" rot="0">
                <a:off x="0" y="0"/>
                <a:ext cx="1007361" cy="406400"/>
              </a:xfrm>
              <a:custGeom>
                <a:avLst/>
                <a:gdLst/>
                <a:ahLst/>
                <a:cxnLst/>
                <a:rect r="r" b="b" t="t" l="l"/>
                <a:pathLst>
                  <a:path h="406400" w="1007361">
                    <a:moveTo>
                      <a:pt x="804161" y="0"/>
                    </a:moveTo>
                    <a:cubicBezTo>
                      <a:pt x="916385" y="0"/>
                      <a:pt x="1007361" y="90976"/>
                      <a:pt x="1007361" y="203200"/>
                    </a:cubicBezTo>
                    <a:cubicBezTo>
                      <a:pt x="1007361" y="315424"/>
                      <a:pt x="916385" y="406400"/>
                      <a:pt x="804161"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38100" cap="sq">
                <a:solidFill>
                  <a:srgbClr val="000000"/>
                </a:solidFill>
                <a:prstDash val="solid"/>
                <a:miter/>
              </a:ln>
            </p:spPr>
          </p:sp>
          <p:sp>
            <p:nvSpPr>
              <p:cNvPr name="TextBox 10" id="10"/>
              <p:cNvSpPr txBox="true"/>
              <p:nvPr/>
            </p:nvSpPr>
            <p:spPr>
              <a:xfrm>
                <a:off x="0" y="95250"/>
                <a:ext cx="1007361" cy="311150"/>
              </a:xfrm>
              <a:prstGeom prst="rect">
                <a:avLst/>
              </a:prstGeom>
            </p:spPr>
            <p:txBody>
              <a:bodyPr anchor="ctr" rtlCol="false" tIns="50800" lIns="50800" bIns="50800" rIns="50800"/>
              <a:lstStyle/>
              <a:p>
                <a:pPr algn="ctr">
                  <a:lnSpc>
                    <a:spcPts val="1625"/>
                  </a:lnSpc>
                </a:pPr>
              </a:p>
            </p:txBody>
          </p:sp>
        </p:grpSp>
        <p:sp>
          <p:nvSpPr>
            <p:cNvPr name="AutoShape 11" id="11"/>
            <p:cNvSpPr/>
            <p:nvPr/>
          </p:nvSpPr>
          <p:spPr>
            <a:xfrm>
              <a:off x="809273" y="429910"/>
              <a:ext cx="705908" cy="0"/>
            </a:xfrm>
            <a:prstGeom prst="line">
              <a:avLst/>
            </a:prstGeom>
            <a:ln cap="flat" w="50800">
              <a:solidFill>
                <a:srgbClr val="000000"/>
              </a:solidFill>
              <a:prstDash val="solid"/>
              <a:headEnd type="none" len="sm" w="sm"/>
              <a:tailEnd type="arrow" len="sm" w="med"/>
            </a:ln>
          </p:spPr>
        </p:sp>
      </p:grpSp>
      <p:grpSp>
        <p:nvGrpSpPr>
          <p:cNvPr name="Group 12" id="12"/>
          <p:cNvGrpSpPr/>
          <p:nvPr/>
        </p:nvGrpSpPr>
        <p:grpSpPr>
          <a:xfrm rot="0">
            <a:off x="0" y="9555697"/>
            <a:ext cx="4099091" cy="731303"/>
            <a:chOff x="0" y="0"/>
            <a:chExt cx="5465455" cy="975071"/>
          </a:xfrm>
        </p:grpSpPr>
        <p:grpSp>
          <p:nvGrpSpPr>
            <p:cNvPr name="Group 13" id="13"/>
            <p:cNvGrpSpPr/>
            <p:nvPr/>
          </p:nvGrpSpPr>
          <p:grpSpPr>
            <a:xfrm rot="0">
              <a:off x="0" y="0"/>
              <a:ext cx="975071" cy="975071"/>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0" t="-446" r="0" b="0"/>
                </a:stretch>
              </a:blipFill>
            </p:spPr>
          </p:sp>
        </p:grpSp>
        <p:sp>
          <p:nvSpPr>
            <p:cNvPr name="TextBox 15" id="15"/>
            <p:cNvSpPr txBox="true"/>
            <p:nvPr/>
          </p:nvSpPr>
          <p:spPr>
            <a:xfrm rot="0">
              <a:off x="1141360" y="48747"/>
              <a:ext cx="2860498" cy="925689"/>
            </a:xfrm>
            <a:prstGeom prst="rect">
              <a:avLst/>
            </a:prstGeom>
          </p:spPr>
          <p:txBody>
            <a:bodyPr anchor="t" rtlCol="false" tIns="0" lIns="0" bIns="0" rIns="0">
              <a:spAutoFit/>
            </a:bodyPr>
            <a:lstStyle/>
            <a:p>
              <a:pPr algn="l">
                <a:lnSpc>
                  <a:spcPts val="5594"/>
                </a:lnSpc>
                <a:spcBef>
                  <a:spcPct val="0"/>
                </a:spcBef>
              </a:pPr>
              <a:r>
                <a:rPr lang="en-US" b="true" sz="3996">
                  <a:solidFill>
                    <a:srgbClr val="FFFFFF"/>
                  </a:solidFill>
                  <a:latin typeface="Poppins Bold"/>
                  <a:ea typeface="Poppins Bold"/>
                  <a:cs typeface="Poppins Bold"/>
                  <a:sym typeface="Poppins Bold"/>
                </a:rPr>
                <a:t>No</a:t>
              </a:r>
            </a:p>
          </p:txBody>
        </p:sp>
        <p:sp>
          <p:nvSpPr>
            <p:cNvPr name="TextBox 16" id="16"/>
            <p:cNvSpPr txBox="true"/>
            <p:nvPr/>
          </p:nvSpPr>
          <p:spPr>
            <a:xfrm rot="0">
              <a:off x="2184479" y="48747"/>
              <a:ext cx="3280976" cy="925689"/>
            </a:xfrm>
            <a:prstGeom prst="rect">
              <a:avLst/>
            </a:prstGeom>
          </p:spPr>
          <p:txBody>
            <a:bodyPr anchor="t" rtlCol="false" tIns="0" lIns="0" bIns="0" rIns="0">
              <a:spAutoFit/>
            </a:bodyPr>
            <a:lstStyle/>
            <a:p>
              <a:pPr algn="l">
                <a:lnSpc>
                  <a:spcPts val="5594"/>
                </a:lnSpc>
                <a:spcBef>
                  <a:spcPct val="0"/>
                </a:spcBef>
              </a:pPr>
              <a:r>
                <a:rPr lang="en-US" b="true" sz="3996">
                  <a:solidFill>
                    <a:srgbClr val="FFFFFF"/>
                  </a:solidFill>
                  <a:latin typeface="Poppins Semi-Bold"/>
                  <a:ea typeface="Poppins Semi-Bold"/>
                  <a:cs typeface="Poppins Semi-Bold"/>
                  <a:sym typeface="Poppins Semi-Bold"/>
                </a:rPr>
                <a:t>Parking</a:t>
              </a:r>
            </a:p>
          </p:txBody>
        </p:sp>
      </p:grpSp>
      <p:sp>
        <p:nvSpPr>
          <p:cNvPr name="TextBox 17" id="1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DCD7F1"/>
        </a:solidFill>
      </p:bgPr>
    </p:bg>
    <p:spTree>
      <p:nvGrpSpPr>
        <p:cNvPr id="1" name=""/>
        <p:cNvGrpSpPr/>
        <p:nvPr/>
      </p:nvGrpSpPr>
      <p:grpSpPr>
        <a:xfrm>
          <a:off x="0" y="0"/>
          <a:ext cx="0" cy="0"/>
          <a:chOff x="0" y="0"/>
          <a:chExt cx="0" cy="0"/>
        </a:xfrm>
      </p:grpSpPr>
      <p:grpSp>
        <p:nvGrpSpPr>
          <p:cNvPr name="Group 2" id="2"/>
          <p:cNvGrpSpPr/>
          <p:nvPr/>
        </p:nvGrpSpPr>
        <p:grpSpPr>
          <a:xfrm rot="0">
            <a:off x="12088967" y="1565895"/>
            <a:ext cx="5846035" cy="2461104"/>
            <a:chOff x="0" y="0"/>
            <a:chExt cx="1539696" cy="648192"/>
          </a:xfrm>
        </p:grpSpPr>
        <p:sp>
          <p:nvSpPr>
            <p:cNvPr name="Freeform 3" id="3"/>
            <p:cNvSpPr/>
            <p:nvPr/>
          </p:nvSpPr>
          <p:spPr>
            <a:xfrm flipH="false" flipV="false" rot="0">
              <a:off x="0" y="0"/>
              <a:ext cx="1539697" cy="648192"/>
            </a:xfrm>
            <a:custGeom>
              <a:avLst/>
              <a:gdLst/>
              <a:ahLst/>
              <a:cxnLst/>
              <a:rect r="r" b="b" t="t" l="l"/>
              <a:pathLst>
                <a:path h="648192" w="1539697">
                  <a:moveTo>
                    <a:pt x="67539" y="0"/>
                  </a:moveTo>
                  <a:lnTo>
                    <a:pt x="1472157" y="0"/>
                  </a:lnTo>
                  <a:cubicBezTo>
                    <a:pt x="1490070" y="0"/>
                    <a:pt x="1507249" y="7116"/>
                    <a:pt x="1519915" y="19782"/>
                  </a:cubicBezTo>
                  <a:cubicBezTo>
                    <a:pt x="1532581" y="32448"/>
                    <a:pt x="1539697" y="49627"/>
                    <a:pt x="1539697" y="67539"/>
                  </a:cubicBezTo>
                  <a:lnTo>
                    <a:pt x="1539697" y="580653"/>
                  </a:lnTo>
                  <a:cubicBezTo>
                    <a:pt x="1539697" y="598565"/>
                    <a:pt x="1532581" y="615744"/>
                    <a:pt x="1519915" y="628410"/>
                  </a:cubicBezTo>
                  <a:cubicBezTo>
                    <a:pt x="1507249" y="641076"/>
                    <a:pt x="1490070" y="648192"/>
                    <a:pt x="1472157" y="648192"/>
                  </a:cubicBezTo>
                  <a:lnTo>
                    <a:pt x="67539" y="648192"/>
                  </a:lnTo>
                  <a:cubicBezTo>
                    <a:pt x="49627" y="648192"/>
                    <a:pt x="32448" y="641076"/>
                    <a:pt x="19782" y="628410"/>
                  </a:cubicBezTo>
                  <a:cubicBezTo>
                    <a:pt x="7116" y="615744"/>
                    <a:pt x="0" y="598565"/>
                    <a:pt x="0" y="580653"/>
                  </a:cubicBezTo>
                  <a:lnTo>
                    <a:pt x="0" y="67539"/>
                  </a:lnTo>
                  <a:cubicBezTo>
                    <a:pt x="0" y="49627"/>
                    <a:pt x="7116" y="32448"/>
                    <a:pt x="19782" y="19782"/>
                  </a:cubicBezTo>
                  <a:cubicBezTo>
                    <a:pt x="32448" y="7116"/>
                    <a:pt x="49627" y="0"/>
                    <a:pt x="67539" y="0"/>
                  </a:cubicBezTo>
                  <a:close/>
                </a:path>
              </a:pathLst>
            </a:custGeom>
            <a:solidFill>
              <a:srgbClr val="9B3F3D">
                <a:alpha val="32941"/>
              </a:srgbClr>
            </a:solidFill>
          </p:spPr>
        </p:sp>
        <p:sp>
          <p:nvSpPr>
            <p:cNvPr name="TextBox 4" id="4"/>
            <p:cNvSpPr txBox="true"/>
            <p:nvPr/>
          </p:nvSpPr>
          <p:spPr>
            <a:xfrm>
              <a:off x="0" y="95250"/>
              <a:ext cx="1539696" cy="552942"/>
            </a:xfrm>
            <a:prstGeom prst="rect">
              <a:avLst/>
            </a:prstGeom>
          </p:spPr>
          <p:txBody>
            <a:bodyPr anchor="ctr" rtlCol="false" tIns="50800" lIns="50800" bIns="50800" rIns="50800"/>
            <a:lstStyle/>
            <a:p>
              <a:pPr algn="ctr">
                <a:lnSpc>
                  <a:spcPts val="1625"/>
                </a:lnSpc>
              </a:pPr>
            </a:p>
          </p:txBody>
        </p:sp>
      </p:grpSp>
      <p:grpSp>
        <p:nvGrpSpPr>
          <p:cNvPr name="Group 5" id="5"/>
          <p:cNvGrpSpPr/>
          <p:nvPr/>
        </p:nvGrpSpPr>
        <p:grpSpPr>
          <a:xfrm rot="0">
            <a:off x="318175" y="1253397"/>
            <a:ext cx="11770792" cy="3086100"/>
            <a:chOff x="0" y="0"/>
            <a:chExt cx="15694390" cy="4114800"/>
          </a:xfrm>
        </p:grpSpPr>
        <p:grpSp>
          <p:nvGrpSpPr>
            <p:cNvPr name="Group 6" id="6"/>
            <p:cNvGrpSpPr/>
            <p:nvPr/>
          </p:nvGrpSpPr>
          <p:grpSpPr>
            <a:xfrm rot="0">
              <a:off x="0" y="0"/>
              <a:ext cx="15694390" cy="4114800"/>
              <a:chOff x="0" y="0"/>
              <a:chExt cx="3100126" cy="812800"/>
            </a:xfrm>
          </p:grpSpPr>
          <p:sp>
            <p:nvSpPr>
              <p:cNvPr name="Freeform 7" id="7"/>
              <p:cNvSpPr/>
              <p:nvPr/>
            </p:nvSpPr>
            <p:spPr>
              <a:xfrm flipH="false" flipV="false" rot="0">
                <a:off x="0" y="0"/>
                <a:ext cx="3100126" cy="812800"/>
              </a:xfrm>
              <a:custGeom>
                <a:avLst/>
                <a:gdLst/>
                <a:ahLst/>
                <a:cxnLst/>
                <a:rect r="r" b="b" t="t" l="l"/>
                <a:pathLst>
                  <a:path h="812800" w="3100126">
                    <a:moveTo>
                      <a:pt x="3100126" y="406400"/>
                    </a:moveTo>
                    <a:lnTo>
                      <a:pt x="2693726" y="0"/>
                    </a:lnTo>
                    <a:lnTo>
                      <a:pt x="2693726" y="203200"/>
                    </a:lnTo>
                    <a:lnTo>
                      <a:pt x="0" y="203200"/>
                    </a:lnTo>
                    <a:lnTo>
                      <a:pt x="0" y="609600"/>
                    </a:lnTo>
                    <a:lnTo>
                      <a:pt x="2693726" y="609600"/>
                    </a:lnTo>
                    <a:lnTo>
                      <a:pt x="2693726" y="812800"/>
                    </a:lnTo>
                    <a:lnTo>
                      <a:pt x="3100126" y="406400"/>
                    </a:lnTo>
                    <a:close/>
                  </a:path>
                </a:pathLst>
              </a:custGeom>
              <a:solidFill>
                <a:srgbClr val="FF7009">
                  <a:alpha val="15686"/>
                </a:srgbClr>
              </a:solidFill>
            </p:spPr>
          </p:sp>
          <p:sp>
            <p:nvSpPr>
              <p:cNvPr name="TextBox 8" id="8"/>
              <p:cNvSpPr txBox="true"/>
              <p:nvPr/>
            </p:nvSpPr>
            <p:spPr>
              <a:xfrm>
                <a:off x="0" y="298450"/>
                <a:ext cx="2998526" cy="311150"/>
              </a:xfrm>
              <a:prstGeom prst="rect">
                <a:avLst/>
              </a:prstGeom>
            </p:spPr>
            <p:txBody>
              <a:bodyPr anchor="ctr" rtlCol="false" tIns="50800" lIns="50800" bIns="50800" rIns="50800"/>
              <a:lstStyle/>
              <a:p>
                <a:pPr algn="ctr">
                  <a:lnSpc>
                    <a:spcPts val="1625"/>
                  </a:lnSpc>
                </a:pPr>
              </a:p>
            </p:txBody>
          </p:sp>
        </p:grpSp>
        <p:grpSp>
          <p:nvGrpSpPr>
            <p:cNvPr name="Group 9" id="9"/>
            <p:cNvGrpSpPr/>
            <p:nvPr/>
          </p:nvGrpSpPr>
          <p:grpSpPr>
            <a:xfrm rot="0">
              <a:off x="352352" y="1292104"/>
              <a:ext cx="1647020" cy="1524000"/>
              <a:chOff x="0" y="0"/>
              <a:chExt cx="325337" cy="301037"/>
            </a:xfrm>
          </p:grpSpPr>
          <p:sp>
            <p:nvSpPr>
              <p:cNvPr name="Freeform 10" id="10"/>
              <p:cNvSpPr/>
              <p:nvPr/>
            </p:nvSpPr>
            <p:spPr>
              <a:xfrm flipH="false" flipV="false" rot="0">
                <a:off x="0" y="0"/>
                <a:ext cx="325337" cy="301037"/>
              </a:xfrm>
              <a:custGeom>
                <a:avLst/>
                <a:gdLst/>
                <a:ahLst/>
                <a:cxnLst/>
                <a:rect r="r" b="b" t="t" l="l"/>
                <a:pathLst>
                  <a:path h="301037" w="325337">
                    <a:moveTo>
                      <a:pt x="162669" y="301037"/>
                    </a:moveTo>
                    <a:lnTo>
                      <a:pt x="325337" y="0"/>
                    </a:lnTo>
                    <a:lnTo>
                      <a:pt x="0" y="0"/>
                    </a:lnTo>
                    <a:lnTo>
                      <a:pt x="162669" y="301037"/>
                    </a:lnTo>
                    <a:close/>
                  </a:path>
                </a:pathLst>
              </a:custGeom>
              <a:solidFill>
                <a:srgbClr val="F4A261"/>
              </a:solidFill>
            </p:spPr>
          </p:sp>
          <p:sp>
            <p:nvSpPr>
              <p:cNvPr name="TextBox 11" id="11"/>
              <p:cNvSpPr txBox="true"/>
              <p:nvPr/>
            </p:nvSpPr>
            <p:spPr>
              <a:xfrm>
                <a:off x="50834" y="116753"/>
                <a:ext cx="223669" cy="44517"/>
              </a:xfrm>
              <a:prstGeom prst="rect">
                <a:avLst/>
              </a:prstGeom>
            </p:spPr>
            <p:txBody>
              <a:bodyPr anchor="ctr" rtlCol="false" tIns="50800" lIns="50800" bIns="50800" rIns="50800"/>
              <a:lstStyle/>
              <a:p>
                <a:pPr algn="ctr">
                  <a:lnSpc>
                    <a:spcPts val="1625"/>
                  </a:lnSpc>
                </a:pPr>
              </a:p>
            </p:txBody>
          </p:sp>
        </p:grpSp>
        <p:sp>
          <p:nvSpPr>
            <p:cNvPr name="TextBox 12" id="12"/>
            <p:cNvSpPr txBox="true"/>
            <p:nvPr/>
          </p:nvSpPr>
          <p:spPr>
            <a:xfrm rot="0">
              <a:off x="1051962" y="1708258"/>
              <a:ext cx="2457830" cy="1114438"/>
            </a:xfrm>
            <a:prstGeom prst="rect">
              <a:avLst/>
            </a:prstGeom>
          </p:spPr>
          <p:txBody>
            <a:bodyPr anchor="t" rtlCol="false" tIns="0" lIns="0" bIns="0" rIns="0">
              <a:spAutoFit/>
            </a:bodyPr>
            <a:lstStyle/>
            <a:p>
              <a:pPr algn="ctr">
                <a:lnSpc>
                  <a:spcPts val="4800"/>
                </a:lnSpc>
              </a:pPr>
              <a:r>
                <a:rPr lang="en-US" sz="6000" spc="-60">
                  <a:solidFill>
                    <a:srgbClr val="FDF9DE"/>
                  </a:solidFill>
                  <a:latin typeface="Impact"/>
                  <a:ea typeface="Impact"/>
                  <a:cs typeface="Impact"/>
                  <a:sym typeface="Impact"/>
                </a:rPr>
                <a:t>DESIRE</a:t>
              </a:r>
            </a:p>
          </p:txBody>
        </p:sp>
        <p:sp>
          <p:nvSpPr>
            <p:cNvPr name="TextBox 13" id="13"/>
            <p:cNvSpPr txBox="true"/>
            <p:nvPr/>
          </p:nvSpPr>
          <p:spPr>
            <a:xfrm rot="0">
              <a:off x="4227389" y="1141928"/>
              <a:ext cx="9069192" cy="1633219"/>
            </a:xfrm>
            <a:prstGeom prst="rect">
              <a:avLst/>
            </a:prstGeom>
          </p:spPr>
          <p:txBody>
            <a:bodyPr anchor="t" rtlCol="false" tIns="0" lIns="0" bIns="0" rIns="0">
              <a:spAutoFit/>
            </a:bodyPr>
            <a:lstStyle/>
            <a:p>
              <a:pPr algn="l">
                <a:lnSpc>
                  <a:spcPts val="3360"/>
                </a:lnSpc>
              </a:pPr>
              <a:r>
                <a:rPr lang="en-US" sz="2400" b="true">
                  <a:solidFill>
                    <a:srgbClr val="000000"/>
                  </a:solidFill>
                  <a:latin typeface="Canva Sans Bold"/>
                  <a:ea typeface="Canva Sans Bold"/>
                  <a:cs typeface="Canva Sans Bold"/>
                  <a:sym typeface="Canva Sans Bold"/>
                </a:rPr>
                <a:t>Customers compare options and save preferred items as they evaluate their purchase choices.</a:t>
              </a:r>
            </a:p>
          </p:txBody>
        </p:sp>
      </p:grpSp>
      <p:grpSp>
        <p:nvGrpSpPr>
          <p:cNvPr name="Group 14" id="14"/>
          <p:cNvGrpSpPr/>
          <p:nvPr/>
        </p:nvGrpSpPr>
        <p:grpSpPr>
          <a:xfrm rot="0">
            <a:off x="318175" y="3952627"/>
            <a:ext cx="11770792" cy="3086100"/>
            <a:chOff x="0" y="0"/>
            <a:chExt cx="3100126" cy="812800"/>
          </a:xfrm>
        </p:grpSpPr>
        <p:sp>
          <p:nvSpPr>
            <p:cNvPr name="Freeform 15" id="15"/>
            <p:cNvSpPr/>
            <p:nvPr/>
          </p:nvSpPr>
          <p:spPr>
            <a:xfrm flipH="false" flipV="false" rot="0">
              <a:off x="0" y="0"/>
              <a:ext cx="3100126" cy="812800"/>
            </a:xfrm>
            <a:custGeom>
              <a:avLst/>
              <a:gdLst/>
              <a:ahLst/>
              <a:cxnLst/>
              <a:rect r="r" b="b" t="t" l="l"/>
              <a:pathLst>
                <a:path h="812800" w="3100126">
                  <a:moveTo>
                    <a:pt x="3100126" y="406400"/>
                  </a:moveTo>
                  <a:lnTo>
                    <a:pt x="2693726" y="0"/>
                  </a:lnTo>
                  <a:lnTo>
                    <a:pt x="2693726" y="203200"/>
                  </a:lnTo>
                  <a:lnTo>
                    <a:pt x="0" y="203200"/>
                  </a:lnTo>
                  <a:lnTo>
                    <a:pt x="0" y="609600"/>
                  </a:lnTo>
                  <a:lnTo>
                    <a:pt x="2693726" y="609600"/>
                  </a:lnTo>
                  <a:lnTo>
                    <a:pt x="2693726" y="812800"/>
                  </a:lnTo>
                  <a:lnTo>
                    <a:pt x="3100126" y="406400"/>
                  </a:lnTo>
                  <a:close/>
                </a:path>
              </a:pathLst>
            </a:custGeom>
            <a:solidFill>
              <a:srgbClr val="FF7009">
                <a:alpha val="15686"/>
              </a:srgbClr>
            </a:solidFill>
          </p:spPr>
        </p:sp>
        <p:sp>
          <p:nvSpPr>
            <p:cNvPr name="TextBox 16" id="16"/>
            <p:cNvSpPr txBox="true"/>
            <p:nvPr/>
          </p:nvSpPr>
          <p:spPr>
            <a:xfrm>
              <a:off x="0" y="298450"/>
              <a:ext cx="2998526" cy="311150"/>
            </a:xfrm>
            <a:prstGeom prst="rect">
              <a:avLst/>
            </a:prstGeom>
          </p:spPr>
          <p:txBody>
            <a:bodyPr anchor="ctr" rtlCol="false" tIns="50800" lIns="50800" bIns="50800" rIns="50800"/>
            <a:lstStyle/>
            <a:p>
              <a:pPr algn="ctr">
                <a:lnSpc>
                  <a:spcPts val="1625"/>
                </a:lnSpc>
              </a:pPr>
            </a:p>
          </p:txBody>
        </p:sp>
      </p:grpSp>
      <p:grpSp>
        <p:nvGrpSpPr>
          <p:cNvPr name="Group 17" id="17"/>
          <p:cNvGrpSpPr/>
          <p:nvPr/>
        </p:nvGrpSpPr>
        <p:grpSpPr>
          <a:xfrm rot="0">
            <a:off x="553396" y="4924177"/>
            <a:ext cx="1034989" cy="1143000"/>
            <a:chOff x="0" y="0"/>
            <a:chExt cx="272590" cy="301037"/>
          </a:xfrm>
        </p:grpSpPr>
        <p:sp>
          <p:nvSpPr>
            <p:cNvPr name="Freeform 18" id="18"/>
            <p:cNvSpPr/>
            <p:nvPr/>
          </p:nvSpPr>
          <p:spPr>
            <a:xfrm flipH="false" flipV="false" rot="0">
              <a:off x="0" y="0"/>
              <a:ext cx="272590" cy="301037"/>
            </a:xfrm>
            <a:custGeom>
              <a:avLst/>
              <a:gdLst/>
              <a:ahLst/>
              <a:cxnLst/>
              <a:rect r="r" b="b" t="t" l="l"/>
              <a:pathLst>
                <a:path h="301037" w="272590">
                  <a:moveTo>
                    <a:pt x="136295" y="301037"/>
                  </a:moveTo>
                  <a:lnTo>
                    <a:pt x="272590" y="0"/>
                  </a:lnTo>
                  <a:lnTo>
                    <a:pt x="0" y="0"/>
                  </a:lnTo>
                  <a:lnTo>
                    <a:pt x="136295" y="301037"/>
                  </a:lnTo>
                  <a:close/>
                </a:path>
              </a:pathLst>
            </a:custGeom>
            <a:solidFill>
              <a:srgbClr val="FE7559"/>
            </a:solidFill>
          </p:spPr>
        </p:sp>
        <p:sp>
          <p:nvSpPr>
            <p:cNvPr name="TextBox 19" id="19"/>
            <p:cNvSpPr txBox="true"/>
            <p:nvPr/>
          </p:nvSpPr>
          <p:spPr>
            <a:xfrm>
              <a:off x="42592" y="116753"/>
              <a:ext cx="187405" cy="44517"/>
            </a:xfrm>
            <a:prstGeom prst="rect">
              <a:avLst/>
            </a:prstGeom>
          </p:spPr>
          <p:txBody>
            <a:bodyPr anchor="ctr" rtlCol="false" tIns="50800" lIns="50800" bIns="50800" rIns="50800"/>
            <a:lstStyle/>
            <a:p>
              <a:pPr algn="ctr">
                <a:lnSpc>
                  <a:spcPts val="1625"/>
                </a:lnSpc>
              </a:pPr>
            </a:p>
          </p:txBody>
        </p:sp>
      </p:grpSp>
      <p:sp>
        <p:nvSpPr>
          <p:cNvPr name="TextBox 20" id="20"/>
          <p:cNvSpPr txBox="true"/>
          <p:nvPr/>
        </p:nvSpPr>
        <p:spPr>
          <a:xfrm rot="0">
            <a:off x="786848" y="5245919"/>
            <a:ext cx="2308782" cy="809635"/>
          </a:xfrm>
          <a:prstGeom prst="rect">
            <a:avLst/>
          </a:prstGeom>
        </p:spPr>
        <p:txBody>
          <a:bodyPr anchor="t" rtlCol="false" tIns="0" lIns="0" bIns="0" rIns="0">
            <a:spAutoFit/>
          </a:bodyPr>
          <a:lstStyle/>
          <a:p>
            <a:pPr algn="ctr">
              <a:lnSpc>
                <a:spcPts val="4800"/>
              </a:lnSpc>
            </a:pPr>
            <a:r>
              <a:rPr lang="en-US" sz="6000" spc="-60">
                <a:solidFill>
                  <a:srgbClr val="FDF9DE"/>
                </a:solidFill>
                <a:latin typeface="Impact"/>
                <a:ea typeface="Impact"/>
                <a:cs typeface="Impact"/>
                <a:sym typeface="Impact"/>
              </a:rPr>
              <a:t>ACTION</a:t>
            </a:r>
          </a:p>
        </p:txBody>
      </p:sp>
      <p:sp>
        <p:nvSpPr>
          <p:cNvPr name="TextBox 21" id="21"/>
          <p:cNvSpPr txBox="true"/>
          <p:nvPr/>
        </p:nvSpPr>
        <p:spPr>
          <a:xfrm rot="0">
            <a:off x="3385247" y="5068957"/>
            <a:ext cx="6906859" cy="815339"/>
          </a:xfrm>
          <a:prstGeom prst="rect">
            <a:avLst/>
          </a:prstGeom>
        </p:spPr>
        <p:txBody>
          <a:bodyPr anchor="t" rtlCol="false" tIns="0" lIns="0" bIns="0" rIns="0">
            <a:spAutoFit/>
          </a:bodyPr>
          <a:lstStyle/>
          <a:p>
            <a:pPr algn="l">
              <a:lnSpc>
                <a:spcPts val="3360"/>
              </a:lnSpc>
            </a:pPr>
            <a:r>
              <a:rPr lang="en-US" sz="2400" b="true">
                <a:solidFill>
                  <a:srgbClr val="000000"/>
                </a:solidFill>
                <a:latin typeface="Canva Sans Bold"/>
                <a:ea typeface="Canva Sans Bold"/>
                <a:cs typeface="Canva Sans Bold"/>
                <a:sym typeface="Canva Sans Bold"/>
              </a:rPr>
              <a:t>Customers finalize their decision, proceed to checkout, and complete their purchase.</a:t>
            </a:r>
          </a:p>
        </p:txBody>
      </p:sp>
      <p:grpSp>
        <p:nvGrpSpPr>
          <p:cNvPr name="Group 22" id="22"/>
          <p:cNvGrpSpPr/>
          <p:nvPr/>
        </p:nvGrpSpPr>
        <p:grpSpPr>
          <a:xfrm rot="0">
            <a:off x="318175" y="6517483"/>
            <a:ext cx="11770792" cy="3086100"/>
            <a:chOff x="0" y="0"/>
            <a:chExt cx="3100126" cy="812800"/>
          </a:xfrm>
        </p:grpSpPr>
        <p:sp>
          <p:nvSpPr>
            <p:cNvPr name="Freeform 23" id="23"/>
            <p:cNvSpPr/>
            <p:nvPr/>
          </p:nvSpPr>
          <p:spPr>
            <a:xfrm flipH="false" flipV="false" rot="0">
              <a:off x="0" y="0"/>
              <a:ext cx="3100126" cy="812800"/>
            </a:xfrm>
            <a:custGeom>
              <a:avLst/>
              <a:gdLst/>
              <a:ahLst/>
              <a:cxnLst/>
              <a:rect r="r" b="b" t="t" l="l"/>
              <a:pathLst>
                <a:path h="812800" w="3100126">
                  <a:moveTo>
                    <a:pt x="3100126" y="406400"/>
                  </a:moveTo>
                  <a:lnTo>
                    <a:pt x="2693726" y="0"/>
                  </a:lnTo>
                  <a:lnTo>
                    <a:pt x="2693726" y="203200"/>
                  </a:lnTo>
                  <a:lnTo>
                    <a:pt x="0" y="203200"/>
                  </a:lnTo>
                  <a:lnTo>
                    <a:pt x="0" y="609600"/>
                  </a:lnTo>
                  <a:lnTo>
                    <a:pt x="2693726" y="609600"/>
                  </a:lnTo>
                  <a:lnTo>
                    <a:pt x="2693726" y="812800"/>
                  </a:lnTo>
                  <a:lnTo>
                    <a:pt x="3100126" y="406400"/>
                  </a:lnTo>
                  <a:close/>
                </a:path>
              </a:pathLst>
            </a:custGeom>
            <a:solidFill>
              <a:srgbClr val="FF7009">
                <a:alpha val="15686"/>
              </a:srgbClr>
            </a:solidFill>
          </p:spPr>
        </p:sp>
        <p:sp>
          <p:nvSpPr>
            <p:cNvPr name="TextBox 24" id="24"/>
            <p:cNvSpPr txBox="true"/>
            <p:nvPr/>
          </p:nvSpPr>
          <p:spPr>
            <a:xfrm>
              <a:off x="0" y="298450"/>
              <a:ext cx="2998526" cy="311150"/>
            </a:xfrm>
            <a:prstGeom prst="rect">
              <a:avLst/>
            </a:prstGeom>
          </p:spPr>
          <p:txBody>
            <a:bodyPr anchor="ctr" rtlCol="false" tIns="50800" lIns="50800" bIns="50800" rIns="50800"/>
            <a:lstStyle/>
            <a:p>
              <a:pPr algn="ctr">
                <a:lnSpc>
                  <a:spcPts val="1625"/>
                </a:lnSpc>
              </a:pPr>
            </a:p>
          </p:txBody>
        </p:sp>
      </p:grpSp>
      <p:grpSp>
        <p:nvGrpSpPr>
          <p:cNvPr name="Group 25" id="25"/>
          <p:cNvGrpSpPr/>
          <p:nvPr/>
        </p:nvGrpSpPr>
        <p:grpSpPr>
          <a:xfrm rot="0">
            <a:off x="553396" y="7502902"/>
            <a:ext cx="1235265" cy="1143000"/>
            <a:chOff x="0" y="0"/>
            <a:chExt cx="325337" cy="301037"/>
          </a:xfrm>
        </p:grpSpPr>
        <p:sp>
          <p:nvSpPr>
            <p:cNvPr name="Freeform 26" id="26"/>
            <p:cNvSpPr/>
            <p:nvPr/>
          </p:nvSpPr>
          <p:spPr>
            <a:xfrm flipH="false" flipV="false" rot="0">
              <a:off x="0" y="0"/>
              <a:ext cx="325337" cy="301037"/>
            </a:xfrm>
            <a:custGeom>
              <a:avLst/>
              <a:gdLst/>
              <a:ahLst/>
              <a:cxnLst/>
              <a:rect r="r" b="b" t="t" l="l"/>
              <a:pathLst>
                <a:path h="301037" w="325337">
                  <a:moveTo>
                    <a:pt x="162669" y="301037"/>
                  </a:moveTo>
                  <a:lnTo>
                    <a:pt x="325337" y="0"/>
                  </a:lnTo>
                  <a:lnTo>
                    <a:pt x="0" y="0"/>
                  </a:lnTo>
                  <a:lnTo>
                    <a:pt x="162669" y="301037"/>
                  </a:lnTo>
                  <a:close/>
                </a:path>
              </a:pathLst>
            </a:custGeom>
            <a:solidFill>
              <a:srgbClr val="C55039"/>
            </a:solidFill>
          </p:spPr>
        </p:sp>
        <p:sp>
          <p:nvSpPr>
            <p:cNvPr name="TextBox 27" id="27"/>
            <p:cNvSpPr txBox="true"/>
            <p:nvPr/>
          </p:nvSpPr>
          <p:spPr>
            <a:xfrm>
              <a:off x="50834" y="116753"/>
              <a:ext cx="223669" cy="44517"/>
            </a:xfrm>
            <a:prstGeom prst="rect">
              <a:avLst/>
            </a:prstGeom>
          </p:spPr>
          <p:txBody>
            <a:bodyPr anchor="ctr" rtlCol="false" tIns="50800" lIns="50800" bIns="50800" rIns="50800"/>
            <a:lstStyle/>
            <a:p>
              <a:pPr algn="ctr">
                <a:lnSpc>
                  <a:spcPts val="1625"/>
                </a:lnSpc>
              </a:pPr>
            </a:p>
          </p:txBody>
        </p:sp>
      </p:grpSp>
      <p:sp>
        <p:nvSpPr>
          <p:cNvPr name="TextBox 28" id="28"/>
          <p:cNvSpPr txBox="true"/>
          <p:nvPr/>
        </p:nvSpPr>
        <p:spPr>
          <a:xfrm rot="0">
            <a:off x="980529" y="7817227"/>
            <a:ext cx="2173186" cy="809635"/>
          </a:xfrm>
          <a:prstGeom prst="rect">
            <a:avLst/>
          </a:prstGeom>
        </p:spPr>
        <p:txBody>
          <a:bodyPr anchor="t" rtlCol="false" tIns="0" lIns="0" bIns="0" rIns="0">
            <a:spAutoFit/>
          </a:bodyPr>
          <a:lstStyle/>
          <a:p>
            <a:pPr algn="ctr">
              <a:lnSpc>
                <a:spcPts val="4800"/>
              </a:lnSpc>
            </a:pPr>
            <a:r>
              <a:rPr lang="en-US" sz="6000" spc="-60">
                <a:solidFill>
                  <a:srgbClr val="FDF9DE"/>
                </a:solidFill>
                <a:latin typeface="Impact"/>
                <a:ea typeface="Impact"/>
                <a:cs typeface="Impact"/>
                <a:sym typeface="Impact"/>
              </a:rPr>
              <a:t>LOYALTY</a:t>
            </a:r>
          </a:p>
        </p:txBody>
      </p:sp>
      <p:sp>
        <p:nvSpPr>
          <p:cNvPr name="TextBox 29" id="29"/>
          <p:cNvSpPr txBox="true"/>
          <p:nvPr/>
        </p:nvSpPr>
        <p:spPr>
          <a:xfrm rot="0">
            <a:off x="3488716" y="7424263"/>
            <a:ext cx="6999423" cy="1234439"/>
          </a:xfrm>
          <a:prstGeom prst="rect">
            <a:avLst/>
          </a:prstGeom>
        </p:spPr>
        <p:txBody>
          <a:bodyPr anchor="t" rtlCol="false" tIns="0" lIns="0" bIns="0" rIns="0">
            <a:spAutoFit/>
          </a:bodyPr>
          <a:lstStyle/>
          <a:p>
            <a:pPr algn="l">
              <a:lnSpc>
                <a:spcPts val="3360"/>
              </a:lnSpc>
            </a:pPr>
            <a:r>
              <a:rPr lang="en-US" sz="2400" b="true">
                <a:solidFill>
                  <a:srgbClr val="000000"/>
                </a:solidFill>
                <a:latin typeface="Canva Sans Bold"/>
                <a:ea typeface="Canva Sans Bold"/>
                <a:cs typeface="Canva Sans Bold"/>
                <a:sym typeface="Canva Sans Bold"/>
              </a:rPr>
              <a:t>Customers make repeat purchases and advocate for the brand by recommending it to others</a:t>
            </a:r>
          </a:p>
        </p:txBody>
      </p:sp>
      <p:sp>
        <p:nvSpPr>
          <p:cNvPr name="Freeform 30" id="30"/>
          <p:cNvSpPr/>
          <p:nvPr/>
        </p:nvSpPr>
        <p:spPr>
          <a:xfrm flipH="false" flipV="false" rot="0">
            <a:off x="12930864" y="1707863"/>
            <a:ext cx="1605670" cy="1605670"/>
          </a:xfrm>
          <a:custGeom>
            <a:avLst/>
            <a:gdLst/>
            <a:ahLst/>
            <a:cxnLst/>
            <a:rect r="r" b="b" t="t" l="l"/>
            <a:pathLst>
              <a:path h="1605670" w="1605670">
                <a:moveTo>
                  <a:pt x="0" y="0"/>
                </a:moveTo>
                <a:lnTo>
                  <a:pt x="1605670" y="0"/>
                </a:lnTo>
                <a:lnTo>
                  <a:pt x="1605670" y="1605669"/>
                </a:lnTo>
                <a:lnTo>
                  <a:pt x="0" y="1605669"/>
                </a:lnTo>
                <a:lnTo>
                  <a:pt x="0" y="0"/>
                </a:lnTo>
                <a:close/>
              </a:path>
            </a:pathLst>
          </a:custGeom>
          <a:blipFill>
            <a:blip r:embed="rId2"/>
            <a:stretch>
              <a:fillRect l="0" t="0" r="0" b="0"/>
            </a:stretch>
          </a:blipFill>
        </p:spPr>
      </p:sp>
      <p:sp>
        <p:nvSpPr>
          <p:cNvPr name="Freeform 31" id="31"/>
          <p:cNvSpPr/>
          <p:nvPr/>
        </p:nvSpPr>
        <p:spPr>
          <a:xfrm flipH="false" flipV="false" rot="0">
            <a:off x="15312655" y="1707863"/>
            <a:ext cx="1605670" cy="1605670"/>
          </a:xfrm>
          <a:custGeom>
            <a:avLst/>
            <a:gdLst/>
            <a:ahLst/>
            <a:cxnLst/>
            <a:rect r="r" b="b" t="t" l="l"/>
            <a:pathLst>
              <a:path h="1605670" w="1605670">
                <a:moveTo>
                  <a:pt x="0" y="0"/>
                </a:moveTo>
                <a:lnTo>
                  <a:pt x="1605670" y="0"/>
                </a:lnTo>
                <a:lnTo>
                  <a:pt x="1605670" y="1605669"/>
                </a:lnTo>
                <a:lnTo>
                  <a:pt x="0" y="1605669"/>
                </a:lnTo>
                <a:lnTo>
                  <a:pt x="0" y="0"/>
                </a:lnTo>
                <a:close/>
              </a:path>
            </a:pathLst>
          </a:custGeom>
          <a:blipFill>
            <a:blip r:embed="rId3"/>
            <a:stretch>
              <a:fillRect l="0" t="0" r="0" b="0"/>
            </a:stretch>
          </a:blipFill>
        </p:spPr>
      </p:sp>
      <p:sp>
        <p:nvSpPr>
          <p:cNvPr name="TextBox 32" id="32"/>
          <p:cNvSpPr txBox="true"/>
          <p:nvPr/>
        </p:nvSpPr>
        <p:spPr>
          <a:xfrm rot="0">
            <a:off x="12930864" y="3475457"/>
            <a:ext cx="4526497" cy="409575"/>
          </a:xfrm>
          <a:prstGeom prst="rect">
            <a:avLst/>
          </a:prstGeom>
        </p:spPr>
        <p:txBody>
          <a:bodyPr anchor="t" rtlCol="false" tIns="0" lIns="0" bIns="0" rIns="0">
            <a:spAutoFit/>
          </a:bodyPr>
          <a:lstStyle/>
          <a:p>
            <a:pPr algn="ctr">
              <a:lnSpc>
                <a:spcPts val="2400"/>
              </a:lnSpc>
            </a:pPr>
            <a:r>
              <a:rPr lang="en-US" sz="3000" spc="-30">
                <a:solidFill>
                  <a:srgbClr val="FDF9DE"/>
                </a:solidFill>
                <a:latin typeface="Impact"/>
                <a:ea typeface="Impact"/>
                <a:cs typeface="Impact"/>
                <a:sym typeface="Impact"/>
              </a:rPr>
              <a:t>SEARCHING THE “RIGHT” PRODUCT</a:t>
            </a:r>
          </a:p>
        </p:txBody>
      </p:sp>
      <p:grpSp>
        <p:nvGrpSpPr>
          <p:cNvPr name="Group 33" id="33"/>
          <p:cNvGrpSpPr/>
          <p:nvPr/>
        </p:nvGrpSpPr>
        <p:grpSpPr>
          <a:xfrm rot="0">
            <a:off x="12088967" y="4310922"/>
            <a:ext cx="5846035" cy="2461104"/>
            <a:chOff x="0" y="0"/>
            <a:chExt cx="1539696" cy="648192"/>
          </a:xfrm>
        </p:grpSpPr>
        <p:sp>
          <p:nvSpPr>
            <p:cNvPr name="Freeform 34" id="34"/>
            <p:cNvSpPr/>
            <p:nvPr/>
          </p:nvSpPr>
          <p:spPr>
            <a:xfrm flipH="false" flipV="false" rot="0">
              <a:off x="0" y="0"/>
              <a:ext cx="1539697" cy="648192"/>
            </a:xfrm>
            <a:custGeom>
              <a:avLst/>
              <a:gdLst/>
              <a:ahLst/>
              <a:cxnLst/>
              <a:rect r="r" b="b" t="t" l="l"/>
              <a:pathLst>
                <a:path h="648192" w="1539697">
                  <a:moveTo>
                    <a:pt x="67539" y="0"/>
                  </a:moveTo>
                  <a:lnTo>
                    <a:pt x="1472157" y="0"/>
                  </a:lnTo>
                  <a:cubicBezTo>
                    <a:pt x="1490070" y="0"/>
                    <a:pt x="1507249" y="7116"/>
                    <a:pt x="1519915" y="19782"/>
                  </a:cubicBezTo>
                  <a:cubicBezTo>
                    <a:pt x="1532581" y="32448"/>
                    <a:pt x="1539697" y="49627"/>
                    <a:pt x="1539697" y="67539"/>
                  </a:cubicBezTo>
                  <a:lnTo>
                    <a:pt x="1539697" y="580653"/>
                  </a:lnTo>
                  <a:cubicBezTo>
                    <a:pt x="1539697" y="598565"/>
                    <a:pt x="1532581" y="615744"/>
                    <a:pt x="1519915" y="628410"/>
                  </a:cubicBezTo>
                  <a:cubicBezTo>
                    <a:pt x="1507249" y="641076"/>
                    <a:pt x="1490070" y="648192"/>
                    <a:pt x="1472157" y="648192"/>
                  </a:cubicBezTo>
                  <a:lnTo>
                    <a:pt x="67539" y="648192"/>
                  </a:lnTo>
                  <a:cubicBezTo>
                    <a:pt x="49627" y="648192"/>
                    <a:pt x="32448" y="641076"/>
                    <a:pt x="19782" y="628410"/>
                  </a:cubicBezTo>
                  <a:cubicBezTo>
                    <a:pt x="7116" y="615744"/>
                    <a:pt x="0" y="598565"/>
                    <a:pt x="0" y="580653"/>
                  </a:cubicBezTo>
                  <a:lnTo>
                    <a:pt x="0" y="67539"/>
                  </a:lnTo>
                  <a:cubicBezTo>
                    <a:pt x="0" y="49627"/>
                    <a:pt x="7116" y="32448"/>
                    <a:pt x="19782" y="19782"/>
                  </a:cubicBezTo>
                  <a:cubicBezTo>
                    <a:pt x="32448" y="7116"/>
                    <a:pt x="49627" y="0"/>
                    <a:pt x="67539" y="0"/>
                  </a:cubicBezTo>
                  <a:close/>
                </a:path>
              </a:pathLst>
            </a:custGeom>
            <a:solidFill>
              <a:srgbClr val="9B3F3D">
                <a:alpha val="32941"/>
              </a:srgbClr>
            </a:solidFill>
          </p:spPr>
        </p:sp>
        <p:sp>
          <p:nvSpPr>
            <p:cNvPr name="TextBox 35" id="35"/>
            <p:cNvSpPr txBox="true"/>
            <p:nvPr/>
          </p:nvSpPr>
          <p:spPr>
            <a:xfrm>
              <a:off x="0" y="95250"/>
              <a:ext cx="1539696" cy="552942"/>
            </a:xfrm>
            <a:prstGeom prst="rect">
              <a:avLst/>
            </a:prstGeom>
          </p:spPr>
          <p:txBody>
            <a:bodyPr anchor="ctr" rtlCol="false" tIns="50800" lIns="50800" bIns="50800" rIns="50800"/>
            <a:lstStyle/>
            <a:p>
              <a:pPr algn="ctr">
                <a:lnSpc>
                  <a:spcPts val="1625"/>
                </a:lnSpc>
              </a:pPr>
            </a:p>
          </p:txBody>
        </p:sp>
      </p:grpSp>
      <p:sp>
        <p:nvSpPr>
          <p:cNvPr name="Freeform 36" id="36"/>
          <p:cNvSpPr/>
          <p:nvPr/>
        </p:nvSpPr>
        <p:spPr>
          <a:xfrm flipH="false" flipV="false" rot="0">
            <a:off x="12985398" y="4339497"/>
            <a:ext cx="1605670" cy="1605670"/>
          </a:xfrm>
          <a:custGeom>
            <a:avLst/>
            <a:gdLst/>
            <a:ahLst/>
            <a:cxnLst/>
            <a:rect r="r" b="b" t="t" l="l"/>
            <a:pathLst>
              <a:path h="1605670" w="1605670">
                <a:moveTo>
                  <a:pt x="0" y="0"/>
                </a:moveTo>
                <a:lnTo>
                  <a:pt x="1605669" y="0"/>
                </a:lnTo>
                <a:lnTo>
                  <a:pt x="1605669" y="1605670"/>
                </a:lnTo>
                <a:lnTo>
                  <a:pt x="0" y="1605670"/>
                </a:lnTo>
                <a:lnTo>
                  <a:pt x="0" y="0"/>
                </a:lnTo>
                <a:close/>
              </a:path>
            </a:pathLst>
          </a:custGeom>
          <a:blipFill>
            <a:blip r:embed="rId4"/>
            <a:stretch>
              <a:fillRect l="0" t="0" r="0" b="0"/>
            </a:stretch>
          </a:blipFill>
        </p:spPr>
      </p:sp>
      <p:sp>
        <p:nvSpPr>
          <p:cNvPr name="Freeform 37" id="37"/>
          <p:cNvSpPr/>
          <p:nvPr/>
        </p:nvSpPr>
        <p:spPr>
          <a:xfrm flipH="false" flipV="false" rot="0">
            <a:off x="15367189" y="4339497"/>
            <a:ext cx="1605670" cy="1605670"/>
          </a:xfrm>
          <a:custGeom>
            <a:avLst/>
            <a:gdLst/>
            <a:ahLst/>
            <a:cxnLst/>
            <a:rect r="r" b="b" t="t" l="l"/>
            <a:pathLst>
              <a:path h="1605670" w="1605670">
                <a:moveTo>
                  <a:pt x="0" y="0"/>
                </a:moveTo>
                <a:lnTo>
                  <a:pt x="1605670" y="0"/>
                </a:lnTo>
                <a:lnTo>
                  <a:pt x="1605670" y="1605670"/>
                </a:lnTo>
                <a:lnTo>
                  <a:pt x="0" y="1605670"/>
                </a:lnTo>
                <a:lnTo>
                  <a:pt x="0" y="0"/>
                </a:lnTo>
                <a:close/>
              </a:path>
            </a:pathLst>
          </a:custGeom>
          <a:blipFill>
            <a:blip r:embed="rId5"/>
            <a:stretch>
              <a:fillRect l="0" t="0" r="0" b="0"/>
            </a:stretch>
          </a:blipFill>
        </p:spPr>
      </p:sp>
      <p:sp>
        <p:nvSpPr>
          <p:cNvPr name="TextBox 38" id="38"/>
          <p:cNvSpPr txBox="true"/>
          <p:nvPr/>
        </p:nvSpPr>
        <p:spPr>
          <a:xfrm rot="0">
            <a:off x="12928248" y="6068992"/>
            <a:ext cx="4529113" cy="409575"/>
          </a:xfrm>
          <a:prstGeom prst="rect">
            <a:avLst/>
          </a:prstGeom>
        </p:spPr>
        <p:txBody>
          <a:bodyPr anchor="t" rtlCol="false" tIns="0" lIns="0" bIns="0" rIns="0">
            <a:spAutoFit/>
          </a:bodyPr>
          <a:lstStyle/>
          <a:p>
            <a:pPr algn="ctr">
              <a:lnSpc>
                <a:spcPts val="2400"/>
              </a:lnSpc>
            </a:pPr>
            <a:r>
              <a:rPr lang="en-US" sz="3000" spc="-30">
                <a:solidFill>
                  <a:srgbClr val="FDF9DE"/>
                </a:solidFill>
                <a:latin typeface="Impact"/>
                <a:ea typeface="Impact"/>
                <a:cs typeface="Impact"/>
                <a:sym typeface="Impact"/>
              </a:rPr>
              <a:t>CHECKOUT AND DELIVERY TIME</a:t>
            </a:r>
          </a:p>
        </p:txBody>
      </p:sp>
      <p:grpSp>
        <p:nvGrpSpPr>
          <p:cNvPr name="Group 39" id="39"/>
          <p:cNvGrpSpPr/>
          <p:nvPr/>
        </p:nvGrpSpPr>
        <p:grpSpPr>
          <a:xfrm rot="0">
            <a:off x="12091583" y="7038727"/>
            <a:ext cx="5846035" cy="2461104"/>
            <a:chOff x="0" y="0"/>
            <a:chExt cx="1539696" cy="648192"/>
          </a:xfrm>
        </p:grpSpPr>
        <p:sp>
          <p:nvSpPr>
            <p:cNvPr name="Freeform 40" id="40"/>
            <p:cNvSpPr/>
            <p:nvPr/>
          </p:nvSpPr>
          <p:spPr>
            <a:xfrm flipH="false" flipV="false" rot="0">
              <a:off x="0" y="0"/>
              <a:ext cx="1539697" cy="648192"/>
            </a:xfrm>
            <a:custGeom>
              <a:avLst/>
              <a:gdLst/>
              <a:ahLst/>
              <a:cxnLst/>
              <a:rect r="r" b="b" t="t" l="l"/>
              <a:pathLst>
                <a:path h="648192" w="1539697">
                  <a:moveTo>
                    <a:pt x="67539" y="0"/>
                  </a:moveTo>
                  <a:lnTo>
                    <a:pt x="1472157" y="0"/>
                  </a:lnTo>
                  <a:cubicBezTo>
                    <a:pt x="1490070" y="0"/>
                    <a:pt x="1507249" y="7116"/>
                    <a:pt x="1519915" y="19782"/>
                  </a:cubicBezTo>
                  <a:cubicBezTo>
                    <a:pt x="1532581" y="32448"/>
                    <a:pt x="1539697" y="49627"/>
                    <a:pt x="1539697" y="67539"/>
                  </a:cubicBezTo>
                  <a:lnTo>
                    <a:pt x="1539697" y="580653"/>
                  </a:lnTo>
                  <a:cubicBezTo>
                    <a:pt x="1539697" y="598565"/>
                    <a:pt x="1532581" y="615744"/>
                    <a:pt x="1519915" y="628410"/>
                  </a:cubicBezTo>
                  <a:cubicBezTo>
                    <a:pt x="1507249" y="641076"/>
                    <a:pt x="1490070" y="648192"/>
                    <a:pt x="1472157" y="648192"/>
                  </a:cubicBezTo>
                  <a:lnTo>
                    <a:pt x="67539" y="648192"/>
                  </a:lnTo>
                  <a:cubicBezTo>
                    <a:pt x="49627" y="648192"/>
                    <a:pt x="32448" y="641076"/>
                    <a:pt x="19782" y="628410"/>
                  </a:cubicBezTo>
                  <a:cubicBezTo>
                    <a:pt x="7116" y="615744"/>
                    <a:pt x="0" y="598565"/>
                    <a:pt x="0" y="580653"/>
                  </a:cubicBezTo>
                  <a:lnTo>
                    <a:pt x="0" y="67539"/>
                  </a:lnTo>
                  <a:cubicBezTo>
                    <a:pt x="0" y="49627"/>
                    <a:pt x="7116" y="32448"/>
                    <a:pt x="19782" y="19782"/>
                  </a:cubicBezTo>
                  <a:cubicBezTo>
                    <a:pt x="32448" y="7116"/>
                    <a:pt x="49627" y="0"/>
                    <a:pt x="67539" y="0"/>
                  </a:cubicBezTo>
                  <a:close/>
                </a:path>
              </a:pathLst>
            </a:custGeom>
            <a:solidFill>
              <a:srgbClr val="9B3F3D">
                <a:alpha val="32941"/>
              </a:srgbClr>
            </a:solidFill>
          </p:spPr>
        </p:sp>
        <p:sp>
          <p:nvSpPr>
            <p:cNvPr name="TextBox 41" id="41"/>
            <p:cNvSpPr txBox="true"/>
            <p:nvPr/>
          </p:nvSpPr>
          <p:spPr>
            <a:xfrm>
              <a:off x="0" y="95250"/>
              <a:ext cx="1539696" cy="552942"/>
            </a:xfrm>
            <a:prstGeom prst="rect">
              <a:avLst/>
            </a:prstGeom>
          </p:spPr>
          <p:txBody>
            <a:bodyPr anchor="ctr" rtlCol="false" tIns="50800" lIns="50800" bIns="50800" rIns="50800"/>
            <a:lstStyle/>
            <a:p>
              <a:pPr algn="ctr">
                <a:lnSpc>
                  <a:spcPts val="1625"/>
                </a:lnSpc>
              </a:pPr>
            </a:p>
          </p:txBody>
        </p:sp>
      </p:grpSp>
      <p:sp>
        <p:nvSpPr>
          <p:cNvPr name="Freeform 42" id="42"/>
          <p:cNvSpPr/>
          <p:nvPr/>
        </p:nvSpPr>
        <p:spPr>
          <a:xfrm flipH="false" flipV="false" rot="0">
            <a:off x="13030395" y="7019677"/>
            <a:ext cx="1605670" cy="1605670"/>
          </a:xfrm>
          <a:custGeom>
            <a:avLst/>
            <a:gdLst/>
            <a:ahLst/>
            <a:cxnLst/>
            <a:rect r="r" b="b" t="t" l="l"/>
            <a:pathLst>
              <a:path h="1605670" w="1605670">
                <a:moveTo>
                  <a:pt x="0" y="0"/>
                </a:moveTo>
                <a:lnTo>
                  <a:pt x="1605670" y="0"/>
                </a:lnTo>
                <a:lnTo>
                  <a:pt x="1605670" y="1605669"/>
                </a:lnTo>
                <a:lnTo>
                  <a:pt x="0" y="1605669"/>
                </a:lnTo>
                <a:lnTo>
                  <a:pt x="0" y="0"/>
                </a:lnTo>
                <a:close/>
              </a:path>
            </a:pathLst>
          </a:custGeom>
          <a:blipFill>
            <a:blip r:embed="rId6"/>
            <a:stretch>
              <a:fillRect l="0" t="0" r="0" b="0"/>
            </a:stretch>
          </a:blipFill>
        </p:spPr>
      </p:sp>
      <p:sp>
        <p:nvSpPr>
          <p:cNvPr name="Freeform 43" id="43"/>
          <p:cNvSpPr/>
          <p:nvPr/>
        </p:nvSpPr>
        <p:spPr>
          <a:xfrm flipH="false" flipV="false" rot="0">
            <a:off x="15412187" y="7151212"/>
            <a:ext cx="1605670" cy="1605670"/>
          </a:xfrm>
          <a:custGeom>
            <a:avLst/>
            <a:gdLst/>
            <a:ahLst/>
            <a:cxnLst/>
            <a:rect r="r" b="b" t="t" l="l"/>
            <a:pathLst>
              <a:path h="1605670" w="1605670">
                <a:moveTo>
                  <a:pt x="0" y="0"/>
                </a:moveTo>
                <a:lnTo>
                  <a:pt x="1605669" y="0"/>
                </a:lnTo>
                <a:lnTo>
                  <a:pt x="1605669" y="1605669"/>
                </a:lnTo>
                <a:lnTo>
                  <a:pt x="0" y="1605669"/>
                </a:lnTo>
                <a:lnTo>
                  <a:pt x="0" y="0"/>
                </a:lnTo>
                <a:close/>
              </a:path>
            </a:pathLst>
          </a:custGeom>
          <a:blipFill>
            <a:blip r:embed="rId7"/>
            <a:stretch>
              <a:fillRect l="0" t="0" r="0" b="0"/>
            </a:stretch>
          </a:blipFill>
        </p:spPr>
      </p:sp>
      <p:sp>
        <p:nvSpPr>
          <p:cNvPr name="TextBox 44" id="44"/>
          <p:cNvSpPr txBox="true"/>
          <p:nvPr/>
        </p:nvSpPr>
        <p:spPr>
          <a:xfrm rot="0">
            <a:off x="452661" y="366343"/>
            <a:ext cx="9777035" cy="887054"/>
          </a:xfrm>
          <a:prstGeom prst="rect">
            <a:avLst/>
          </a:prstGeom>
        </p:spPr>
        <p:txBody>
          <a:bodyPr anchor="t" rtlCol="false" tIns="0" lIns="0" bIns="0" rIns="0">
            <a:spAutoFit/>
          </a:bodyPr>
          <a:lstStyle/>
          <a:p>
            <a:pPr algn="l">
              <a:lnSpc>
                <a:spcPts val="6319"/>
              </a:lnSpc>
            </a:pPr>
            <a:r>
              <a:rPr lang="en-US" sz="5961" b="true">
                <a:solidFill>
                  <a:srgbClr val="000000"/>
                </a:solidFill>
                <a:latin typeface="Poppins Semi-Bold"/>
                <a:ea typeface="Poppins Semi-Bold"/>
                <a:cs typeface="Poppins Semi-Bold"/>
                <a:sym typeface="Poppins Semi-Bold"/>
              </a:rPr>
              <a:t>Customer Experience</a:t>
            </a:r>
          </a:p>
        </p:txBody>
      </p:sp>
      <p:sp>
        <p:nvSpPr>
          <p:cNvPr name="TextBox 45" id="45"/>
          <p:cNvSpPr txBox="true"/>
          <p:nvPr/>
        </p:nvSpPr>
        <p:spPr>
          <a:xfrm rot="0">
            <a:off x="12928248" y="8785456"/>
            <a:ext cx="4529113" cy="714375"/>
          </a:xfrm>
          <a:prstGeom prst="rect">
            <a:avLst/>
          </a:prstGeom>
        </p:spPr>
        <p:txBody>
          <a:bodyPr anchor="t" rtlCol="false" tIns="0" lIns="0" bIns="0" rIns="0">
            <a:spAutoFit/>
          </a:bodyPr>
          <a:lstStyle/>
          <a:p>
            <a:pPr algn="ctr">
              <a:lnSpc>
                <a:spcPts val="2400"/>
              </a:lnSpc>
            </a:pPr>
            <a:r>
              <a:rPr lang="en-US" sz="3000" spc="-30">
                <a:solidFill>
                  <a:srgbClr val="FDF9DE"/>
                </a:solidFill>
                <a:latin typeface="Impact"/>
                <a:ea typeface="Impact"/>
                <a:cs typeface="Impact"/>
                <a:sym typeface="Impact"/>
              </a:rPr>
              <a:t>REFUND, RETURN AND CUSTOMER SUCCESS</a:t>
            </a:r>
          </a:p>
        </p:txBody>
      </p:sp>
      <p:grpSp>
        <p:nvGrpSpPr>
          <p:cNvPr name="Group 46" id="46"/>
          <p:cNvGrpSpPr/>
          <p:nvPr/>
        </p:nvGrpSpPr>
        <p:grpSpPr>
          <a:xfrm rot="0">
            <a:off x="0" y="9555697"/>
            <a:ext cx="4099091" cy="731303"/>
            <a:chOff x="0" y="0"/>
            <a:chExt cx="5465455" cy="975071"/>
          </a:xfrm>
        </p:grpSpPr>
        <p:grpSp>
          <p:nvGrpSpPr>
            <p:cNvPr name="Group 47" id="47"/>
            <p:cNvGrpSpPr/>
            <p:nvPr/>
          </p:nvGrpSpPr>
          <p:grpSpPr>
            <a:xfrm rot="0">
              <a:off x="0" y="0"/>
              <a:ext cx="975071" cy="975071"/>
              <a:chOff x="0" y="0"/>
              <a:chExt cx="812800" cy="812800"/>
            </a:xfrm>
          </p:grpSpPr>
          <p:sp>
            <p:nvSpPr>
              <p:cNvPr name="Freeform 48" id="4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8"/>
                <a:stretch>
                  <a:fillRect l="0" t="-446" r="0" b="0"/>
                </a:stretch>
              </a:blipFill>
            </p:spPr>
          </p:sp>
        </p:grpSp>
        <p:sp>
          <p:nvSpPr>
            <p:cNvPr name="TextBox 49" id="49"/>
            <p:cNvSpPr txBox="true"/>
            <p:nvPr/>
          </p:nvSpPr>
          <p:spPr>
            <a:xfrm rot="0">
              <a:off x="1141360" y="48747"/>
              <a:ext cx="2860498" cy="925689"/>
            </a:xfrm>
            <a:prstGeom prst="rect">
              <a:avLst/>
            </a:prstGeom>
          </p:spPr>
          <p:txBody>
            <a:bodyPr anchor="t" rtlCol="false" tIns="0" lIns="0" bIns="0" rIns="0">
              <a:spAutoFit/>
            </a:bodyPr>
            <a:lstStyle/>
            <a:p>
              <a:pPr algn="l">
                <a:lnSpc>
                  <a:spcPts val="5594"/>
                </a:lnSpc>
                <a:spcBef>
                  <a:spcPct val="0"/>
                </a:spcBef>
              </a:pPr>
              <a:r>
                <a:rPr lang="en-US" b="true" sz="3996">
                  <a:solidFill>
                    <a:srgbClr val="FFFFFF"/>
                  </a:solidFill>
                  <a:latin typeface="Poppins Bold"/>
                  <a:ea typeface="Poppins Bold"/>
                  <a:cs typeface="Poppins Bold"/>
                  <a:sym typeface="Poppins Bold"/>
                </a:rPr>
                <a:t>No</a:t>
              </a:r>
            </a:p>
          </p:txBody>
        </p:sp>
        <p:sp>
          <p:nvSpPr>
            <p:cNvPr name="TextBox 50" id="50"/>
            <p:cNvSpPr txBox="true"/>
            <p:nvPr/>
          </p:nvSpPr>
          <p:spPr>
            <a:xfrm rot="0">
              <a:off x="2184479" y="48747"/>
              <a:ext cx="3280976" cy="925689"/>
            </a:xfrm>
            <a:prstGeom prst="rect">
              <a:avLst/>
            </a:prstGeom>
          </p:spPr>
          <p:txBody>
            <a:bodyPr anchor="t" rtlCol="false" tIns="0" lIns="0" bIns="0" rIns="0">
              <a:spAutoFit/>
            </a:bodyPr>
            <a:lstStyle/>
            <a:p>
              <a:pPr algn="l">
                <a:lnSpc>
                  <a:spcPts val="5594"/>
                </a:lnSpc>
                <a:spcBef>
                  <a:spcPct val="0"/>
                </a:spcBef>
              </a:pPr>
              <a:r>
                <a:rPr lang="en-US" b="true" sz="3996">
                  <a:solidFill>
                    <a:srgbClr val="FFFFFF"/>
                  </a:solidFill>
                  <a:latin typeface="Poppins Semi-Bold"/>
                  <a:ea typeface="Poppins Semi-Bold"/>
                  <a:cs typeface="Poppins Semi-Bold"/>
                  <a:sym typeface="Poppins Semi-Bold"/>
                </a:rPr>
                <a:t>Parking</a:t>
              </a:r>
            </a:p>
          </p:txBody>
        </p:sp>
      </p:grpSp>
      <p:sp>
        <p:nvSpPr>
          <p:cNvPr name="TextBox 51" id="51"/>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DCD7F1"/>
        </a:solidFill>
      </p:bgPr>
    </p:bg>
    <p:spTree>
      <p:nvGrpSpPr>
        <p:cNvPr id="1" name=""/>
        <p:cNvGrpSpPr/>
        <p:nvPr/>
      </p:nvGrpSpPr>
      <p:grpSpPr>
        <a:xfrm>
          <a:off x="0" y="0"/>
          <a:ext cx="0" cy="0"/>
          <a:chOff x="0" y="0"/>
          <a:chExt cx="0" cy="0"/>
        </a:xfrm>
      </p:grpSpPr>
      <p:sp>
        <p:nvSpPr>
          <p:cNvPr name="AutoShape 2" id="2"/>
          <p:cNvSpPr/>
          <p:nvPr/>
        </p:nvSpPr>
        <p:spPr>
          <a:xfrm>
            <a:off x="1028700" y="2219676"/>
            <a:ext cx="16230600" cy="0"/>
          </a:xfrm>
          <a:prstGeom prst="line">
            <a:avLst/>
          </a:prstGeom>
          <a:ln cap="flat" w="628650">
            <a:gradFill>
              <a:gsLst>
                <a:gs pos="0">
                  <a:srgbClr val="8C52FF">
                    <a:alpha val="100000"/>
                  </a:srgbClr>
                </a:gs>
                <a:gs pos="100000">
                  <a:srgbClr val="FF914D">
                    <a:alpha val="100000"/>
                  </a:srgbClr>
                </a:gs>
              </a:gsLst>
              <a:lin ang="0"/>
            </a:gradFill>
            <a:prstDash val="solid"/>
            <a:headEnd type="none" len="sm" w="sm"/>
            <a:tailEnd type="arrow" len="sm" w="med"/>
          </a:ln>
        </p:spPr>
      </p:sp>
      <p:grpSp>
        <p:nvGrpSpPr>
          <p:cNvPr name="Group 3" id="3"/>
          <p:cNvGrpSpPr/>
          <p:nvPr/>
        </p:nvGrpSpPr>
        <p:grpSpPr>
          <a:xfrm rot="0">
            <a:off x="848458" y="2967404"/>
            <a:ext cx="16935450" cy="6175345"/>
            <a:chOff x="0" y="0"/>
            <a:chExt cx="4460365" cy="1626428"/>
          </a:xfrm>
        </p:grpSpPr>
        <p:sp>
          <p:nvSpPr>
            <p:cNvPr name="Freeform 4" id="4"/>
            <p:cNvSpPr/>
            <p:nvPr/>
          </p:nvSpPr>
          <p:spPr>
            <a:xfrm flipH="false" flipV="false" rot="0">
              <a:off x="0" y="0"/>
              <a:ext cx="4460365" cy="1626428"/>
            </a:xfrm>
            <a:custGeom>
              <a:avLst/>
              <a:gdLst/>
              <a:ahLst/>
              <a:cxnLst/>
              <a:rect r="r" b="b" t="t" l="l"/>
              <a:pathLst>
                <a:path h="1626428" w="4460365">
                  <a:moveTo>
                    <a:pt x="23314" y="0"/>
                  </a:moveTo>
                  <a:lnTo>
                    <a:pt x="4437051" y="0"/>
                  </a:lnTo>
                  <a:cubicBezTo>
                    <a:pt x="4449927" y="0"/>
                    <a:pt x="4460365" y="10438"/>
                    <a:pt x="4460365" y="23314"/>
                  </a:cubicBezTo>
                  <a:lnTo>
                    <a:pt x="4460365" y="1603114"/>
                  </a:lnTo>
                  <a:cubicBezTo>
                    <a:pt x="4460365" y="1615990"/>
                    <a:pt x="4449927" y="1626428"/>
                    <a:pt x="4437051" y="1626428"/>
                  </a:cubicBezTo>
                  <a:lnTo>
                    <a:pt x="23314" y="1626428"/>
                  </a:lnTo>
                  <a:cubicBezTo>
                    <a:pt x="17131" y="1626428"/>
                    <a:pt x="11201" y="1623972"/>
                    <a:pt x="6829" y="1619600"/>
                  </a:cubicBezTo>
                  <a:cubicBezTo>
                    <a:pt x="2456" y="1615228"/>
                    <a:pt x="0" y="1609298"/>
                    <a:pt x="0" y="1603114"/>
                  </a:cubicBezTo>
                  <a:lnTo>
                    <a:pt x="0" y="23314"/>
                  </a:lnTo>
                  <a:cubicBezTo>
                    <a:pt x="0" y="10438"/>
                    <a:pt x="10438" y="0"/>
                    <a:pt x="23314" y="0"/>
                  </a:cubicBezTo>
                  <a:close/>
                </a:path>
              </a:pathLst>
            </a:custGeom>
            <a:gradFill rotWithShape="true">
              <a:gsLst>
                <a:gs pos="0">
                  <a:srgbClr val="8C52FF">
                    <a:alpha val="100000"/>
                  </a:srgbClr>
                </a:gs>
                <a:gs pos="100000">
                  <a:srgbClr val="FF914D">
                    <a:alpha val="100000"/>
                  </a:srgbClr>
                </a:gs>
              </a:gsLst>
              <a:lin ang="0"/>
            </a:gradFill>
          </p:spPr>
        </p:sp>
        <p:sp>
          <p:nvSpPr>
            <p:cNvPr name="TextBox 5" id="5"/>
            <p:cNvSpPr txBox="true"/>
            <p:nvPr/>
          </p:nvSpPr>
          <p:spPr>
            <a:xfrm>
              <a:off x="0" y="95250"/>
              <a:ext cx="4460365" cy="1531178"/>
            </a:xfrm>
            <a:prstGeom prst="rect">
              <a:avLst/>
            </a:prstGeom>
          </p:spPr>
          <p:txBody>
            <a:bodyPr anchor="ctr" rtlCol="false" tIns="50800" lIns="50800" bIns="50800" rIns="50800"/>
            <a:lstStyle/>
            <a:p>
              <a:pPr algn="ctr">
                <a:lnSpc>
                  <a:spcPts val="1625"/>
                </a:lnSpc>
              </a:pPr>
            </a:p>
          </p:txBody>
        </p:sp>
      </p:grpSp>
      <p:sp>
        <p:nvSpPr>
          <p:cNvPr name="TextBox 6" id="6"/>
          <p:cNvSpPr txBox="true"/>
          <p:nvPr/>
        </p:nvSpPr>
        <p:spPr>
          <a:xfrm rot="0">
            <a:off x="-172496" y="152751"/>
            <a:ext cx="17157829" cy="1028700"/>
          </a:xfrm>
          <a:prstGeom prst="rect">
            <a:avLst/>
          </a:prstGeom>
        </p:spPr>
        <p:txBody>
          <a:bodyPr anchor="t" rtlCol="false" tIns="0" lIns="0" bIns="0" rIns="0">
            <a:spAutoFit/>
          </a:bodyPr>
          <a:lstStyle/>
          <a:p>
            <a:pPr algn="ctr">
              <a:lnSpc>
                <a:spcPts val="8400"/>
              </a:lnSpc>
            </a:pPr>
            <a:r>
              <a:rPr lang="en-US" sz="6000" b="true">
                <a:solidFill>
                  <a:srgbClr val="231F20"/>
                </a:solidFill>
                <a:latin typeface="Canva Sans Bold"/>
                <a:ea typeface="Canva Sans Bold"/>
                <a:cs typeface="Canva Sans Bold"/>
                <a:sym typeface="Canva Sans Bold"/>
              </a:rPr>
              <a:t>Customer Controls: </a:t>
            </a:r>
            <a:r>
              <a:rPr lang="en-US" sz="6000">
                <a:solidFill>
                  <a:srgbClr val="231F20"/>
                </a:solidFill>
                <a:latin typeface="Canva Sans"/>
                <a:ea typeface="Canva Sans"/>
                <a:cs typeface="Canva Sans"/>
                <a:sym typeface="Canva Sans"/>
              </a:rPr>
              <a:t>Choose your experience</a:t>
            </a:r>
          </a:p>
        </p:txBody>
      </p:sp>
      <p:sp>
        <p:nvSpPr>
          <p:cNvPr name="TextBox 7" id="7"/>
          <p:cNvSpPr txBox="true"/>
          <p:nvPr/>
        </p:nvSpPr>
        <p:spPr>
          <a:xfrm rot="0">
            <a:off x="13962935" y="2999691"/>
            <a:ext cx="3629758" cy="1019175"/>
          </a:xfrm>
          <a:prstGeom prst="rect">
            <a:avLst/>
          </a:prstGeom>
        </p:spPr>
        <p:txBody>
          <a:bodyPr anchor="t" rtlCol="false" tIns="0" lIns="0" bIns="0" rIns="0">
            <a:spAutoFit/>
          </a:bodyPr>
          <a:lstStyle/>
          <a:p>
            <a:pPr algn="ctr">
              <a:lnSpc>
                <a:spcPts val="4199"/>
              </a:lnSpc>
            </a:pPr>
            <a:r>
              <a:rPr lang="en-US" sz="2999" b="true">
                <a:solidFill>
                  <a:srgbClr val="FFFFFF"/>
                </a:solidFill>
                <a:latin typeface="Canva Sans Bold"/>
                <a:ea typeface="Canva Sans Bold"/>
                <a:cs typeface="Canva Sans Bold"/>
                <a:sym typeface="Canva Sans Bold"/>
              </a:rPr>
              <a:t>Deep Personalization</a:t>
            </a:r>
          </a:p>
        </p:txBody>
      </p:sp>
      <p:sp>
        <p:nvSpPr>
          <p:cNvPr name="TextBox 8" id="8"/>
          <p:cNvSpPr txBox="true"/>
          <p:nvPr/>
        </p:nvSpPr>
        <p:spPr>
          <a:xfrm rot="0">
            <a:off x="848458" y="3207385"/>
            <a:ext cx="3629758" cy="495300"/>
          </a:xfrm>
          <a:prstGeom prst="rect">
            <a:avLst/>
          </a:prstGeom>
        </p:spPr>
        <p:txBody>
          <a:bodyPr anchor="t" rtlCol="false" tIns="0" lIns="0" bIns="0" rIns="0">
            <a:spAutoFit/>
          </a:bodyPr>
          <a:lstStyle/>
          <a:p>
            <a:pPr algn="ctr">
              <a:lnSpc>
                <a:spcPts val="4199"/>
              </a:lnSpc>
            </a:pPr>
            <a:r>
              <a:rPr lang="en-US" sz="2999" b="true">
                <a:solidFill>
                  <a:srgbClr val="FFFFFF"/>
                </a:solidFill>
                <a:latin typeface="Canva Sans Bold"/>
                <a:ea typeface="Canva Sans Bold"/>
                <a:cs typeface="Canva Sans Bold"/>
                <a:sym typeface="Canva Sans Bold"/>
              </a:rPr>
              <a:t>Generalization</a:t>
            </a:r>
          </a:p>
        </p:txBody>
      </p:sp>
      <p:sp>
        <p:nvSpPr>
          <p:cNvPr name="TextBox 9" id="9"/>
          <p:cNvSpPr txBox="true"/>
          <p:nvPr/>
        </p:nvSpPr>
        <p:spPr>
          <a:xfrm rot="0">
            <a:off x="7329121" y="2999691"/>
            <a:ext cx="3629758" cy="1019175"/>
          </a:xfrm>
          <a:prstGeom prst="rect">
            <a:avLst/>
          </a:prstGeom>
        </p:spPr>
        <p:txBody>
          <a:bodyPr anchor="t" rtlCol="false" tIns="0" lIns="0" bIns="0" rIns="0">
            <a:spAutoFit/>
          </a:bodyPr>
          <a:lstStyle/>
          <a:p>
            <a:pPr algn="ctr">
              <a:lnSpc>
                <a:spcPts val="4199"/>
              </a:lnSpc>
            </a:pPr>
            <a:r>
              <a:rPr lang="en-US" sz="2999" b="true">
                <a:solidFill>
                  <a:srgbClr val="FFFFFF"/>
                </a:solidFill>
                <a:latin typeface="Canva Sans Bold"/>
                <a:ea typeface="Canva Sans Bold"/>
                <a:cs typeface="Canva Sans Bold"/>
                <a:sym typeface="Canva Sans Bold"/>
              </a:rPr>
              <a:t>Moderately Personalized</a:t>
            </a:r>
          </a:p>
        </p:txBody>
      </p:sp>
      <p:grpSp>
        <p:nvGrpSpPr>
          <p:cNvPr name="Group 10" id="10"/>
          <p:cNvGrpSpPr/>
          <p:nvPr/>
        </p:nvGrpSpPr>
        <p:grpSpPr>
          <a:xfrm rot="0">
            <a:off x="1272402" y="4425299"/>
            <a:ext cx="16206438" cy="1096052"/>
            <a:chOff x="0" y="0"/>
            <a:chExt cx="4268362" cy="288672"/>
          </a:xfrm>
        </p:grpSpPr>
        <p:sp>
          <p:nvSpPr>
            <p:cNvPr name="Freeform 11" id="11"/>
            <p:cNvSpPr/>
            <p:nvPr/>
          </p:nvSpPr>
          <p:spPr>
            <a:xfrm flipH="false" flipV="false" rot="0">
              <a:off x="0" y="0"/>
              <a:ext cx="4268362" cy="288672"/>
            </a:xfrm>
            <a:custGeom>
              <a:avLst/>
              <a:gdLst/>
              <a:ahLst/>
              <a:cxnLst/>
              <a:rect r="r" b="b" t="t" l="l"/>
              <a:pathLst>
                <a:path h="288672" w="4268362">
                  <a:moveTo>
                    <a:pt x="0" y="0"/>
                  </a:moveTo>
                  <a:lnTo>
                    <a:pt x="4268362" y="0"/>
                  </a:lnTo>
                  <a:lnTo>
                    <a:pt x="4268362" y="288672"/>
                  </a:lnTo>
                  <a:lnTo>
                    <a:pt x="0" y="288672"/>
                  </a:lnTo>
                  <a:close/>
                </a:path>
              </a:pathLst>
            </a:custGeom>
            <a:solidFill>
              <a:srgbClr val="FF7009">
                <a:alpha val="14902"/>
              </a:srgbClr>
            </a:solidFill>
            <a:ln cap="sq">
              <a:noFill/>
              <a:prstDash val="sysDot"/>
              <a:miter/>
            </a:ln>
          </p:spPr>
        </p:sp>
        <p:sp>
          <p:nvSpPr>
            <p:cNvPr name="TextBox 12" id="12"/>
            <p:cNvSpPr txBox="true"/>
            <p:nvPr/>
          </p:nvSpPr>
          <p:spPr>
            <a:xfrm>
              <a:off x="0" y="95250"/>
              <a:ext cx="4268362" cy="193422"/>
            </a:xfrm>
            <a:prstGeom prst="rect">
              <a:avLst/>
            </a:prstGeom>
          </p:spPr>
          <p:txBody>
            <a:bodyPr anchor="ctr" rtlCol="false" tIns="50800" lIns="50800" bIns="50800" rIns="50800"/>
            <a:lstStyle/>
            <a:p>
              <a:pPr algn="ctr">
                <a:lnSpc>
                  <a:spcPts val="1625"/>
                </a:lnSpc>
              </a:pPr>
            </a:p>
          </p:txBody>
        </p:sp>
      </p:grpSp>
      <p:sp>
        <p:nvSpPr>
          <p:cNvPr name="TextBox 13" id="13"/>
          <p:cNvSpPr txBox="true"/>
          <p:nvPr/>
        </p:nvSpPr>
        <p:spPr>
          <a:xfrm rot="0">
            <a:off x="8090637" y="4182344"/>
            <a:ext cx="1843372" cy="527049"/>
          </a:xfrm>
          <a:prstGeom prst="rect">
            <a:avLst/>
          </a:prstGeom>
        </p:spPr>
        <p:txBody>
          <a:bodyPr anchor="t" rtlCol="false" tIns="0" lIns="0" bIns="0" rIns="0">
            <a:spAutoFit/>
          </a:bodyPr>
          <a:lstStyle/>
          <a:p>
            <a:pPr algn="ctr">
              <a:lnSpc>
                <a:spcPts val="3199"/>
              </a:lnSpc>
            </a:pPr>
            <a:r>
              <a:rPr lang="en-US" sz="3999" spc="-39">
                <a:solidFill>
                  <a:srgbClr val="FDF9DE"/>
                </a:solidFill>
                <a:latin typeface="Impact"/>
                <a:ea typeface="Impact"/>
                <a:cs typeface="Impact"/>
                <a:sym typeface="Impact"/>
              </a:rPr>
              <a:t>DESIRE</a:t>
            </a:r>
          </a:p>
        </p:txBody>
      </p:sp>
      <p:grpSp>
        <p:nvGrpSpPr>
          <p:cNvPr name="Group 14" id="14"/>
          <p:cNvGrpSpPr/>
          <p:nvPr/>
        </p:nvGrpSpPr>
        <p:grpSpPr>
          <a:xfrm rot="0">
            <a:off x="1272402" y="5702326"/>
            <a:ext cx="16206438" cy="1415207"/>
            <a:chOff x="0" y="0"/>
            <a:chExt cx="21608584" cy="1886943"/>
          </a:xfrm>
        </p:grpSpPr>
        <p:grpSp>
          <p:nvGrpSpPr>
            <p:cNvPr name="Group 15" id="15"/>
            <p:cNvGrpSpPr/>
            <p:nvPr/>
          </p:nvGrpSpPr>
          <p:grpSpPr>
            <a:xfrm rot="0">
              <a:off x="0" y="425539"/>
              <a:ext cx="21608584" cy="1461403"/>
              <a:chOff x="0" y="0"/>
              <a:chExt cx="4268362" cy="288672"/>
            </a:xfrm>
          </p:grpSpPr>
          <p:sp>
            <p:nvSpPr>
              <p:cNvPr name="Freeform 16" id="16"/>
              <p:cNvSpPr/>
              <p:nvPr/>
            </p:nvSpPr>
            <p:spPr>
              <a:xfrm flipH="false" flipV="false" rot="0">
                <a:off x="0" y="0"/>
                <a:ext cx="4268362" cy="288672"/>
              </a:xfrm>
              <a:custGeom>
                <a:avLst/>
                <a:gdLst/>
                <a:ahLst/>
                <a:cxnLst/>
                <a:rect r="r" b="b" t="t" l="l"/>
                <a:pathLst>
                  <a:path h="288672" w="4268362">
                    <a:moveTo>
                      <a:pt x="0" y="0"/>
                    </a:moveTo>
                    <a:lnTo>
                      <a:pt x="4268362" y="0"/>
                    </a:lnTo>
                    <a:lnTo>
                      <a:pt x="4268362" y="288672"/>
                    </a:lnTo>
                    <a:lnTo>
                      <a:pt x="0" y="288672"/>
                    </a:lnTo>
                    <a:close/>
                  </a:path>
                </a:pathLst>
              </a:custGeom>
              <a:solidFill>
                <a:srgbClr val="FF7009">
                  <a:alpha val="14902"/>
                </a:srgbClr>
              </a:solidFill>
            </p:spPr>
          </p:sp>
          <p:sp>
            <p:nvSpPr>
              <p:cNvPr name="TextBox 17" id="17"/>
              <p:cNvSpPr txBox="true"/>
              <p:nvPr/>
            </p:nvSpPr>
            <p:spPr>
              <a:xfrm>
                <a:off x="0" y="95250"/>
                <a:ext cx="4268362" cy="193422"/>
              </a:xfrm>
              <a:prstGeom prst="rect">
                <a:avLst/>
              </a:prstGeom>
            </p:spPr>
            <p:txBody>
              <a:bodyPr anchor="ctr" rtlCol="false" tIns="50800" lIns="50800" bIns="50800" rIns="50800"/>
              <a:lstStyle/>
              <a:p>
                <a:pPr algn="ctr">
                  <a:lnSpc>
                    <a:spcPts val="1625"/>
                  </a:lnSpc>
                </a:pPr>
              </a:p>
            </p:txBody>
          </p:sp>
        </p:grpSp>
        <p:sp>
          <p:nvSpPr>
            <p:cNvPr name="TextBox 18" id="18"/>
            <p:cNvSpPr txBox="true"/>
            <p:nvPr/>
          </p:nvSpPr>
          <p:spPr>
            <a:xfrm rot="0">
              <a:off x="9090980" y="76200"/>
              <a:ext cx="2457830" cy="728132"/>
            </a:xfrm>
            <a:prstGeom prst="rect">
              <a:avLst/>
            </a:prstGeom>
          </p:spPr>
          <p:txBody>
            <a:bodyPr anchor="t" rtlCol="false" tIns="0" lIns="0" bIns="0" rIns="0">
              <a:spAutoFit/>
            </a:bodyPr>
            <a:lstStyle/>
            <a:p>
              <a:pPr algn="ctr">
                <a:lnSpc>
                  <a:spcPts val="3199"/>
                </a:lnSpc>
              </a:pPr>
              <a:r>
                <a:rPr lang="en-US" sz="3999" spc="-39">
                  <a:solidFill>
                    <a:srgbClr val="FDF9DE"/>
                  </a:solidFill>
                  <a:latin typeface="Impact"/>
                  <a:ea typeface="Impact"/>
                  <a:cs typeface="Impact"/>
                  <a:sym typeface="Impact"/>
                </a:rPr>
                <a:t>ACTION</a:t>
              </a:r>
            </a:p>
          </p:txBody>
        </p:sp>
      </p:grpSp>
      <p:grpSp>
        <p:nvGrpSpPr>
          <p:cNvPr name="Group 19" id="19"/>
          <p:cNvGrpSpPr/>
          <p:nvPr/>
        </p:nvGrpSpPr>
        <p:grpSpPr>
          <a:xfrm rot="0">
            <a:off x="1272402" y="7579563"/>
            <a:ext cx="16206438" cy="1096052"/>
            <a:chOff x="0" y="0"/>
            <a:chExt cx="4268362" cy="288672"/>
          </a:xfrm>
        </p:grpSpPr>
        <p:sp>
          <p:nvSpPr>
            <p:cNvPr name="Freeform 20" id="20"/>
            <p:cNvSpPr/>
            <p:nvPr/>
          </p:nvSpPr>
          <p:spPr>
            <a:xfrm flipH="false" flipV="false" rot="0">
              <a:off x="0" y="0"/>
              <a:ext cx="4268362" cy="288672"/>
            </a:xfrm>
            <a:custGeom>
              <a:avLst/>
              <a:gdLst/>
              <a:ahLst/>
              <a:cxnLst/>
              <a:rect r="r" b="b" t="t" l="l"/>
              <a:pathLst>
                <a:path h="288672" w="4268362">
                  <a:moveTo>
                    <a:pt x="0" y="0"/>
                  </a:moveTo>
                  <a:lnTo>
                    <a:pt x="4268362" y="0"/>
                  </a:lnTo>
                  <a:lnTo>
                    <a:pt x="4268362" y="288672"/>
                  </a:lnTo>
                  <a:lnTo>
                    <a:pt x="0" y="288672"/>
                  </a:lnTo>
                  <a:close/>
                </a:path>
              </a:pathLst>
            </a:custGeom>
            <a:solidFill>
              <a:srgbClr val="FF7009">
                <a:alpha val="14902"/>
              </a:srgbClr>
            </a:solidFill>
          </p:spPr>
        </p:sp>
        <p:sp>
          <p:nvSpPr>
            <p:cNvPr name="TextBox 21" id="21"/>
            <p:cNvSpPr txBox="true"/>
            <p:nvPr/>
          </p:nvSpPr>
          <p:spPr>
            <a:xfrm>
              <a:off x="0" y="95250"/>
              <a:ext cx="4268362" cy="193422"/>
            </a:xfrm>
            <a:prstGeom prst="rect">
              <a:avLst/>
            </a:prstGeom>
          </p:spPr>
          <p:txBody>
            <a:bodyPr anchor="ctr" rtlCol="false" tIns="50800" lIns="50800" bIns="50800" rIns="50800"/>
            <a:lstStyle/>
            <a:p>
              <a:pPr algn="ctr">
                <a:lnSpc>
                  <a:spcPts val="1625"/>
                </a:lnSpc>
              </a:pPr>
            </a:p>
          </p:txBody>
        </p:sp>
      </p:grpSp>
      <p:sp>
        <p:nvSpPr>
          <p:cNvPr name="TextBox 22" id="22"/>
          <p:cNvSpPr txBox="true"/>
          <p:nvPr/>
        </p:nvSpPr>
        <p:spPr>
          <a:xfrm rot="0">
            <a:off x="8090637" y="7336608"/>
            <a:ext cx="1843372" cy="527049"/>
          </a:xfrm>
          <a:prstGeom prst="rect">
            <a:avLst/>
          </a:prstGeom>
        </p:spPr>
        <p:txBody>
          <a:bodyPr anchor="t" rtlCol="false" tIns="0" lIns="0" bIns="0" rIns="0">
            <a:spAutoFit/>
          </a:bodyPr>
          <a:lstStyle/>
          <a:p>
            <a:pPr algn="ctr">
              <a:lnSpc>
                <a:spcPts val="3199"/>
              </a:lnSpc>
            </a:pPr>
            <a:r>
              <a:rPr lang="en-US" sz="3999" spc="-39">
                <a:solidFill>
                  <a:srgbClr val="FDF9DE"/>
                </a:solidFill>
                <a:latin typeface="Impact"/>
                <a:ea typeface="Impact"/>
                <a:cs typeface="Impact"/>
                <a:sym typeface="Impact"/>
              </a:rPr>
              <a:t>LOYALTY</a:t>
            </a:r>
          </a:p>
        </p:txBody>
      </p:sp>
      <p:sp>
        <p:nvSpPr>
          <p:cNvPr name="TextBox 23" id="23"/>
          <p:cNvSpPr txBox="true"/>
          <p:nvPr/>
        </p:nvSpPr>
        <p:spPr>
          <a:xfrm rot="0">
            <a:off x="1515243" y="4649805"/>
            <a:ext cx="2962972" cy="60452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Time Spent: 14-21 days</a:t>
            </a:r>
          </a:p>
          <a:p>
            <a:pPr algn="l">
              <a:lnSpc>
                <a:spcPts val="2380"/>
              </a:lnSpc>
              <a:spcBef>
                <a:spcPct val="0"/>
              </a:spcBef>
            </a:pPr>
            <a:r>
              <a:rPr lang="en-US" sz="1700">
                <a:solidFill>
                  <a:srgbClr val="000000"/>
                </a:solidFill>
                <a:latin typeface="Poppins"/>
                <a:ea typeface="Poppins"/>
                <a:cs typeface="Poppins"/>
                <a:sym typeface="Poppins"/>
              </a:rPr>
              <a:t>Conversion Rate: 15-20%</a:t>
            </a:r>
          </a:p>
        </p:txBody>
      </p:sp>
      <p:sp>
        <p:nvSpPr>
          <p:cNvPr name="TextBox 24" id="24"/>
          <p:cNvSpPr txBox="true"/>
          <p:nvPr/>
        </p:nvSpPr>
        <p:spPr>
          <a:xfrm rot="0">
            <a:off x="7530837" y="4649805"/>
            <a:ext cx="2962972" cy="60452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Time Spent: 7-10 days</a:t>
            </a:r>
          </a:p>
          <a:p>
            <a:pPr algn="l">
              <a:lnSpc>
                <a:spcPts val="2380"/>
              </a:lnSpc>
              <a:spcBef>
                <a:spcPct val="0"/>
              </a:spcBef>
            </a:pPr>
            <a:r>
              <a:rPr lang="en-US" sz="1700">
                <a:solidFill>
                  <a:srgbClr val="000000"/>
                </a:solidFill>
                <a:latin typeface="Poppins"/>
                <a:ea typeface="Poppins"/>
                <a:cs typeface="Poppins"/>
                <a:sym typeface="Poppins"/>
              </a:rPr>
              <a:t>Conversion Rate: 25-30%</a:t>
            </a:r>
          </a:p>
        </p:txBody>
      </p:sp>
      <p:sp>
        <p:nvSpPr>
          <p:cNvPr name="TextBox 25" id="25"/>
          <p:cNvSpPr txBox="true"/>
          <p:nvPr/>
        </p:nvSpPr>
        <p:spPr>
          <a:xfrm rot="0">
            <a:off x="14296328" y="4649805"/>
            <a:ext cx="2962972" cy="60452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Time Spent: 3-5 days</a:t>
            </a:r>
          </a:p>
          <a:p>
            <a:pPr algn="l">
              <a:lnSpc>
                <a:spcPts val="2380"/>
              </a:lnSpc>
              <a:spcBef>
                <a:spcPct val="0"/>
              </a:spcBef>
            </a:pPr>
            <a:r>
              <a:rPr lang="en-US" sz="1700">
                <a:solidFill>
                  <a:srgbClr val="000000"/>
                </a:solidFill>
                <a:latin typeface="Poppins"/>
                <a:ea typeface="Poppins"/>
                <a:cs typeface="Poppins"/>
                <a:sym typeface="Poppins"/>
              </a:rPr>
              <a:t>Conversion Rate: 60%</a:t>
            </a:r>
          </a:p>
        </p:txBody>
      </p:sp>
      <p:sp>
        <p:nvSpPr>
          <p:cNvPr name="TextBox 26" id="26"/>
          <p:cNvSpPr txBox="true"/>
          <p:nvPr/>
        </p:nvSpPr>
        <p:spPr>
          <a:xfrm rot="0">
            <a:off x="1515243" y="6244616"/>
            <a:ext cx="4248851" cy="60452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Time Spent: 7-14 days </a:t>
            </a:r>
          </a:p>
          <a:p>
            <a:pPr algn="l">
              <a:lnSpc>
                <a:spcPts val="2380"/>
              </a:lnSpc>
              <a:spcBef>
                <a:spcPct val="0"/>
              </a:spcBef>
            </a:pPr>
            <a:r>
              <a:rPr lang="en-US" sz="1700">
                <a:solidFill>
                  <a:srgbClr val="000000"/>
                </a:solidFill>
                <a:latin typeface="Poppins"/>
                <a:ea typeface="Poppins"/>
                <a:cs typeface="Poppins"/>
                <a:sym typeface="Poppins"/>
              </a:rPr>
              <a:t>Conversion Rate: 10-20%</a:t>
            </a:r>
          </a:p>
        </p:txBody>
      </p:sp>
      <p:sp>
        <p:nvSpPr>
          <p:cNvPr name="TextBox 27" id="27"/>
          <p:cNvSpPr txBox="true"/>
          <p:nvPr/>
        </p:nvSpPr>
        <p:spPr>
          <a:xfrm rot="0">
            <a:off x="7519187" y="6244616"/>
            <a:ext cx="2962972" cy="60452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Time Spent: 5-7 days</a:t>
            </a:r>
          </a:p>
          <a:p>
            <a:pPr algn="l">
              <a:lnSpc>
                <a:spcPts val="2380"/>
              </a:lnSpc>
              <a:spcBef>
                <a:spcPct val="0"/>
              </a:spcBef>
            </a:pPr>
            <a:r>
              <a:rPr lang="en-US" sz="1700">
                <a:solidFill>
                  <a:srgbClr val="000000"/>
                </a:solidFill>
                <a:latin typeface="Poppins"/>
                <a:ea typeface="Poppins"/>
                <a:cs typeface="Poppins"/>
                <a:sym typeface="Poppins"/>
              </a:rPr>
              <a:t>Conversion Rate: 30-40%</a:t>
            </a:r>
          </a:p>
        </p:txBody>
      </p:sp>
      <p:sp>
        <p:nvSpPr>
          <p:cNvPr name="TextBox 28" id="28"/>
          <p:cNvSpPr txBox="true"/>
          <p:nvPr/>
        </p:nvSpPr>
        <p:spPr>
          <a:xfrm rot="0">
            <a:off x="14284678" y="6244616"/>
            <a:ext cx="2962972" cy="60452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Time Spent: 1-3 days</a:t>
            </a:r>
          </a:p>
          <a:p>
            <a:pPr algn="l">
              <a:lnSpc>
                <a:spcPts val="2380"/>
              </a:lnSpc>
              <a:spcBef>
                <a:spcPct val="0"/>
              </a:spcBef>
            </a:pPr>
            <a:r>
              <a:rPr lang="en-US" sz="1700">
                <a:solidFill>
                  <a:srgbClr val="000000"/>
                </a:solidFill>
                <a:latin typeface="Poppins"/>
                <a:ea typeface="Poppins"/>
                <a:cs typeface="Poppins"/>
                <a:sym typeface="Poppins"/>
              </a:rPr>
              <a:t>Conversion Rate: 50-70%</a:t>
            </a:r>
          </a:p>
        </p:txBody>
      </p:sp>
      <p:sp>
        <p:nvSpPr>
          <p:cNvPr name="TextBox 29" id="29"/>
          <p:cNvSpPr txBox="true"/>
          <p:nvPr/>
        </p:nvSpPr>
        <p:spPr>
          <a:xfrm rot="0">
            <a:off x="1444154" y="7767456"/>
            <a:ext cx="4319940" cy="60452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Time Spent: &lt;1 month</a:t>
            </a:r>
          </a:p>
          <a:p>
            <a:pPr algn="l">
              <a:lnSpc>
                <a:spcPts val="2380"/>
              </a:lnSpc>
              <a:spcBef>
                <a:spcPct val="0"/>
              </a:spcBef>
            </a:pPr>
            <a:r>
              <a:rPr lang="en-US" sz="1700">
                <a:solidFill>
                  <a:srgbClr val="000000"/>
                </a:solidFill>
                <a:latin typeface="Poppins"/>
                <a:ea typeface="Poppins"/>
                <a:cs typeface="Poppins"/>
                <a:sym typeface="Poppins"/>
              </a:rPr>
              <a:t>Repeat Purchase Rate: 10%</a:t>
            </a:r>
          </a:p>
        </p:txBody>
      </p:sp>
      <p:sp>
        <p:nvSpPr>
          <p:cNvPr name="TextBox 30" id="30"/>
          <p:cNvSpPr txBox="true"/>
          <p:nvPr/>
        </p:nvSpPr>
        <p:spPr>
          <a:xfrm rot="0">
            <a:off x="7519187" y="7767456"/>
            <a:ext cx="3439692" cy="60452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Time Spent: 1-3 months</a:t>
            </a:r>
          </a:p>
          <a:p>
            <a:pPr algn="l">
              <a:lnSpc>
                <a:spcPts val="2380"/>
              </a:lnSpc>
              <a:spcBef>
                <a:spcPct val="0"/>
              </a:spcBef>
            </a:pPr>
            <a:r>
              <a:rPr lang="en-US" sz="1700">
                <a:solidFill>
                  <a:srgbClr val="000000"/>
                </a:solidFill>
                <a:latin typeface="Poppins"/>
                <a:ea typeface="Poppins"/>
                <a:cs typeface="Poppins"/>
                <a:sym typeface="Poppins"/>
              </a:rPr>
              <a:t>Repeat Purchase Rate: 30%</a:t>
            </a:r>
          </a:p>
        </p:txBody>
      </p:sp>
      <p:sp>
        <p:nvSpPr>
          <p:cNvPr name="TextBox 31" id="31"/>
          <p:cNvSpPr txBox="true"/>
          <p:nvPr/>
        </p:nvSpPr>
        <p:spPr>
          <a:xfrm rot="0">
            <a:off x="14225239" y="7767456"/>
            <a:ext cx="2962972" cy="604520"/>
          </a:xfrm>
          <a:prstGeom prst="rect">
            <a:avLst/>
          </a:prstGeom>
        </p:spPr>
        <p:txBody>
          <a:bodyPr anchor="t" rtlCol="false" tIns="0" lIns="0" bIns="0" rIns="0">
            <a:spAutoFit/>
          </a:bodyPr>
          <a:lstStyle/>
          <a:p>
            <a:pPr algn="l">
              <a:lnSpc>
                <a:spcPts val="2380"/>
              </a:lnSpc>
            </a:pPr>
            <a:r>
              <a:rPr lang="en-US" sz="1700">
                <a:solidFill>
                  <a:srgbClr val="000000"/>
                </a:solidFill>
                <a:latin typeface="Poppins"/>
                <a:ea typeface="Poppins"/>
                <a:cs typeface="Poppins"/>
                <a:sym typeface="Poppins"/>
              </a:rPr>
              <a:t>Time Spent:  6+ months</a:t>
            </a:r>
          </a:p>
          <a:p>
            <a:pPr algn="l">
              <a:lnSpc>
                <a:spcPts val="2380"/>
              </a:lnSpc>
              <a:spcBef>
                <a:spcPct val="0"/>
              </a:spcBef>
            </a:pPr>
            <a:r>
              <a:rPr lang="en-US" sz="1700">
                <a:solidFill>
                  <a:srgbClr val="000000"/>
                </a:solidFill>
                <a:latin typeface="Poppins"/>
                <a:ea typeface="Poppins"/>
                <a:cs typeface="Poppins"/>
                <a:sym typeface="Poppins"/>
              </a:rPr>
              <a:t>Repeat Purchase Rate: 60%</a:t>
            </a:r>
          </a:p>
        </p:txBody>
      </p:sp>
      <p:sp>
        <p:nvSpPr>
          <p:cNvPr name="TextBox 32" id="32"/>
          <p:cNvSpPr txBox="true"/>
          <p:nvPr/>
        </p:nvSpPr>
        <p:spPr>
          <a:xfrm rot="0">
            <a:off x="15647445" y="9149715"/>
            <a:ext cx="2477319" cy="198120"/>
          </a:xfrm>
          <a:prstGeom prst="rect">
            <a:avLst/>
          </a:prstGeom>
        </p:spPr>
        <p:txBody>
          <a:bodyPr anchor="t" rtlCol="false" tIns="0" lIns="0" bIns="0" rIns="0">
            <a:spAutoFit/>
          </a:bodyPr>
          <a:lstStyle/>
          <a:p>
            <a:pPr algn="ctr">
              <a:lnSpc>
                <a:spcPts val="1680"/>
              </a:lnSpc>
            </a:pPr>
            <a:r>
              <a:rPr lang="en-US" sz="1200" u="sng">
                <a:solidFill>
                  <a:srgbClr val="000000"/>
                </a:solidFill>
                <a:latin typeface="Canva Sans"/>
                <a:ea typeface="Canva Sans"/>
                <a:cs typeface="Canva Sans"/>
                <a:sym typeface="Canva Sans"/>
                <a:hlinkClick r:id="rId2" tooltip="https://docs.google.com/document/d/1KA6UgK-b0Z1XY8rfkVqdTnzXJkNKobBWOYXVF1w83kI/edit?usp=sharing"/>
              </a:rPr>
              <a:t>[*]check the reference of the data</a:t>
            </a:r>
          </a:p>
        </p:txBody>
      </p:sp>
      <p:sp>
        <p:nvSpPr>
          <p:cNvPr name="TextBox 33" id="33"/>
          <p:cNvSpPr txBox="true"/>
          <p:nvPr/>
        </p:nvSpPr>
        <p:spPr>
          <a:xfrm rot="0">
            <a:off x="848458" y="1728504"/>
            <a:ext cx="6727642" cy="887095"/>
          </a:xfrm>
          <a:prstGeom prst="rect">
            <a:avLst/>
          </a:prstGeom>
        </p:spPr>
        <p:txBody>
          <a:bodyPr anchor="t" rtlCol="false" tIns="0" lIns="0" bIns="0" rIns="0">
            <a:spAutoFit/>
          </a:bodyPr>
          <a:lstStyle/>
          <a:p>
            <a:pPr algn="ctr">
              <a:lnSpc>
                <a:spcPts val="7279"/>
              </a:lnSpc>
            </a:pPr>
            <a:r>
              <a:rPr lang="en-US" sz="5199" b="true">
                <a:solidFill>
                  <a:srgbClr val="000000">
                    <a:alpha val="46667"/>
                  </a:srgbClr>
                </a:solidFill>
                <a:latin typeface="Canva Sans Bold"/>
                <a:ea typeface="Canva Sans Bold"/>
                <a:cs typeface="Canva Sans Bold"/>
                <a:sym typeface="Canva Sans Bold"/>
              </a:rPr>
              <a:t>AI-Driven Solution</a:t>
            </a:r>
          </a:p>
        </p:txBody>
      </p:sp>
      <p:grpSp>
        <p:nvGrpSpPr>
          <p:cNvPr name="Group 34" id="34"/>
          <p:cNvGrpSpPr/>
          <p:nvPr/>
        </p:nvGrpSpPr>
        <p:grpSpPr>
          <a:xfrm rot="0">
            <a:off x="0" y="9555697"/>
            <a:ext cx="4099091" cy="731303"/>
            <a:chOff x="0" y="0"/>
            <a:chExt cx="5465455" cy="975071"/>
          </a:xfrm>
        </p:grpSpPr>
        <p:grpSp>
          <p:nvGrpSpPr>
            <p:cNvPr name="Group 35" id="35"/>
            <p:cNvGrpSpPr/>
            <p:nvPr/>
          </p:nvGrpSpPr>
          <p:grpSpPr>
            <a:xfrm rot="0">
              <a:off x="0" y="0"/>
              <a:ext cx="975071" cy="975071"/>
              <a:chOff x="0" y="0"/>
              <a:chExt cx="812800" cy="812800"/>
            </a:xfrm>
          </p:grpSpPr>
          <p:sp>
            <p:nvSpPr>
              <p:cNvPr name="Freeform 36" id="3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0" t="-446" r="0" b="0"/>
                </a:stretch>
              </a:blipFill>
            </p:spPr>
          </p:sp>
        </p:grpSp>
        <p:sp>
          <p:nvSpPr>
            <p:cNvPr name="TextBox 37" id="37"/>
            <p:cNvSpPr txBox="true"/>
            <p:nvPr/>
          </p:nvSpPr>
          <p:spPr>
            <a:xfrm rot="0">
              <a:off x="1141360" y="48747"/>
              <a:ext cx="2860498" cy="925689"/>
            </a:xfrm>
            <a:prstGeom prst="rect">
              <a:avLst/>
            </a:prstGeom>
          </p:spPr>
          <p:txBody>
            <a:bodyPr anchor="t" rtlCol="false" tIns="0" lIns="0" bIns="0" rIns="0">
              <a:spAutoFit/>
            </a:bodyPr>
            <a:lstStyle/>
            <a:p>
              <a:pPr algn="l">
                <a:lnSpc>
                  <a:spcPts val="5594"/>
                </a:lnSpc>
                <a:spcBef>
                  <a:spcPct val="0"/>
                </a:spcBef>
              </a:pPr>
              <a:r>
                <a:rPr lang="en-US" b="true" sz="3996">
                  <a:solidFill>
                    <a:srgbClr val="FFFFFF"/>
                  </a:solidFill>
                  <a:latin typeface="Poppins Bold"/>
                  <a:ea typeface="Poppins Bold"/>
                  <a:cs typeface="Poppins Bold"/>
                  <a:sym typeface="Poppins Bold"/>
                </a:rPr>
                <a:t>No</a:t>
              </a:r>
            </a:p>
          </p:txBody>
        </p:sp>
        <p:sp>
          <p:nvSpPr>
            <p:cNvPr name="TextBox 38" id="38"/>
            <p:cNvSpPr txBox="true"/>
            <p:nvPr/>
          </p:nvSpPr>
          <p:spPr>
            <a:xfrm rot="0">
              <a:off x="2184479" y="48747"/>
              <a:ext cx="3280976" cy="925689"/>
            </a:xfrm>
            <a:prstGeom prst="rect">
              <a:avLst/>
            </a:prstGeom>
          </p:spPr>
          <p:txBody>
            <a:bodyPr anchor="t" rtlCol="false" tIns="0" lIns="0" bIns="0" rIns="0">
              <a:spAutoFit/>
            </a:bodyPr>
            <a:lstStyle/>
            <a:p>
              <a:pPr algn="l">
                <a:lnSpc>
                  <a:spcPts val="5594"/>
                </a:lnSpc>
                <a:spcBef>
                  <a:spcPct val="0"/>
                </a:spcBef>
              </a:pPr>
              <a:r>
                <a:rPr lang="en-US" b="true" sz="3996">
                  <a:solidFill>
                    <a:srgbClr val="FFFFFF"/>
                  </a:solidFill>
                  <a:latin typeface="Poppins Semi-Bold"/>
                  <a:ea typeface="Poppins Semi-Bold"/>
                  <a:cs typeface="Poppins Semi-Bold"/>
                  <a:sym typeface="Poppins Semi-Bold"/>
                </a:rPr>
                <a:t>Parking</a:t>
              </a:r>
            </a:p>
          </p:txBody>
        </p:sp>
      </p:grpSp>
      <p:sp>
        <p:nvSpPr>
          <p:cNvPr name="TextBox 39" id="3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7</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DCD7F1"/>
        </a:solidFill>
      </p:bgPr>
    </p:bg>
    <p:spTree>
      <p:nvGrpSpPr>
        <p:cNvPr id="1" name=""/>
        <p:cNvGrpSpPr/>
        <p:nvPr/>
      </p:nvGrpSpPr>
      <p:grpSpPr>
        <a:xfrm>
          <a:off x="0" y="0"/>
          <a:ext cx="0" cy="0"/>
          <a:chOff x="0" y="0"/>
          <a:chExt cx="0" cy="0"/>
        </a:xfrm>
      </p:grpSpPr>
      <p:grpSp>
        <p:nvGrpSpPr>
          <p:cNvPr name="Group 2" id="2"/>
          <p:cNvGrpSpPr/>
          <p:nvPr/>
        </p:nvGrpSpPr>
        <p:grpSpPr>
          <a:xfrm rot="0">
            <a:off x="400485" y="1436418"/>
            <a:ext cx="6029042" cy="772617"/>
            <a:chOff x="0" y="0"/>
            <a:chExt cx="1587896" cy="203488"/>
          </a:xfrm>
        </p:grpSpPr>
        <p:sp>
          <p:nvSpPr>
            <p:cNvPr name="Freeform 3" id="3"/>
            <p:cNvSpPr/>
            <p:nvPr/>
          </p:nvSpPr>
          <p:spPr>
            <a:xfrm flipH="false" flipV="false" rot="0">
              <a:off x="26778" y="0"/>
              <a:ext cx="1538911" cy="203488"/>
            </a:xfrm>
            <a:custGeom>
              <a:avLst/>
              <a:gdLst/>
              <a:ahLst/>
              <a:cxnLst/>
              <a:rect r="r" b="b" t="t" l="l"/>
              <a:pathLst>
                <a:path h="203488" w="1538911">
                  <a:moveTo>
                    <a:pt x="9177" y="0"/>
                  </a:moveTo>
                  <a:lnTo>
                    <a:pt x="1321963" y="0"/>
                  </a:lnTo>
                  <a:cubicBezTo>
                    <a:pt x="1345607" y="0"/>
                    <a:pt x="1368926" y="5512"/>
                    <a:pt x="1390068" y="16098"/>
                  </a:cubicBezTo>
                  <a:lnTo>
                    <a:pt x="1528968" y="85646"/>
                  </a:lnTo>
                  <a:cubicBezTo>
                    <a:pt x="1535062" y="88697"/>
                    <a:pt x="1538911" y="94928"/>
                    <a:pt x="1538911" y="101744"/>
                  </a:cubicBezTo>
                  <a:cubicBezTo>
                    <a:pt x="1538911" y="108559"/>
                    <a:pt x="1535062" y="114790"/>
                    <a:pt x="1528968" y="117842"/>
                  </a:cubicBezTo>
                  <a:lnTo>
                    <a:pt x="1390068" y="187390"/>
                  </a:lnTo>
                  <a:cubicBezTo>
                    <a:pt x="1368926" y="197976"/>
                    <a:pt x="1345607" y="203488"/>
                    <a:pt x="1321963" y="203488"/>
                  </a:cubicBezTo>
                  <a:lnTo>
                    <a:pt x="9177" y="203488"/>
                  </a:lnTo>
                  <a:cubicBezTo>
                    <a:pt x="5236" y="203488"/>
                    <a:pt x="1813" y="200779"/>
                    <a:pt x="906" y="196944"/>
                  </a:cubicBezTo>
                  <a:cubicBezTo>
                    <a:pt x="0" y="193109"/>
                    <a:pt x="1848" y="189154"/>
                    <a:pt x="5372" y="187390"/>
                  </a:cubicBezTo>
                  <a:lnTo>
                    <a:pt x="144272" y="117842"/>
                  </a:lnTo>
                  <a:cubicBezTo>
                    <a:pt x="150366" y="114790"/>
                    <a:pt x="154215" y="108559"/>
                    <a:pt x="154215" y="101744"/>
                  </a:cubicBezTo>
                  <a:cubicBezTo>
                    <a:pt x="154215" y="94928"/>
                    <a:pt x="150366" y="88697"/>
                    <a:pt x="144272" y="85646"/>
                  </a:cubicBezTo>
                  <a:lnTo>
                    <a:pt x="5372" y="16098"/>
                  </a:lnTo>
                  <a:cubicBezTo>
                    <a:pt x="1848" y="14333"/>
                    <a:pt x="0" y="10379"/>
                    <a:pt x="906" y="6544"/>
                  </a:cubicBezTo>
                  <a:cubicBezTo>
                    <a:pt x="1813" y="2709"/>
                    <a:pt x="5236" y="0"/>
                    <a:pt x="9177" y="0"/>
                  </a:cubicBezTo>
                  <a:close/>
                </a:path>
              </a:pathLst>
            </a:custGeom>
            <a:solidFill>
              <a:srgbClr val="FF7009"/>
            </a:solidFill>
          </p:spPr>
        </p:sp>
        <p:sp>
          <p:nvSpPr>
            <p:cNvPr name="TextBox 4" id="4"/>
            <p:cNvSpPr txBox="true"/>
            <p:nvPr/>
          </p:nvSpPr>
          <p:spPr>
            <a:xfrm>
              <a:off x="177800" y="104775"/>
              <a:ext cx="1333896" cy="98713"/>
            </a:xfrm>
            <a:prstGeom prst="rect">
              <a:avLst/>
            </a:prstGeom>
          </p:spPr>
          <p:txBody>
            <a:bodyPr anchor="ctr" rtlCol="false" tIns="50800" lIns="50800" bIns="50800" rIns="50800"/>
            <a:lstStyle/>
            <a:p>
              <a:pPr algn="l">
                <a:lnSpc>
                  <a:spcPts val="1959"/>
                </a:lnSpc>
              </a:pPr>
              <a:r>
                <a:rPr lang="en-US" sz="2799" b="true">
                  <a:solidFill>
                    <a:srgbClr val="F9F5E3"/>
                  </a:solidFill>
                  <a:latin typeface="Poppins Bold"/>
                  <a:ea typeface="Poppins Bold"/>
                  <a:cs typeface="Poppins Bold"/>
                  <a:sym typeface="Poppins Bold"/>
                </a:rPr>
                <a:t>Own Your Data</a:t>
              </a:r>
            </a:p>
          </p:txBody>
        </p:sp>
      </p:grpSp>
      <p:grpSp>
        <p:nvGrpSpPr>
          <p:cNvPr name="Group 5" id="5"/>
          <p:cNvGrpSpPr/>
          <p:nvPr/>
        </p:nvGrpSpPr>
        <p:grpSpPr>
          <a:xfrm rot="0">
            <a:off x="5836161" y="1436418"/>
            <a:ext cx="6029042" cy="772617"/>
            <a:chOff x="0" y="0"/>
            <a:chExt cx="1587896" cy="203488"/>
          </a:xfrm>
        </p:grpSpPr>
        <p:sp>
          <p:nvSpPr>
            <p:cNvPr name="Freeform 6" id="6"/>
            <p:cNvSpPr/>
            <p:nvPr/>
          </p:nvSpPr>
          <p:spPr>
            <a:xfrm flipH="false" flipV="false" rot="0">
              <a:off x="26778" y="0"/>
              <a:ext cx="1538911" cy="203488"/>
            </a:xfrm>
            <a:custGeom>
              <a:avLst/>
              <a:gdLst/>
              <a:ahLst/>
              <a:cxnLst/>
              <a:rect r="r" b="b" t="t" l="l"/>
              <a:pathLst>
                <a:path h="203488" w="1538911">
                  <a:moveTo>
                    <a:pt x="9177" y="0"/>
                  </a:moveTo>
                  <a:lnTo>
                    <a:pt x="1321963" y="0"/>
                  </a:lnTo>
                  <a:cubicBezTo>
                    <a:pt x="1345607" y="0"/>
                    <a:pt x="1368926" y="5512"/>
                    <a:pt x="1390068" y="16098"/>
                  </a:cubicBezTo>
                  <a:lnTo>
                    <a:pt x="1528968" y="85646"/>
                  </a:lnTo>
                  <a:cubicBezTo>
                    <a:pt x="1535062" y="88697"/>
                    <a:pt x="1538911" y="94928"/>
                    <a:pt x="1538911" y="101744"/>
                  </a:cubicBezTo>
                  <a:cubicBezTo>
                    <a:pt x="1538911" y="108559"/>
                    <a:pt x="1535062" y="114790"/>
                    <a:pt x="1528968" y="117842"/>
                  </a:cubicBezTo>
                  <a:lnTo>
                    <a:pt x="1390068" y="187390"/>
                  </a:lnTo>
                  <a:cubicBezTo>
                    <a:pt x="1368926" y="197976"/>
                    <a:pt x="1345607" y="203488"/>
                    <a:pt x="1321963" y="203488"/>
                  </a:cubicBezTo>
                  <a:lnTo>
                    <a:pt x="9177" y="203488"/>
                  </a:lnTo>
                  <a:cubicBezTo>
                    <a:pt x="5236" y="203488"/>
                    <a:pt x="1813" y="200779"/>
                    <a:pt x="906" y="196944"/>
                  </a:cubicBezTo>
                  <a:cubicBezTo>
                    <a:pt x="0" y="193109"/>
                    <a:pt x="1848" y="189154"/>
                    <a:pt x="5372" y="187390"/>
                  </a:cubicBezTo>
                  <a:lnTo>
                    <a:pt x="144272" y="117842"/>
                  </a:lnTo>
                  <a:cubicBezTo>
                    <a:pt x="150366" y="114790"/>
                    <a:pt x="154215" y="108559"/>
                    <a:pt x="154215" y="101744"/>
                  </a:cubicBezTo>
                  <a:cubicBezTo>
                    <a:pt x="154215" y="94928"/>
                    <a:pt x="150366" y="88697"/>
                    <a:pt x="144272" y="85646"/>
                  </a:cubicBezTo>
                  <a:lnTo>
                    <a:pt x="5372" y="16098"/>
                  </a:lnTo>
                  <a:cubicBezTo>
                    <a:pt x="1848" y="14333"/>
                    <a:pt x="0" y="10379"/>
                    <a:pt x="906" y="6544"/>
                  </a:cubicBezTo>
                  <a:cubicBezTo>
                    <a:pt x="1813" y="2709"/>
                    <a:pt x="5236" y="0"/>
                    <a:pt x="9177" y="0"/>
                  </a:cubicBezTo>
                  <a:close/>
                </a:path>
              </a:pathLst>
            </a:custGeom>
            <a:solidFill>
              <a:srgbClr val="FF7009">
                <a:alpha val="19608"/>
              </a:srgbClr>
            </a:solidFill>
          </p:spPr>
        </p:sp>
        <p:sp>
          <p:nvSpPr>
            <p:cNvPr name="TextBox 7" id="7"/>
            <p:cNvSpPr txBox="true"/>
            <p:nvPr/>
          </p:nvSpPr>
          <p:spPr>
            <a:xfrm>
              <a:off x="177800" y="104775"/>
              <a:ext cx="1333896" cy="98713"/>
            </a:xfrm>
            <a:prstGeom prst="rect">
              <a:avLst/>
            </a:prstGeom>
          </p:spPr>
          <p:txBody>
            <a:bodyPr anchor="ctr" rtlCol="false" tIns="50800" lIns="50800" bIns="50800" rIns="50800"/>
            <a:lstStyle/>
            <a:p>
              <a:pPr algn="ctr">
                <a:lnSpc>
                  <a:spcPts val="1959"/>
                </a:lnSpc>
              </a:pPr>
              <a:r>
                <a:rPr lang="en-US" b="true" sz="2799">
                  <a:solidFill>
                    <a:srgbClr val="F9F5E3">
                      <a:alpha val="19608"/>
                    </a:srgbClr>
                  </a:solidFill>
                  <a:latin typeface="Poppins Bold"/>
                  <a:ea typeface="Poppins Bold"/>
                  <a:cs typeface="Poppins Bold"/>
                  <a:sym typeface="Poppins Bold"/>
                </a:rPr>
                <a:t>Explainable AI</a:t>
              </a:r>
            </a:p>
          </p:txBody>
        </p:sp>
      </p:grpSp>
      <p:grpSp>
        <p:nvGrpSpPr>
          <p:cNvPr name="Group 8" id="8"/>
          <p:cNvGrpSpPr/>
          <p:nvPr/>
        </p:nvGrpSpPr>
        <p:grpSpPr>
          <a:xfrm rot="0">
            <a:off x="11230258" y="1436418"/>
            <a:ext cx="6029042" cy="772617"/>
            <a:chOff x="0" y="0"/>
            <a:chExt cx="1587896" cy="203488"/>
          </a:xfrm>
        </p:grpSpPr>
        <p:sp>
          <p:nvSpPr>
            <p:cNvPr name="Freeform 9" id="9"/>
            <p:cNvSpPr/>
            <p:nvPr/>
          </p:nvSpPr>
          <p:spPr>
            <a:xfrm flipH="false" flipV="false" rot="0">
              <a:off x="26778" y="0"/>
              <a:ext cx="1538911" cy="203488"/>
            </a:xfrm>
            <a:custGeom>
              <a:avLst/>
              <a:gdLst/>
              <a:ahLst/>
              <a:cxnLst/>
              <a:rect r="r" b="b" t="t" l="l"/>
              <a:pathLst>
                <a:path h="203488" w="1538911">
                  <a:moveTo>
                    <a:pt x="9177" y="0"/>
                  </a:moveTo>
                  <a:lnTo>
                    <a:pt x="1321963" y="0"/>
                  </a:lnTo>
                  <a:cubicBezTo>
                    <a:pt x="1345607" y="0"/>
                    <a:pt x="1368926" y="5512"/>
                    <a:pt x="1390068" y="16098"/>
                  </a:cubicBezTo>
                  <a:lnTo>
                    <a:pt x="1528968" y="85646"/>
                  </a:lnTo>
                  <a:cubicBezTo>
                    <a:pt x="1535062" y="88697"/>
                    <a:pt x="1538911" y="94928"/>
                    <a:pt x="1538911" y="101744"/>
                  </a:cubicBezTo>
                  <a:cubicBezTo>
                    <a:pt x="1538911" y="108559"/>
                    <a:pt x="1535062" y="114790"/>
                    <a:pt x="1528968" y="117842"/>
                  </a:cubicBezTo>
                  <a:lnTo>
                    <a:pt x="1390068" y="187390"/>
                  </a:lnTo>
                  <a:cubicBezTo>
                    <a:pt x="1368926" y="197976"/>
                    <a:pt x="1345607" y="203488"/>
                    <a:pt x="1321963" y="203488"/>
                  </a:cubicBezTo>
                  <a:lnTo>
                    <a:pt x="9177" y="203488"/>
                  </a:lnTo>
                  <a:cubicBezTo>
                    <a:pt x="5236" y="203488"/>
                    <a:pt x="1813" y="200779"/>
                    <a:pt x="906" y="196944"/>
                  </a:cubicBezTo>
                  <a:cubicBezTo>
                    <a:pt x="0" y="193109"/>
                    <a:pt x="1848" y="189154"/>
                    <a:pt x="5372" y="187390"/>
                  </a:cubicBezTo>
                  <a:lnTo>
                    <a:pt x="144272" y="117842"/>
                  </a:lnTo>
                  <a:cubicBezTo>
                    <a:pt x="150366" y="114790"/>
                    <a:pt x="154215" y="108559"/>
                    <a:pt x="154215" y="101744"/>
                  </a:cubicBezTo>
                  <a:cubicBezTo>
                    <a:pt x="154215" y="94928"/>
                    <a:pt x="150366" y="88697"/>
                    <a:pt x="144272" y="85646"/>
                  </a:cubicBezTo>
                  <a:lnTo>
                    <a:pt x="5372" y="16098"/>
                  </a:lnTo>
                  <a:cubicBezTo>
                    <a:pt x="1848" y="14333"/>
                    <a:pt x="0" y="10379"/>
                    <a:pt x="906" y="6544"/>
                  </a:cubicBezTo>
                  <a:cubicBezTo>
                    <a:pt x="1813" y="2709"/>
                    <a:pt x="5236" y="0"/>
                    <a:pt x="9177" y="0"/>
                  </a:cubicBezTo>
                  <a:close/>
                </a:path>
              </a:pathLst>
            </a:custGeom>
            <a:solidFill>
              <a:srgbClr val="FF7009">
                <a:alpha val="19608"/>
              </a:srgbClr>
            </a:solidFill>
          </p:spPr>
        </p:sp>
        <p:sp>
          <p:nvSpPr>
            <p:cNvPr name="TextBox 10" id="10"/>
            <p:cNvSpPr txBox="true"/>
            <p:nvPr/>
          </p:nvSpPr>
          <p:spPr>
            <a:xfrm>
              <a:off x="177800" y="104775"/>
              <a:ext cx="1333896" cy="98713"/>
            </a:xfrm>
            <a:prstGeom prst="rect">
              <a:avLst/>
            </a:prstGeom>
          </p:spPr>
          <p:txBody>
            <a:bodyPr anchor="ctr" rtlCol="false" tIns="50800" lIns="50800" bIns="50800" rIns="50800"/>
            <a:lstStyle/>
            <a:p>
              <a:pPr algn="ctr">
                <a:lnSpc>
                  <a:spcPts val="1959"/>
                </a:lnSpc>
              </a:pPr>
              <a:r>
                <a:rPr lang="en-US" b="true" sz="2799">
                  <a:solidFill>
                    <a:srgbClr val="F9F5E3">
                      <a:alpha val="19608"/>
                    </a:srgbClr>
                  </a:solidFill>
                  <a:latin typeface="Poppins Bold"/>
                  <a:ea typeface="Poppins Bold"/>
                  <a:cs typeface="Poppins Bold"/>
                  <a:sym typeface="Poppins Bold"/>
                </a:rPr>
                <a:t>Differential Privacy</a:t>
              </a:r>
            </a:p>
          </p:txBody>
        </p:sp>
      </p:grpSp>
      <p:grpSp>
        <p:nvGrpSpPr>
          <p:cNvPr name="Group 11" id="11"/>
          <p:cNvGrpSpPr/>
          <p:nvPr/>
        </p:nvGrpSpPr>
        <p:grpSpPr>
          <a:xfrm rot="0">
            <a:off x="1085339" y="2417539"/>
            <a:ext cx="4762500" cy="6130262"/>
            <a:chOff x="0" y="0"/>
            <a:chExt cx="1254321" cy="1614555"/>
          </a:xfrm>
        </p:grpSpPr>
        <p:sp>
          <p:nvSpPr>
            <p:cNvPr name="Freeform 12" id="12"/>
            <p:cNvSpPr/>
            <p:nvPr/>
          </p:nvSpPr>
          <p:spPr>
            <a:xfrm flipH="false" flipV="false" rot="0">
              <a:off x="0" y="0"/>
              <a:ext cx="1254321" cy="1614555"/>
            </a:xfrm>
            <a:custGeom>
              <a:avLst/>
              <a:gdLst/>
              <a:ahLst/>
              <a:cxnLst/>
              <a:rect r="r" b="b" t="t" l="l"/>
              <a:pathLst>
                <a:path h="1614555" w="1254321">
                  <a:moveTo>
                    <a:pt x="82906" y="0"/>
                  </a:moveTo>
                  <a:lnTo>
                    <a:pt x="1171415" y="0"/>
                  </a:lnTo>
                  <a:cubicBezTo>
                    <a:pt x="1193403" y="0"/>
                    <a:pt x="1214491" y="8735"/>
                    <a:pt x="1230038" y="24282"/>
                  </a:cubicBezTo>
                  <a:cubicBezTo>
                    <a:pt x="1245586" y="39830"/>
                    <a:pt x="1254321" y="60918"/>
                    <a:pt x="1254321" y="82906"/>
                  </a:cubicBezTo>
                  <a:lnTo>
                    <a:pt x="1254321" y="1531649"/>
                  </a:lnTo>
                  <a:cubicBezTo>
                    <a:pt x="1254321" y="1577437"/>
                    <a:pt x="1217203" y="1614555"/>
                    <a:pt x="1171415" y="1614555"/>
                  </a:cubicBezTo>
                  <a:lnTo>
                    <a:pt x="82906" y="1614555"/>
                  </a:lnTo>
                  <a:cubicBezTo>
                    <a:pt x="37118" y="1614555"/>
                    <a:pt x="0" y="1577437"/>
                    <a:pt x="0" y="1531649"/>
                  </a:cubicBezTo>
                  <a:lnTo>
                    <a:pt x="0" y="82906"/>
                  </a:lnTo>
                  <a:cubicBezTo>
                    <a:pt x="0" y="37118"/>
                    <a:pt x="37118" y="0"/>
                    <a:pt x="82906" y="0"/>
                  </a:cubicBezTo>
                  <a:close/>
                </a:path>
              </a:pathLst>
            </a:custGeom>
            <a:solidFill>
              <a:srgbClr val="B7ACF4"/>
            </a:solidFill>
          </p:spPr>
        </p:sp>
        <p:sp>
          <p:nvSpPr>
            <p:cNvPr name="TextBox 13" id="13"/>
            <p:cNvSpPr txBox="true"/>
            <p:nvPr/>
          </p:nvSpPr>
          <p:spPr>
            <a:xfrm>
              <a:off x="0" y="95250"/>
              <a:ext cx="1254321" cy="1519305"/>
            </a:xfrm>
            <a:prstGeom prst="rect">
              <a:avLst/>
            </a:prstGeom>
          </p:spPr>
          <p:txBody>
            <a:bodyPr anchor="ctr" rtlCol="false" tIns="50800" lIns="50800" bIns="50800" rIns="50800"/>
            <a:lstStyle/>
            <a:p>
              <a:pPr algn="ctr">
                <a:lnSpc>
                  <a:spcPts val="1625"/>
                </a:lnSpc>
              </a:pPr>
            </a:p>
          </p:txBody>
        </p:sp>
      </p:grpSp>
      <p:grpSp>
        <p:nvGrpSpPr>
          <p:cNvPr name="Group 14" id="14"/>
          <p:cNvGrpSpPr/>
          <p:nvPr/>
        </p:nvGrpSpPr>
        <p:grpSpPr>
          <a:xfrm rot="0">
            <a:off x="6791069" y="2417539"/>
            <a:ext cx="4762500" cy="6130262"/>
            <a:chOff x="0" y="0"/>
            <a:chExt cx="1254321" cy="1614555"/>
          </a:xfrm>
        </p:grpSpPr>
        <p:sp>
          <p:nvSpPr>
            <p:cNvPr name="Freeform 15" id="15"/>
            <p:cNvSpPr/>
            <p:nvPr/>
          </p:nvSpPr>
          <p:spPr>
            <a:xfrm flipH="false" flipV="false" rot="0">
              <a:off x="0" y="0"/>
              <a:ext cx="1254321" cy="1614555"/>
            </a:xfrm>
            <a:custGeom>
              <a:avLst/>
              <a:gdLst/>
              <a:ahLst/>
              <a:cxnLst/>
              <a:rect r="r" b="b" t="t" l="l"/>
              <a:pathLst>
                <a:path h="1614555" w="1254321">
                  <a:moveTo>
                    <a:pt x="82906" y="0"/>
                  </a:moveTo>
                  <a:lnTo>
                    <a:pt x="1171415" y="0"/>
                  </a:lnTo>
                  <a:cubicBezTo>
                    <a:pt x="1193403" y="0"/>
                    <a:pt x="1214491" y="8735"/>
                    <a:pt x="1230038" y="24282"/>
                  </a:cubicBezTo>
                  <a:cubicBezTo>
                    <a:pt x="1245586" y="39830"/>
                    <a:pt x="1254321" y="60918"/>
                    <a:pt x="1254321" y="82906"/>
                  </a:cubicBezTo>
                  <a:lnTo>
                    <a:pt x="1254321" y="1531649"/>
                  </a:lnTo>
                  <a:cubicBezTo>
                    <a:pt x="1254321" y="1577437"/>
                    <a:pt x="1217203" y="1614555"/>
                    <a:pt x="1171415" y="1614555"/>
                  </a:cubicBezTo>
                  <a:lnTo>
                    <a:pt x="82906" y="1614555"/>
                  </a:lnTo>
                  <a:cubicBezTo>
                    <a:pt x="37118" y="1614555"/>
                    <a:pt x="0" y="1577437"/>
                    <a:pt x="0" y="1531649"/>
                  </a:cubicBezTo>
                  <a:lnTo>
                    <a:pt x="0" y="82906"/>
                  </a:lnTo>
                  <a:cubicBezTo>
                    <a:pt x="0" y="37118"/>
                    <a:pt x="37118" y="0"/>
                    <a:pt x="82906" y="0"/>
                  </a:cubicBezTo>
                  <a:close/>
                </a:path>
              </a:pathLst>
            </a:custGeom>
            <a:solidFill>
              <a:srgbClr val="B7ACF4"/>
            </a:solidFill>
          </p:spPr>
        </p:sp>
        <p:sp>
          <p:nvSpPr>
            <p:cNvPr name="TextBox 16" id="16"/>
            <p:cNvSpPr txBox="true"/>
            <p:nvPr/>
          </p:nvSpPr>
          <p:spPr>
            <a:xfrm>
              <a:off x="0" y="95250"/>
              <a:ext cx="1254321" cy="1519305"/>
            </a:xfrm>
            <a:prstGeom prst="rect">
              <a:avLst/>
            </a:prstGeom>
          </p:spPr>
          <p:txBody>
            <a:bodyPr anchor="ctr" rtlCol="false" tIns="50800" lIns="50800" bIns="50800" rIns="50800"/>
            <a:lstStyle/>
            <a:p>
              <a:pPr algn="ctr">
                <a:lnSpc>
                  <a:spcPts val="1625"/>
                </a:lnSpc>
              </a:pPr>
            </a:p>
          </p:txBody>
        </p:sp>
      </p:grpSp>
      <p:grpSp>
        <p:nvGrpSpPr>
          <p:cNvPr name="Group 17" id="17"/>
          <p:cNvGrpSpPr/>
          <p:nvPr/>
        </p:nvGrpSpPr>
        <p:grpSpPr>
          <a:xfrm rot="0">
            <a:off x="12496800" y="2417539"/>
            <a:ext cx="4762500" cy="6130262"/>
            <a:chOff x="0" y="0"/>
            <a:chExt cx="1254321" cy="1614555"/>
          </a:xfrm>
        </p:grpSpPr>
        <p:sp>
          <p:nvSpPr>
            <p:cNvPr name="Freeform 18" id="18"/>
            <p:cNvSpPr/>
            <p:nvPr/>
          </p:nvSpPr>
          <p:spPr>
            <a:xfrm flipH="false" flipV="false" rot="0">
              <a:off x="0" y="0"/>
              <a:ext cx="1254321" cy="1614555"/>
            </a:xfrm>
            <a:custGeom>
              <a:avLst/>
              <a:gdLst/>
              <a:ahLst/>
              <a:cxnLst/>
              <a:rect r="r" b="b" t="t" l="l"/>
              <a:pathLst>
                <a:path h="1614555" w="1254321">
                  <a:moveTo>
                    <a:pt x="82906" y="0"/>
                  </a:moveTo>
                  <a:lnTo>
                    <a:pt x="1171415" y="0"/>
                  </a:lnTo>
                  <a:cubicBezTo>
                    <a:pt x="1193403" y="0"/>
                    <a:pt x="1214491" y="8735"/>
                    <a:pt x="1230038" y="24282"/>
                  </a:cubicBezTo>
                  <a:cubicBezTo>
                    <a:pt x="1245586" y="39830"/>
                    <a:pt x="1254321" y="60918"/>
                    <a:pt x="1254321" y="82906"/>
                  </a:cubicBezTo>
                  <a:lnTo>
                    <a:pt x="1254321" y="1531649"/>
                  </a:lnTo>
                  <a:cubicBezTo>
                    <a:pt x="1254321" y="1577437"/>
                    <a:pt x="1217203" y="1614555"/>
                    <a:pt x="1171415" y="1614555"/>
                  </a:cubicBezTo>
                  <a:lnTo>
                    <a:pt x="82906" y="1614555"/>
                  </a:lnTo>
                  <a:cubicBezTo>
                    <a:pt x="37118" y="1614555"/>
                    <a:pt x="0" y="1577437"/>
                    <a:pt x="0" y="1531649"/>
                  </a:cubicBezTo>
                  <a:lnTo>
                    <a:pt x="0" y="82906"/>
                  </a:lnTo>
                  <a:cubicBezTo>
                    <a:pt x="0" y="37118"/>
                    <a:pt x="37118" y="0"/>
                    <a:pt x="82906" y="0"/>
                  </a:cubicBezTo>
                  <a:close/>
                </a:path>
              </a:pathLst>
            </a:custGeom>
            <a:solidFill>
              <a:srgbClr val="B7ACF4"/>
            </a:solidFill>
          </p:spPr>
        </p:sp>
        <p:sp>
          <p:nvSpPr>
            <p:cNvPr name="TextBox 19" id="19"/>
            <p:cNvSpPr txBox="true"/>
            <p:nvPr/>
          </p:nvSpPr>
          <p:spPr>
            <a:xfrm>
              <a:off x="0" y="95250"/>
              <a:ext cx="1254321" cy="1519305"/>
            </a:xfrm>
            <a:prstGeom prst="rect">
              <a:avLst/>
            </a:prstGeom>
          </p:spPr>
          <p:txBody>
            <a:bodyPr anchor="ctr" rtlCol="false" tIns="50800" lIns="50800" bIns="50800" rIns="50800"/>
            <a:lstStyle/>
            <a:p>
              <a:pPr algn="ctr">
                <a:lnSpc>
                  <a:spcPts val="1625"/>
                </a:lnSpc>
              </a:pPr>
            </a:p>
          </p:txBody>
        </p:sp>
      </p:grpSp>
      <p:grpSp>
        <p:nvGrpSpPr>
          <p:cNvPr name="Group 20" id="20"/>
          <p:cNvGrpSpPr/>
          <p:nvPr/>
        </p:nvGrpSpPr>
        <p:grpSpPr>
          <a:xfrm rot="0">
            <a:off x="1123291" y="6342479"/>
            <a:ext cx="2178956" cy="2051124"/>
            <a:chOff x="0" y="0"/>
            <a:chExt cx="573882" cy="540214"/>
          </a:xfrm>
        </p:grpSpPr>
        <p:sp>
          <p:nvSpPr>
            <p:cNvPr name="Freeform 21" id="21"/>
            <p:cNvSpPr/>
            <p:nvPr/>
          </p:nvSpPr>
          <p:spPr>
            <a:xfrm flipH="false" flipV="false" rot="0">
              <a:off x="0" y="0"/>
              <a:ext cx="573882" cy="540214"/>
            </a:xfrm>
            <a:custGeom>
              <a:avLst/>
              <a:gdLst/>
              <a:ahLst/>
              <a:cxnLst/>
              <a:rect r="r" b="b" t="t" l="l"/>
              <a:pathLst>
                <a:path h="540214" w="573882">
                  <a:moveTo>
                    <a:pt x="124356" y="0"/>
                  </a:moveTo>
                  <a:lnTo>
                    <a:pt x="449525" y="0"/>
                  </a:lnTo>
                  <a:cubicBezTo>
                    <a:pt x="482506" y="0"/>
                    <a:pt x="514137" y="13102"/>
                    <a:pt x="537458" y="36423"/>
                  </a:cubicBezTo>
                  <a:cubicBezTo>
                    <a:pt x="560780" y="59745"/>
                    <a:pt x="573882" y="91375"/>
                    <a:pt x="573882" y="124356"/>
                  </a:cubicBezTo>
                  <a:lnTo>
                    <a:pt x="573882" y="415857"/>
                  </a:lnTo>
                  <a:cubicBezTo>
                    <a:pt x="573882" y="484538"/>
                    <a:pt x="518205" y="540214"/>
                    <a:pt x="449525" y="540214"/>
                  </a:cubicBezTo>
                  <a:lnTo>
                    <a:pt x="124356" y="540214"/>
                  </a:lnTo>
                  <a:cubicBezTo>
                    <a:pt x="91375" y="540214"/>
                    <a:pt x="59745" y="527112"/>
                    <a:pt x="36423" y="503791"/>
                  </a:cubicBezTo>
                  <a:cubicBezTo>
                    <a:pt x="13102" y="480469"/>
                    <a:pt x="0" y="448839"/>
                    <a:pt x="0" y="415857"/>
                  </a:cubicBezTo>
                  <a:lnTo>
                    <a:pt x="0" y="124356"/>
                  </a:lnTo>
                  <a:cubicBezTo>
                    <a:pt x="0" y="55676"/>
                    <a:pt x="55676" y="0"/>
                    <a:pt x="124356" y="0"/>
                  </a:cubicBezTo>
                  <a:close/>
                </a:path>
              </a:pathLst>
            </a:custGeom>
            <a:solidFill>
              <a:srgbClr val="EBF2FA"/>
            </a:solidFill>
          </p:spPr>
        </p:sp>
        <p:sp>
          <p:nvSpPr>
            <p:cNvPr name="TextBox 22" id="22"/>
            <p:cNvSpPr txBox="true"/>
            <p:nvPr/>
          </p:nvSpPr>
          <p:spPr>
            <a:xfrm>
              <a:off x="0" y="95250"/>
              <a:ext cx="573882" cy="444964"/>
            </a:xfrm>
            <a:prstGeom prst="rect">
              <a:avLst/>
            </a:prstGeom>
          </p:spPr>
          <p:txBody>
            <a:bodyPr anchor="ctr" rtlCol="false" tIns="50800" lIns="50800" bIns="50800" rIns="50800"/>
            <a:lstStyle/>
            <a:p>
              <a:pPr algn="ctr">
                <a:lnSpc>
                  <a:spcPts val="1625"/>
                </a:lnSpc>
              </a:pPr>
            </a:p>
          </p:txBody>
        </p:sp>
      </p:grpSp>
      <p:sp>
        <p:nvSpPr>
          <p:cNvPr name="TextBox 23" id="23"/>
          <p:cNvSpPr txBox="true"/>
          <p:nvPr/>
        </p:nvSpPr>
        <p:spPr>
          <a:xfrm rot="0">
            <a:off x="94089" y="0"/>
            <a:ext cx="11355692" cy="1028700"/>
          </a:xfrm>
          <a:prstGeom prst="rect">
            <a:avLst/>
          </a:prstGeom>
        </p:spPr>
        <p:txBody>
          <a:bodyPr anchor="t" rtlCol="false" tIns="0" lIns="0" bIns="0" rIns="0">
            <a:spAutoFit/>
          </a:bodyPr>
          <a:lstStyle/>
          <a:p>
            <a:pPr algn="l">
              <a:lnSpc>
                <a:spcPts val="8400"/>
              </a:lnSpc>
            </a:pPr>
            <a:r>
              <a:rPr lang="en-US" sz="6000" b="true">
                <a:solidFill>
                  <a:srgbClr val="231F20"/>
                </a:solidFill>
                <a:latin typeface="Canva Sans Bold"/>
                <a:ea typeface="Canva Sans Bold"/>
                <a:cs typeface="Canva Sans Bold"/>
                <a:sym typeface="Canva Sans Bold"/>
              </a:rPr>
              <a:t>Control and Governance</a:t>
            </a:r>
          </a:p>
        </p:txBody>
      </p:sp>
      <p:sp>
        <p:nvSpPr>
          <p:cNvPr name="TextBox 24" id="24"/>
          <p:cNvSpPr txBox="true"/>
          <p:nvPr/>
        </p:nvSpPr>
        <p:spPr>
          <a:xfrm rot="0">
            <a:off x="1123291" y="2884264"/>
            <a:ext cx="4686596" cy="527049"/>
          </a:xfrm>
          <a:prstGeom prst="rect">
            <a:avLst/>
          </a:prstGeom>
        </p:spPr>
        <p:txBody>
          <a:bodyPr anchor="t" rtlCol="false" tIns="0" lIns="0" bIns="0" rIns="0">
            <a:spAutoFit/>
          </a:bodyPr>
          <a:lstStyle/>
          <a:p>
            <a:pPr algn="ctr">
              <a:lnSpc>
                <a:spcPts val="3199"/>
              </a:lnSpc>
            </a:pPr>
            <a:r>
              <a:rPr lang="en-US" sz="3999" spc="-39">
                <a:solidFill>
                  <a:srgbClr val="FDF9DE"/>
                </a:solidFill>
                <a:latin typeface="Impact"/>
                <a:ea typeface="Impact"/>
                <a:cs typeface="Impact"/>
                <a:sym typeface="Impact"/>
              </a:rPr>
              <a:t>GENERALIZATION</a:t>
            </a:r>
          </a:p>
        </p:txBody>
      </p:sp>
      <p:sp>
        <p:nvSpPr>
          <p:cNvPr name="TextBox 25" id="25"/>
          <p:cNvSpPr txBox="true"/>
          <p:nvPr/>
        </p:nvSpPr>
        <p:spPr>
          <a:xfrm rot="0">
            <a:off x="6829021" y="2493739"/>
            <a:ext cx="4686596" cy="927099"/>
          </a:xfrm>
          <a:prstGeom prst="rect">
            <a:avLst/>
          </a:prstGeom>
        </p:spPr>
        <p:txBody>
          <a:bodyPr anchor="t" rtlCol="false" tIns="0" lIns="0" bIns="0" rIns="0">
            <a:spAutoFit/>
          </a:bodyPr>
          <a:lstStyle/>
          <a:p>
            <a:pPr algn="ctr">
              <a:lnSpc>
                <a:spcPts val="3199"/>
              </a:lnSpc>
            </a:pPr>
            <a:r>
              <a:rPr lang="en-US" sz="3999" spc="-39">
                <a:solidFill>
                  <a:srgbClr val="FDF9DE"/>
                </a:solidFill>
                <a:latin typeface="Impact"/>
                <a:ea typeface="Impact"/>
                <a:cs typeface="Impact"/>
                <a:sym typeface="Impact"/>
              </a:rPr>
              <a:t>MODERATE PERSONALIZATION</a:t>
            </a:r>
          </a:p>
        </p:txBody>
      </p:sp>
      <p:sp>
        <p:nvSpPr>
          <p:cNvPr name="TextBox 26" id="26"/>
          <p:cNvSpPr txBox="true"/>
          <p:nvPr/>
        </p:nvSpPr>
        <p:spPr>
          <a:xfrm rot="0">
            <a:off x="12496544" y="2493739"/>
            <a:ext cx="4686596" cy="927099"/>
          </a:xfrm>
          <a:prstGeom prst="rect">
            <a:avLst/>
          </a:prstGeom>
        </p:spPr>
        <p:txBody>
          <a:bodyPr anchor="t" rtlCol="false" tIns="0" lIns="0" bIns="0" rIns="0">
            <a:spAutoFit/>
          </a:bodyPr>
          <a:lstStyle/>
          <a:p>
            <a:pPr algn="ctr">
              <a:lnSpc>
                <a:spcPts val="3199"/>
              </a:lnSpc>
            </a:pPr>
            <a:r>
              <a:rPr lang="en-US" sz="3999" spc="-39">
                <a:solidFill>
                  <a:srgbClr val="FDF9DE"/>
                </a:solidFill>
                <a:latin typeface="Impact"/>
                <a:ea typeface="Impact"/>
                <a:cs typeface="Impact"/>
                <a:sym typeface="Impact"/>
              </a:rPr>
              <a:t>DEEP </a:t>
            </a:r>
          </a:p>
          <a:p>
            <a:pPr algn="ctr">
              <a:lnSpc>
                <a:spcPts val="3199"/>
              </a:lnSpc>
            </a:pPr>
            <a:r>
              <a:rPr lang="en-US" sz="3999" spc="-39">
                <a:solidFill>
                  <a:srgbClr val="FDF9DE"/>
                </a:solidFill>
                <a:latin typeface="Impact"/>
                <a:ea typeface="Impact"/>
                <a:cs typeface="Impact"/>
                <a:sym typeface="Impact"/>
              </a:rPr>
              <a:t>PERSONALIZATION</a:t>
            </a:r>
          </a:p>
        </p:txBody>
      </p:sp>
      <p:sp>
        <p:nvSpPr>
          <p:cNvPr name="TextBox 27" id="27"/>
          <p:cNvSpPr txBox="true"/>
          <p:nvPr/>
        </p:nvSpPr>
        <p:spPr>
          <a:xfrm rot="0">
            <a:off x="1249529" y="3382737"/>
            <a:ext cx="4105436" cy="3126105"/>
          </a:xfrm>
          <a:prstGeom prst="rect">
            <a:avLst/>
          </a:prstGeom>
        </p:spPr>
        <p:txBody>
          <a:bodyPr anchor="t" rtlCol="false" tIns="0" lIns="0" bIns="0" rIns="0">
            <a:spAutoFit/>
          </a:bodyPr>
          <a:lstStyle/>
          <a:p>
            <a:pPr algn="l">
              <a:lnSpc>
                <a:spcPts val="2519"/>
              </a:lnSpc>
            </a:pPr>
            <a:r>
              <a:rPr lang="en-US" sz="1799">
                <a:solidFill>
                  <a:srgbClr val="000000"/>
                </a:solidFill>
                <a:latin typeface="Canva Sans"/>
                <a:ea typeface="Canva Sans"/>
                <a:cs typeface="Canva Sans"/>
                <a:sym typeface="Canva Sans"/>
              </a:rPr>
              <a:t>Customers in this category prefer a broad, non-personalized shopping experience.</a:t>
            </a:r>
          </a:p>
          <a:p>
            <a:pPr algn="l">
              <a:lnSpc>
                <a:spcPts val="2519"/>
              </a:lnSpc>
            </a:pPr>
          </a:p>
          <a:p>
            <a:pPr algn="l">
              <a:lnSpc>
                <a:spcPts val="2519"/>
              </a:lnSpc>
            </a:pPr>
            <a:r>
              <a:rPr lang="en-US" sz="1799">
                <a:solidFill>
                  <a:srgbClr val="000000"/>
                </a:solidFill>
                <a:latin typeface="Canva Sans"/>
                <a:ea typeface="Canva Sans"/>
                <a:cs typeface="Canva Sans"/>
                <a:sym typeface="Canva Sans"/>
              </a:rPr>
              <a:t>The system operates using </a:t>
            </a:r>
            <a:r>
              <a:rPr lang="en-US" sz="1799" b="true">
                <a:solidFill>
                  <a:srgbClr val="000000"/>
                </a:solidFill>
                <a:latin typeface="Canva Sans Bold"/>
                <a:ea typeface="Canva Sans Bold"/>
                <a:cs typeface="Canva Sans Bold"/>
                <a:sym typeface="Canva Sans Bold"/>
              </a:rPr>
              <a:t>aggregate market trends, popular products, and seasonal insights</a:t>
            </a:r>
            <a:r>
              <a:rPr lang="en-US" sz="1799">
                <a:solidFill>
                  <a:srgbClr val="000000"/>
                </a:solidFill>
                <a:latin typeface="Canva Sans"/>
                <a:ea typeface="Canva Sans"/>
                <a:cs typeface="Canva Sans"/>
                <a:sym typeface="Canva Sans"/>
              </a:rPr>
              <a:t> with</a:t>
            </a:r>
            <a:r>
              <a:rPr lang="en-US" sz="1799">
                <a:solidFill>
                  <a:srgbClr val="000000"/>
                </a:solidFill>
                <a:latin typeface="Canva Sans"/>
                <a:ea typeface="Canva Sans"/>
                <a:cs typeface="Canva Sans"/>
                <a:sym typeface="Canva Sans"/>
              </a:rPr>
              <a:t>o</a:t>
            </a:r>
            <a:r>
              <a:rPr lang="en-US" sz="1799">
                <a:solidFill>
                  <a:srgbClr val="000000"/>
                </a:solidFill>
                <a:latin typeface="Canva Sans"/>
                <a:ea typeface="Canva Sans"/>
                <a:cs typeface="Canva Sans"/>
                <a:sym typeface="Canva Sans"/>
              </a:rPr>
              <a:t>ut sto</a:t>
            </a:r>
            <a:r>
              <a:rPr lang="en-US" sz="1799">
                <a:solidFill>
                  <a:srgbClr val="000000"/>
                </a:solidFill>
                <a:latin typeface="Canva Sans"/>
                <a:ea typeface="Canva Sans"/>
                <a:cs typeface="Canva Sans"/>
                <a:sym typeface="Canva Sans"/>
              </a:rPr>
              <a:t>ring</a:t>
            </a:r>
            <a:r>
              <a:rPr lang="en-US" sz="1799">
                <a:solidFill>
                  <a:srgbClr val="000000"/>
                </a:solidFill>
                <a:latin typeface="Canva Sans"/>
                <a:ea typeface="Canva Sans"/>
                <a:cs typeface="Canva Sans"/>
                <a:sym typeface="Canva Sans"/>
              </a:rPr>
              <a:t> or utilizing any customer-</a:t>
            </a:r>
            <a:r>
              <a:rPr lang="en-US" sz="1799">
                <a:solidFill>
                  <a:srgbClr val="000000"/>
                </a:solidFill>
                <a:latin typeface="Canva Sans"/>
                <a:ea typeface="Canva Sans"/>
                <a:cs typeface="Canva Sans"/>
                <a:sym typeface="Canva Sans"/>
              </a:rPr>
              <a:t>s</a:t>
            </a:r>
            <a:r>
              <a:rPr lang="en-US" sz="1799">
                <a:solidFill>
                  <a:srgbClr val="000000"/>
                </a:solidFill>
                <a:latin typeface="Canva Sans"/>
                <a:ea typeface="Canva Sans"/>
                <a:cs typeface="Canva Sans"/>
                <a:sym typeface="Canva Sans"/>
              </a:rPr>
              <a:t>pecific data</a:t>
            </a:r>
            <a:r>
              <a:rPr lang="en-US" sz="1799">
                <a:solidFill>
                  <a:srgbClr val="000000"/>
                </a:solidFill>
                <a:latin typeface="Canva Sans"/>
                <a:ea typeface="Canva Sans"/>
                <a:cs typeface="Canva Sans"/>
                <a:sym typeface="Canva Sans"/>
              </a:rPr>
              <a:t>.</a:t>
            </a:r>
          </a:p>
          <a:p>
            <a:pPr algn="l">
              <a:lnSpc>
                <a:spcPts val="2519"/>
              </a:lnSpc>
            </a:pPr>
          </a:p>
        </p:txBody>
      </p:sp>
      <p:sp>
        <p:nvSpPr>
          <p:cNvPr name="TextBox 28" id="28"/>
          <p:cNvSpPr txBox="true"/>
          <p:nvPr/>
        </p:nvSpPr>
        <p:spPr>
          <a:xfrm rot="0">
            <a:off x="1204429" y="6480267"/>
            <a:ext cx="2097819" cy="297180"/>
          </a:xfrm>
          <a:prstGeom prst="rect">
            <a:avLst/>
          </a:prstGeom>
        </p:spPr>
        <p:txBody>
          <a:bodyPr anchor="t" rtlCol="false" tIns="0" lIns="0" bIns="0" rIns="0">
            <a:spAutoFit/>
          </a:bodyPr>
          <a:lstStyle/>
          <a:p>
            <a:pPr algn="ctr">
              <a:lnSpc>
                <a:spcPts val="2519"/>
              </a:lnSpc>
            </a:pPr>
            <a:r>
              <a:rPr lang="en-US" sz="1799" b="true">
                <a:solidFill>
                  <a:srgbClr val="000000"/>
                </a:solidFill>
                <a:latin typeface="Canva Sans Bold"/>
                <a:ea typeface="Canva Sans Bold"/>
                <a:cs typeface="Canva Sans Bold"/>
                <a:sym typeface="Canva Sans Bold"/>
              </a:rPr>
              <a:t>Pros</a:t>
            </a:r>
          </a:p>
        </p:txBody>
      </p:sp>
      <p:sp>
        <p:nvSpPr>
          <p:cNvPr name="TextBox 29" id="29"/>
          <p:cNvSpPr txBox="true"/>
          <p:nvPr/>
        </p:nvSpPr>
        <p:spPr>
          <a:xfrm rot="0">
            <a:off x="1204429" y="7075263"/>
            <a:ext cx="2097819" cy="816610"/>
          </a:xfrm>
          <a:prstGeom prst="rect">
            <a:avLst/>
          </a:prstGeom>
        </p:spPr>
        <p:txBody>
          <a:bodyPr anchor="t" rtlCol="false" tIns="0" lIns="0" bIns="0" rIns="0">
            <a:spAutoFit/>
          </a:bodyPr>
          <a:lstStyle/>
          <a:p>
            <a:pPr algn="l" marL="345441" indent="-172721" lvl="1">
              <a:lnSpc>
                <a:spcPts val="2240"/>
              </a:lnSpc>
              <a:buFont typeface="Arial"/>
              <a:buChar char="•"/>
            </a:pPr>
            <a:r>
              <a:rPr lang="en-US" b="true" sz="1600">
                <a:solidFill>
                  <a:srgbClr val="000000"/>
                </a:solidFill>
                <a:latin typeface="Canva Sans Bold"/>
                <a:ea typeface="Canva Sans Bold"/>
                <a:cs typeface="Canva Sans Bold"/>
                <a:sym typeface="Canva Sans Bold"/>
              </a:rPr>
              <a:t>Maximum Privacy</a:t>
            </a:r>
          </a:p>
          <a:p>
            <a:pPr algn="l" marL="345441" indent="-172721" lvl="1">
              <a:lnSpc>
                <a:spcPts val="2240"/>
              </a:lnSpc>
              <a:buFont typeface="Arial"/>
              <a:buChar char="•"/>
            </a:pPr>
            <a:r>
              <a:rPr lang="en-US" b="true" sz="1600">
                <a:solidFill>
                  <a:srgbClr val="000000"/>
                </a:solidFill>
                <a:latin typeface="Canva Sans Bold"/>
                <a:ea typeface="Canva Sans Bold"/>
                <a:cs typeface="Canva Sans Bold"/>
                <a:sym typeface="Canva Sans Bold"/>
              </a:rPr>
              <a:t>Diverse Product</a:t>
            </a:r>
          </a:p>
        </p:txBody>
      </p:sp>
      <p:grpSp>
        <p:nvGrpSpPr>
          <p:cNvPr name="Group 30" id="30"/>
          <p:cNvGrpSpPr/>
          <p:nvPr/>
        </p:nvGrpSpPr>
        <p:grpSpPr>
          <a:xfrm rot="0">
            <a:off x="3438014" y="6342479"/>
            <a:ext cx="2178956" cy="2051124"/>
            <a:chOff x="0" y="0"/>
            <a:chExt cx="573882" cy="540214"/>
          </a:xfrm>
        </p:grpSpPr>
        <p:sp>
          <p:nvSpPr>
            <p:cNvPr name="Freeform 31" id="31"/>
            <p:cNvSpPr/>
            <p:nvPr/>
          </p:nvSpPr>
          <p:spPr>
            <a:xfrm flipH="false" flipV="false" rot="0">
              <a:off x="0" y="0"/>
              <a:ext cx="573882" cy="540214"/>
            </a:xfrm>
            <a:custGeom>
              <a:avLst/>
              <a:gdLst/>
              <a:ahLst/>
              <a:cxnLst/>
              <a:rect r="r" b="b" t="t" l="l"/>
              <a:pathLst>
                <a:path h="540214" w="573882">
                  <a:moveTo>
                    <a:pt x="124356" y="0"/>
                  </a:moveTo>
                  <a:lnTo>
                    <a:pt x="449525" y="0"/>
                  </a:lnTo>
                  <a:cubicBezTo>
                    <a:pt x="482506" y="0"/>
                    <a:pt x="514137" y="13102"/>
                    <a:pt x="537458" y="36423"/>
                  </a:cubicBezTo>
                  <a:cubicBezTo>
                    <a:pt x="560780" y="59745"/>
                    <a:pt x="573882" y="91375"/>
                    <a:pt x="573882" y="124356"/>
                  </a:cubicBezTo>
                  <a:lnTo>
                    <a:pt x="573882" y="415857"/>
                  </a:lnTo>
                  <a:cubicBezTo>
                    <a:pt x="573882" y="484538"/>
                    <a:pt x="518205" y="540214"/>
                    <a:pt x="449525" y="540214"/>
                  </a:cubicBezTo>
                  <a:lnTo>
                    <a:pt x="124356" y="540214"/>
                  </a:lnTo>
                  <a:cubicBezTo>
                    <a:pt x="91375" y="540214"/>
                    <a:pt x="59745" y="527112"/>
                    <a:pt x="36423" y="503791"/>
                  </a:cubicBezTo>
                  <a:cubicBezTo>
                    <a:pt x="13102" y="480469"/>
                    <a:pt x="0" y="448839"/>
                    <a:pt x="0" y="415857"/>
                  </a:cubicBezTo>
                  <a:lnTo>
                    <a:pt x="0" y="124356"/>
                  </a:lnTo>
                  <a:cubicBezTo>
                    <a:pt x="0" y="55676"/>
                    <a:pt x="55676" y="0"/>
                    <a:pt x="124356" y="0"/>
                  </a:cubicBezTo>
                  <a:close/>
                </a:path>
              </a:pathLst>
            </a:custGeom>
            <a:solidFill>
              <a:srgbClr val="EBF2FA"/>
            </a:solidFill>
          </p:spPr>
        </p:sp>
        <p:sp>
          <p:nvSpPr>
            <p:cNvPr name="TextBox 32" id="32"/>
            <p:cNvSpPr txBox="true"/>
            <p:nvPr/>
          </p:nvSpPr>
          <p:spPr>
            <a:xfrm>
              <a:off x="0" y="95250"/>
              <a:ext cx="573882" cy="444964"/>
            </a:xfrm>
            <a:prstGeom prst="rect">
              <a:avLst/>
            </a:prstGeom>
          </p:spPr>
          <p:txBody>
            <a:bodyPr anchor="ctr" rtlCol="false" tIns="50800" lIns="50800" bIns="50800" rIns="50800"/>
            <a:lstStyle/>
            <a:p>
              <a:pPr algn="ctr">
                <a:lnSpc>
                  <a:spcPts val="1625"/>
                </a:lnSpc>
              </a:pPr>
            </a:p>
          </p:txBody>
        </p:sp>
      </p:grpSp>
      <p:sp>
        <p:nvSpPr>
          <p:cNvPr name="TextBox 33" id="33"/>
          <p:cNvSpPr txBox="true"/>
          <p:nvPr/>
        </p:nvSpPr>
        <p:spPr>
          <a:xfrm rot="0">
            <a:off x="3547727" y="6480267"/>
            <a:ext cx="2052718" cy="297180"/>
          </a:xfrm>
          <a:prstGeom prst="rect">
            <a:avLst/>
          </a:prstGeom>
        </p:spPr>
        <p:txBody>
          <a:bodyPr anchor="t" rtlCol="false" tIns="0" lIns="0" bIns="0" rIns="0">
            <a:spAutoFit/>
          </a:bodyPr>
          <a:lstStyle/>
          <a:p>
            <a:pPr algn="ctr">
              <a:lnSpc>
                <a:spcPts val="2519"/>
              </a:lnSpc>
            </a:pPr>
            <a:r>
              <a:rPr lang="en-US" sz="1799" b="true">
                <a:solidFill>
                  <a:srgbClr val="000000"/>
                </a:solidFill>
                <a:latin typeface="Canva Sans Bold"/>
                <a:ea typeface="Canva Sans Bold"/>
                <a:cs typeface="Canva Sans Bold"/>
                <a:sym typeface="Canva Sans Bold"/>
              </a:rPr>
              <a:t>Cons</a:t>
            </a:r>
          </a:p>
        </p:txBody>
      </p:sp>
      <p:sp>
        <p:nvSpPr>
          <p:cNvPr name="TextBox 34" id="34"/>
          <p:cNvSpPr txBox="true"/>
          <p:nvPr/>
        </p:nvSpPr>
        <p:spPr>
          <a:xfrm rot="0">
            <a:off x="3500102" y="7035876"/>
            <a:ext cx="2052718" cy="1092835"/>
          </a:xfrm>
          <a:prstGeom prst="rect">
            <a:avLst/>
          </a:prstGeom>
        </p:spPr>
        <p:txBody>
          <a:bodyPr anchor="t" rtlCol="false" tIns="0" lIns="0" bIns="0" rIns="0">
            <a:spAutoFit/>
          </a:bodyPr>
          <a:lstStyle/>
          <a:p>
            <a:pPr algn="l" marL="345441" indent="-172721" lvl="1">
              <a:lnSpc>
                <a:spcPts val="2240"/>
              </a:lnSpc>
              <a:buFont typeface="Arial"/>
              <a:buChar char="•"/>
            </a:pPr>
            <a:r>
              <a:rPr lang="en-US" b="true" sz="1600">
                <a:solidFill>
                  <a:srgbClr val="000000"/>
                </a:solidFill>
                <a:latin typeface="Canva Sans Bold"/>
                <a:ea typeface="Canva Sans Bold"/>
                <a:cs typeface="Canva Sans Bold"/>
                <a:sym typeface="Canva Sans Bold"/>
              </a:rPr>
              <a:t>More Shopping Time</a:t>
            </a:r>
          </a:p>
          <a:p>
            <a:pPr algn="l" marL="345441" indent="-172721" lvl="1">
              <a:lnSpc>
                <a:spcPts val="2240"/>
              </a:lnSpc>
              <a:buFont typeface="Arial"/>
              <a:buChar char="•"/>
            </a:pPr>
            <a:r>
              <a:rPr lang="en-US" b="true" sz="1600">
                <a:solidFill>
                  <a:srgbClr val="000000"/>
                </a:solidFill>
                <a:latin typeface="Canva Sans Bold"/>
                <a:ea typeface="Canva Sans Bold"/>
                <a:cs typeface="Canva Sans Bold"/>
                <a:sym typeface="Canva Sans Bold"/>
              </a:rPr>
              <a:t>Less Relevant Suggestion</a:t>
            </a:r>
          </a:p>
        </p:txBody>
      </p:sp>
      <p:grpSp>
        <p:nvGrpSpPr>
          <p:cNvPr name="Group 35" id="35"/>
          <p:cNvGrpSpPr/>
          <p:nvPr/>
        </p:nvGrpSpPr>
        <p:grpSpPr>
          <a:xfrm rot="0">
            <a:off x="6897160" y="6342479"/>
            <a:ext cx="4493679" cy="2051124"/>
            <a:chOff x="0" y="0"/>
            <a:chExt cx="5991573" cy="2734832"/>
          </a:xfrm>
        </p:grpSpPr>
        <p:grpSp>
          <p:nvGrpSpPr>
            <p:cNvPr name="Group 36" id="36"/>
            <p:cNvGrpSpPr/>
            <p:nvPr/>
          </p:nvGrpSpPr>
          <p:grpSpPr>
            <a:xfrm rot="0">
              <a:off x="0" y="0"/>
              <a:ext cx="2905275" cy="2734832"/>
              <a:chOff x="0" y="0"/>
              <a:chExt cx="573882" cy="540214"/>
            </a:xfrm>
          </p:grpSpPr>
          <p:sp>
            <p:nvSpPr>
              <p:cNvPr name="Freeform 37" id="37"/>
              <p:cNvSpPr/>
              <p:nvPr/>
            </p:nvSpPr>
            <p:spPr>
              <a:xfrm flipH="false" flipV="false" rot="0">
                <a:off x="0" y="0"/>
                <a:ext cx="573882" cy="540214"/>
              </a:xfrm>
              <a:custGeom>
                <a:avLst/>
                <a:gdLst/>
                <a:ahLst/>
                <a:cxnLst/>
                <a:rect r="r" b="b" t="t" l="l"/>
                <a:pathLst>
                  <a:path h="540214" w="573882">
                    <a:moveTo>
                      <a:pt x="124356" y="0"/>
                    </a:moveTo>
                    <a:lnTo>
                      <a:pt x="449525" y="0"/>
                    </a:lnTo>
                    <a:cubicBezTo>
                      <a:pt x="482506" y="0"/>
                      <a:pt x="514137" y="13102"/>
                      <a:pt x="537458" y="36423"/>
                    </a:cubicBezTo>
                    <a:cubicBezTo>
                      <a:pt x="560780" y="59745"/>
                      <a:pt x="573882" y="91375"/>
                      <a:pt x="573882" y="124356"/>
                    </a:cubicBezTo>
                    <a:lnTo>
                      <a:pt x="573882" y="415857"/>
                    </a:lnTo>
                    <a:cubicBezTo>
                      <a:pt x="573882" y="484538"/>
                      <a:pt x="518205" y="540214"/>
                      <a:pt x="449525" y="540214"/>
                    </a:cubicBezTo>
                    <a:lnTo>
                      <a:pt x="124356" y="540214"/>
                    </a:lnTo>
                    <a:cubicBezTo>
                      <a:pt x="91375" y="540214"/>
                      <a:pt x="59745" y="527112"/>
                      <a:pt x="36423" y="503791"/>
                    </a:cubicBezTo>
                    <a:cubicBezTo>
                      <a:pt x="13102" y="480469"/>
                      <a:pt x="0" y="448839"/>
                      <a:pt x="0" y="415857"/>
                    </a:cubicBezTo>
                    <a:lnTo>
                      <a:pt x="0" y="124356"/>
                    </a:lnTo>
                    <a:cubicBezTo>
                      <a:pt x="0" y="55676"/>
                      <a:pt x="55676" y="0"/>
                      <a:pt x="124356" y="0"/>
                    </a:cubicBezTo>
                    <a:close/>
                  </a:path>
                </a:pathLst>
              </a:custGeom>
              <a:solidFill>
                <a:srgbClr val="EBF2FA"/>
              </a:solidFill>
            </p:spPr>
          </p:sp>
          <p:sp>
            <p:nvSpPr>
              <p:cNvPr name="TextBox 38" id="38"/>
              <p:cNvSpPr txBox="true"/>
              <p:nvPr/>
            </p:nvSpPr>
            <p:spPr>
              <a:xfrm>
                <a:off x="0" y="95250"/>
                <a:ext cx="573882" cy="444964"/>
              </a:xfrm>
              <a:prstGeom prst="rect">
                <a:avLst/>
              </a:prstGeom>
            </p:spPr>
            <p:txBody>
              <a:bodyPr anchor="ctr" rtlCol="false" tIns="50800" lIns="50800" bIns="50800" rIns="50800"/>
              <a:lstStyle/>
              <a:p>
                <a:pPr algn="ctr">
                  <a:lnSpc>
                    <a:spcPts val="1625"/>
                  </a:lnSpc>
                </a:pPr>
              </a:p>
            </p:txBody>
          </p:sp>
        </p:grpSp>
        <p:sp>
          <p:nvSpPr>
            <p:cNvPr name="TextBox 39" id="39"/>
            <p:cNvSpPr txBox="true"/>
            <p:nvPr/>
          </p:nvSpPr>
          <p:spPr>
            <a:xfrm rot="0">
              <a:off x="130218" y="761365"/>
              <a:ext cx="2736957" cy="1815888"/>
            </a:xfrm>
            <a:prstGeom prst="rect">
              <a:avLst/>
            </a:prstGeom>
          </p:spPr>
          <p:txBody>
            <a:bodyPr anchor="t" rtlCol="false" tIns="0" lIns="0" bIns="0" rIns="0">
              <a:spAutoFit/>
            </a:bodyPr>
            <a:lstStyle/>
            <a:p>
              <a:pPr algn="l" marL="345441" indent="-172721" lvl="1">
                <a:lnSpc>
                  <a:spcPts val="2240"/>
                </a:lnSpc>
                <a:buFont typeface="Arial"/>
                <a:buChar char="•"/>
              </a:pPr>
              <a:r>
                <a:rPr lang="en-US" b="true" sz="1600">
                  <a:solidFill>
                    <a:srgbClr val="000000"/>
                  </a:solidFill>
                  <a:latin typeface="Canva Sans Bold"/>
                  <a:ea typeface="Canva Sans Bold"/>
                  <a:cs typeface="Canva Sans Bold"/>
                  <a:sym typeface="Canva Sans Bold"/>
                </a:rPr>
                <a:t>Balance Privacy and Customisation</a:t>
              </a:r>
            </a:p>
            <a:p>
              <a:pPr algn="l" marL="345441" indent="-172721" lvl="1">
                <a:lnSpc>
                  <a:spcPts val="2240"/>
                </a:lnSpc>
                <a:buFont typeface="Arial"/>
                <a:buChar char="•"/>
              </a:pPr>
              <a:r>
                <a:rPr lang="en-US" b="true" sz="1600">
                  <a:solidFill>
                    <a:srgbClr val="000000"/>
                  </a:solidFill>
                  <a:latin typeface="Canva Sans Bold"/>
                  <a:ea typeface="Canva Sans Bold"/>
                  <a:cs typeface="Canva Sans Bold"/>
                  <a:sym typeface="Canva Sans Bold"/>
                </a:rPr>
                <a:t>Personalised experience</a:t>
              </a:r>
            </a:p>
          </p:txBody>
        </p:sp>
        <p:grpSp>
          <p:nvGrpSpPr>
            <p:cNvPr name="Group 40" id="40"/>
            <p:cNvGrpSpPr/>
            <p:nvPr/>
          </p:nvGrpSpPr>
          <p:grpSpPr>
            <a:xfrm rot="0">
              <a:off x="3086297" y="0"/>
              <a:ext cx="2905275" cy="2734832"/>
              <a:chOff x="0" y="0"/>
              <a:chExt cx="573882" cy="540214"/>
            </a:xfrm>
          </p:grpSpPr>
          <p:sp>
            <p:nvSpPr>
              <p:cNvPr name="Freeform 41" id="41"/>
              <p:cNvSpPr/>
              <p:nvPr/>
            </p:nvSpPr>
            <p:spPr>
              <a:xfrm flipH="false" flipV="false" rot="0">
                <a:off x="0" y="0"/>
                <a:ext cx="573882" cy="540214"/>
              </a:xfrm>
              <a:custGeom>
                <a:avLst/>
                <a:gdLst/>
                <a:ahLst/>
                <a:cxnLst/>
                <a:rect r="r" b="b" t="t" l="l"/>
                <a:pathLst>
                  <a:path h="540214" w="573882">
                    <a:moveTo>
                      <a:pt x="124356" y="0"/>
                    </a:moveTo>
                    <a:lnTo>
                      <a:pt x="449525" y="0"/>
                    </a:lnTo>
                    <a:cubicBezTo>
                      <a:pt x="482506" y="0"/>
                      <a:pt x="514137" y="13102"/>
                      <a:pt x="537458" y="36423"/>
                    </a:cubicBezTo>
                    <a:cubicBezTo>
                      <a:pt x="560780" y="59745"/>
                      <a:pt x="573882" y="91375"/>
                      <a:pt x="573882" y="124356"/>
                    </a:cubicBezTo>
                    <a:lnTo>
                      <a:pt x="573882" y="415857"/>
                    </a:lnTo>
                    <a:cubicBezTo>
                      <a:pt x="573882" y="484538"/>
                      <a:pt x="518205" y="540214"/>
                      <a:pt x="449525" y="540214"/>
                    </a:cubicBezTo>
                    <a:lnTo>
                      <a:pt x="124356" y="540214"/>
                    </a:lnTo>
                    <a:cubicBezTo>
                      <a:pt x="91375" y="540214"/>
                      <a:pt x="59745" y="527112"/>
                      <a:pt x="36423" y="503791"/>
                    </a:cubicBezTo>
                    <a:cubicBezTo>
                      <a:pt x="13102" y="480469"/>
                      <a:pt x="0" y="448839"/>
                      <a:pt x="0" y="415857"/>
                    </a:cubicBezTo>
                    <a:lnTo>
                      <a:pt x="0" y="124356"/>
                    </a:lnTo>
                    <a:cubicBezTo>
                      <a:pt x="0" y="55676"/>
                      <a:pt x="55676" y="0"/>
                      <a:pt x="124356" y="0"/>
                    </a:cubicBezTo>
                    <a:close/>
                  </a:path>
                </a:pathLst>
              </a:custGeom>
              <a:solidFill>
                <a:srgbClr val="EBF2FA"/>
              </a:solidFill>
            </p:spPr>
          </p:sp>
          <p:sp>
            <p:nvSpPr>
              <p:cNvPr name="TextBox 42" id="42"/>
              <p:cNvSpPr txBox="true"/>
              <p:nvPr/>
            </p:nvSpPr>
            <p:spPr>
              <a:xfrm>
                <a:off x="0" y="95250"/>
                <a:ext cx="573882" cy="444964"/>
              </a:xfrm>
              <a:prstGeom prst="rect">
                <a:avLst/>
              </a:prstGeom>
            </p:spPr>
            <p:txBody>
              <a:bodyPr anchor="ctr" rtlCol="false" tIns="50800" lIns="50800" bIns="50800" rIns="50800"/>
              <a:lstStyle/>
              <a:p>
                <a:pPr algn="ctr">
                  <a:lnSpc>
                    <a:spcPts val="1625"/>
                  </a:lnSpc>
                </a:pPr>
              </a:p>
            </p:txBody>
          </p:sp>
        </p:grpSp>
      </p:grpSp>
      <p:sp>
        <p:nvSpPr>
          <p:cNvPr name="TextBox 43" id="43"/>
          <p:cNvSpPr txBox="true"/>
          <p:nvPr/>
        </p:nvSpPr>
        <p:spPr>
          <a:xfrm rot="0">
            <a:off x="9283741" y="6903465"/>
            <a:ext cx="2052718" cy="1092835"/>
          </a:xfrm>
          <a:prstGeom prst="rect">
            <a:avLst/>
          </a:prstGeom>
        </p:spPr>
        <p:txBody>
          <a:bodyPr anchor="t" rtlCol="false" tIns="0" lIns="0" bIns="0" rIns="0">
            <a:spAutoFit/>
          </a:bodyPr>
          <a:lstStyle/>
          <a:p>
            <a:pPr algn="l" marL="345441" indent="-172721" lvl="1">
              <a:lnSpc>
                <a:spcPts val="2240"/>
              </a:lnSpc>
              <a:buFont typeface="Arial"/>
              <a:buChar char="•"/>
            </a:pPr>
            <a:r>
              <a:rPr lang="en-US" b="true" sz="1600">
                <a:solidFill>
                  <a:srgbClr val="000000"/>
                </a:solidFill>
                <a:latin typeface="Canva Sans Bold"/>
                <a:ea typeface="Canva Sans Bold"/>
                <a:cs typeface="Canva Sans Bold"/>
                <a:sym typeface="Canva Sans Bold"/>
              </a:rPr>
              <a:t>Device performance might be affected</a:t>
            </a:r>
          </a:p>
        </p:txBody>
      </p:sp>
      <p:sp>
        <p:nvSpPr>
          <p:cNvPr name="AutoShape 44" id="44"/>
          <p:cNvSpPr/>
          <p:nvPr/>
        </p:nvSpPr>
        <p:spPr>
          <a:xfrm>
            <a:off x="1123291" y="8855143"/>
            <a:ext cx="16465822" cy="0"/>
          </a:xfrm>
          <a:prstGeom prst="line">
            <a:avLst/>
          </a:prstGeom>
          <a:ln cap="flat" w="628650">
            <a:gradFill>
              <a:gsLst>
                <a:gs pos="0">
                  <a:srgbClr val="8C52FF">
                    <a:alpha val="61000"/>
                  </a:srgbClr>
                </a:gs>
                <a:gs pos="100000">
                  <a:srgbClr val="FF914D">
                    <a:alpha val="61000"/>
                  </a:srgbClr>
                </a:gs>
              </a:gsLst>
              <a:lin ang="0"/>
            </a:gradFill>
            <a:prstDash val="solid"/>
            <a:headEnd type="none" len="sm" w="sm"/>
            <a:tailEnd type="arrow" len="sm" w="med"/>
          </a:ln>
        </p:spPr>
      </p:sp>
      <p:sp>
        <p:nvSpPr>
          <p:cNvPr name="TextBox 45" id="45"/>
          <p:cNvSpPr txBox="true"/>
          <p:nvPr/>
        </p:nvSpPr>
        <p:spPr>
          <a:xfrm rot="0">
            <a:off x="5660676" y="8481126"/>
            <a:ext cx="6825142" cy="629919"/>
          </a:xfrm>
          <a:prstGeom prst="rect">
            <a:avLst/>
          </a:prstGeom>
        </p:spPr>
        <p:txBody>
          <a:bodyPr anchor="t" rtlCol="false" tIns="0" lIns="0" bIns="0" rIns="0">
            <a:spAutoFit/>
          </a:bodyPr>
          <a:lstStyle/>
          <a:p>
            <a:pPr algn="ctr">
              <a:lnSpc>
                <a:spcPts val="5180"/>
              </a:lnSpc>
            </a:pPr>
            <a:r>
              <a:rPr lang="en-US" sz="3700" b="true">
                <a:solidFill>
                  <a:srgbClr val="000000">
                    <a:alpha val="60784"/>
                  </a:srgbClr>
                </a:solidFill>
                <a:latin typeface="Canva Sans Bold"/>
                <a:ea typeface="Canva Sans Bold"/>
                <a:cs typeface="Canva Sans Bold"/>
                <a:sym typeface="Canva Sans Bold"/>
              </a:rPr>
              <a:t>Better Shopping Experiece</a:t>
            </a:r>
          </a:p>
        </p:txBody>
      </p:sp>
      <p:grpSp>
        <p:nvGrpSpPr>
          <p:cNvPr name="Group 46" id="46"/>
          <p:cNvGrpSpPr/>
          <p:nvPr/>
        </p:nvGrpSpPr>
        <p:grpSpPr>
          <a:xfrm rot="0">
            <a:off x="12631210" y="6342479"/>
            <a:ext cx="4493679" cy="2051124"/>
            <a:chOff x="0" y="0"/>
            <a:chExt cx="5991573" cy="2734832"/>
          </a:xfrm>
        </p:grpSpPr>
        <p:grpSp>
          <p:nvGrpSpPr>
            <p:cNvPr name="Group 47" id="47"/>
            <p:cNvGrpSpPr/>
            <p:nvPr/>
          </p:nvGrpSpPr>
          <p:grpSpPr>
            <a:xfrm rot="0">
              <a:off x="0" y="0"/>
              <a:ext cx="2905275" cy="2734832"/>
              <a:chOff x="0" y="0"/>
              <a:chExt cx="573882" cy="540214"/>
            </a:xfrm>
          </p:grpSpPr>
          <p:sp>
            <p:nvSpPr>
              <p:cNvPr name="Freeform 48" id="48"/>
              <p:cNvSpPr/>
              <p:nvPr/>
            </p:nvSpPr>
            <p:spPr>
              <a:xfrm flipH="false" flipV="false" rot="0">
                <a:off x="0" y="0"/>
                <a:ext cx="573882" cy="540214"/>
              </a:xfrm>
              <a:custGeom>
                <a:avLst/>
                <a:gdLst/>
                <a:ahLst/>
                <a:cxnLst/>
                <a:rect r="r" b="b" t="t" l="l"/>
                <a:pathLst>
                  <a:path h="540214" w="573882">
                    <a:moveTo>
                      <a:pt x="124356" y="0"/>
                    </a:moveTo>
                    <a:lnTo>
                      <a:pt x="449525" y="0"/>
                    </a:lnTo>
                    <a:cubicBezTo>
                      <a:pt x="482506" y="0"/>
                      <a:pt x="514137" y="13102"/>
                      <a:pt x="537458" y="36423"/>
                    </a:cubicBezTo>
                    <a:cubicBezTo>
                      <a:pt x="560780" y="59745"/>
                      <a:pt x="573882" y="91375"/>
                      <a:pt x="573882" y="124356"/>
                    </a:cubicBezTo>
                    <a:lnTo>
                      <a:pt x="573882" y="415857"/>
                    </a:lnTo>
                    <a:cubicBezTo>
                      <a:pt x="573882" y="484538"/>
                      <a:pt x="518205" y="540214"/>
                      <a:pt x="449525" y="540214"/>
                    </a:cubicBezTo>
                    <a:lnTo>
                      <a:pt x="124356" y="540214"/>
                    </a:lnTo>
                    <a:cubicBezTo>
                      <a:pt x="91375" y="540214"/>
                      <a:pt x="59745" y="527112"/>
                      <a:pt x="36423" y="503791"/>
                    </a:cubicBezTo>
                    <a:cubicBezTo>
                      <a:pt x="13102" y="480469"/>
                      <a:pt x="0" y="448839"/>
                      <a:pt x="0" y="415857"/>
                    </a:cubicBezTo>
                    <a:lnTo>
                      <a:pt x="0" y="124356"/>
                    </a:lnTo>
                    <a:cubicBezTo>
                      <a:pt x="0" y="55676"/>
                      <a:pt x="55676" y="0"/>
                      <a:pt x="124356" y="0"/>
                    </a:cubicBezTo>
                    <a:close/>
                  </a:path>
                </a:pathLst>
              </a:custGeom>
              <a:solidFill>
                <a:srgbClr val="EBF2FA"/>
              </a:solidFill>
            </p:spPr>
          </p:sp>
          <p:sp>
            <p:nvSpPr>
              <p:cNvPr name="TextBox 49" id="49"/>
              <p:cNvSpPr txBox="true"/>
              <p:nvPr/>
            </p:nvSpPr>
            <p:spPr>
              <a:xfrm>
                <a:off x="0" y="95250"/>
                <a:ext cx="573882" cy="444964"/>
              </a:xfrm>
              <a:prstGeom prst="rect">
                <a:avLst/>
              </a:prstGeom>
            </p:spPr>
            <p:txBody>
              <a:bodyPr anchor="ctr" rtlCol="false" tIns="50800" lIns="50800" bIns="50800" rIns="50800"/>
              <a:lstStyle/>
              <a:p>
                <a:pPr algn="ctr">
                  <a:lnSpc>
                    <a:spcPts val="1625"/>
                  </a:lnSpc>
                </a:pPr>
              </a:p>
            </p:txBody>
          </p:sp>
        </p:grpSp>
        <p:sp>
          <p:nvSpPr>
            <p:cNvPr name="TextBox 50" id="50"/>
            <p:cNvSpPr txBox="true"/>
            <p:nvPr/>
          </p:nvSpPr>
          <p:spPr>
            <a:xfrm rot="0">
              <a:off x="130218" y="761365"/>
              <a:ext cx="2736957" cy="1815888"/>
            </a:xfrm>
            <a:prstGeom prst="rect">
              <a:avLst/>
            </a:prstGeom>
          </p:spPr>
          <p:txBody>
            <a:bodyPr anchor="t" rtlCol="false" tIns="0" lIns="0" bIns="0" rIns="0">
              <a:spAutoFit/>
            </a:bodyPr>
            <a:lstStyle/>
            <a:p>
              <a:pPr algn="l" marL="345439" indent="-172720" lvl="1">
                <a:lnSpc>
                  <a:spcPts val="2239"/>
                </a:lnSpc>
                <a:buFont typeface="Arial"/>
                <a:buChar char="•"/>
              </a:pPr>
              <a:r>
                <a:rPr lang="en-US" b="true" sz="1599">
                  <a:solidFill>
                    <a:srgbClr val="000000"/>
                  </a:solidFill>
                  <a:latin typeface="Canva Sans Bold"/>
                  <a:ea typeface="Canva Sans Bold"/>
                  <a:cs typeface="Canva Sans Bold"/>
                  <a:sym typeface="Canva Sans Bold"/>
                </a:rPr>
                <a:t>Customised Recommendations</a:t>
              </a:r>
            </a:p>
            <a:p>
              <a:pPr algn="l" marL="345439" indent="-172720" lvl="1">
                <a:lnSpc>
                  <a:spcPts val="2239"/>
                </a:lnSpc>
                <a:buFont typeface="Arial"/>
                <a:buChar char="•"/>
              </a:pPr>
              <a:r>
                <a:rPr lang="en-US" b="true" sz="1599">
                  <a:solidFill>
                    <a:srgbClr val="000000"/>
                  </a:solidFill>
                  <a:latin typeface="Canva Sans Bold"/>
                  <a:ea typeface="Canva Sans Bold"/>
                  <a:cs typeface="Canva Sans Bold"/>
                  <a:sym typeface="Canva Sans Bold"/>
                </a:rPr>
                <a:t>Less Shopping Time</a:t>
              </a:r>
            </a:p>
          </p:txBody>
        </p:sp>
        <p:grpSp>
          <p:nvGrpSpPr>
            <p:cNvPr name="Group 51" id="51"/>
            <p:cNvGrpSpPr/>
            <p:nvPr/>
          </p:nvGrpSpPr>
          <p:grpSpPr>
            <a:xfrm rot="0">
              <a:off x="3086297" y="0"/>
              <a:ext cx="2905275" cy="2734832"/>
              <a:chOff x="0" y="0"/>
              <a:chExt cx="573882" cy="540214"/>
            </a:xfrm>
          </p:grpSpPr>
          <p:sp>
            <p:nvSpPr>
              <p:cNvPr name="Freeform 52" id="52"/>
              <p:cNvSpPr/>
              <p:nvPr/>
            </p:nvSpPr>
            <p:spPr>
              <a:xfrm flipH="false" flipV="false" rot="0">
                <a:off x="0" y="0"/>
                <a:ext cx="573882" cy="540214"/>
              </a:xfrm>
              <a:custGeom>
                <a:avLst/>
                <a:gdLst/>
                <a:ahLst/>
                <a:cxnLst/>
                <a:rect r="r" b="b" t="t" l="l"/>
                <a:pathLst>
                  <a:path h="540214" w="573882">
                    <a:moveTo>
                      <a:pt x="124356" y="0"/>
                    </a:moveTo>
                    <a:lnTo>
                      <a:pt x="449525" y="0"/>
                    </a:lnTo>
                    <a:cubicBezTo>
                      <a:pt x="482506" y="0"/>
                      <a:pt x="514137" y="13102"/>
                      <a:pt x="537458" y="36423"/>
                    </a:cubicBezTo>
                    <a:cubicBezTo>
                      <a:pt x="560780" y="59745"/>
                      <a:pt x="573882" y="91375"/>
                      <a:pt x="573882" y="124356"/>
                    </a:cubicBezTo>
                    <a:lnTo>
                      <a:pt x="573882" y="415857"/>
                    </a:lnTo>
                    <a:cubicBezTo>
                      <a:pt x="573882" y="484538"/>
                      <a:pt x="518205" y="540214"/>
                      <a:pt x="449525" y="540214"/>
                    </a:cubicBezTo>
                    <a:lnTo>
                      <a:pt x="124356" y="540214"/>
                    </a:lnTo>
                    <a:cubicBezTo>
                      <a:pt x="91375" y="540214"/>
                      <a:pt x="59745" y="527112"/>
                      <a:pt x="36423" y="503791"/>
                    </a:cubicBezTo>
                    <a:cubicBezTo>
                      <a:pt x="13102" y="480469"/>
                      <a:pt x="0" y="448839"/>
                      <a:pt x="0" y="415857"/>
                    </a:cubicBezTo>
                    <a:lnTo>
                      <a:pt x="0" y="124356"/>
                    </a:lnTo>
                    <a:cubicBezTo>
                      <a:pt x="0" y="55676"/>
                      <a:pt x="55676" y="0"/>
                      <a:pt x="124356" y="0"/>
                    </a:cubicBezTo>
                    <a:close/>
                  </a:path>
                </a:pathLst>
              </a:custGeom>
              <a:solidFill>
                <a:srgbClr val="EBF2FA"/>
              </a:solidFill>
            </p:spPr>
          </p:sp>
          <p:sp>
            <p:nvSpPr>
              <p:cNvPr name="TextBox 53" id="53"/>
              <p:cNvSpPr txBox="true"/>
              <p:nvPr/>
            </p:nvSpPr>
            <p:spPr>
              <a:xfrm>
                <a:off x="0" y="95250"/>
                <a:ext cx="573882" cy="444964"/>
              </a:xfrm>
              <a:prstGeom prst="rect">
                <a:avLst/>
              </a:prstGeom>
            </p:spPr>
            <p:txBody>
              <a:bodyPr anchor="ctr" rtlCol="false" tIns="50800" lIns="50800" bIns="50800" rIns="50800"/>
              <a:lstStyle/>
              <a:p>
                <a:pPr algn="ctr">
                  <a:lnSpc>
                    <a:spcPts val="1625"/>
                  </a:lnSpc>
                </a:pPr>
              </a:p>
            </p:txBody>
          </p:sp>
        </p:grpSp>
        <p:sp>
          <p:nvSpPr>
            <p:cNvPr name="TextBox 54" id="54"/>
            <p:cNvSpPr txBox="true"/>
            <p:nvPr/>
          </p:nvSpPr>
          <p:spPr>
            <a:xfrm rot="0">
              <a:off x="3254615" y="761365"/>
              <a:ext cx="2736957" cy="1079288"/>
            </a:xfrm>
            <a:prstGeom prst="rect">
              <a:avLst/>
            </a:prstGeom>
          </p:spPr>
          <p:txBody>
            <a:bodyPr anchor="t" rtlCol="false" tIns="0" lIns="0" bIns="0" rIns="0">
              <a:spAutoFit/>
            </a:bodyPr>
            <a:lstStyle/>
            <a:p>
              <a:pPr algn="l" marL="345441" indent="-172721" lvl="1">
                <a:lnSpc>
                  <a:spcPts val="2240"/>
                </a:lnSpc>
                <a:buFont typeface="Arial"/>
                <a:buChar char="•"/>
              </a:pPr>
              <a:r>
                <a:rPr lang="en-US" b="true" sz="1600">
                  <a:solidFill>
                    <a:srgbClr val="000000"/>
                  </a:solidFill>
                  <a:latin typeface="Canva Sans Bold"/>
                  <a:ea typeface="Canva Sans Bold"/>
                  <a:cs typeface="Canva Sans Bold"/>
                  <a:sym typeface="Canva Sans Bold"/>
                </a:rPr>
                <a:t>Privacy Concerns</a:t>
              </a:r>
            </a:p>
            <a:p>
              <a:pPr algn="l" marL="345441" indent="-172721" lvl="1">
                <a:lnSpc>
                  <a:spcPts val="2240"/>
                </a:lnSpc>
                <a:buFont typeface="Arial"/>
                <a:buChar char="•"/>
              </a:pPr>
              <a:r>
                <a:rPr lang="en-US" b="true" sz="1600">
                  <a:solidFill>
                    <a:srgbClr val="000000"/>
                  </a:solidFill>
                  <a:latin typeface="Canva Sans Bold"/>
                  <a:ea typeface="Canva Sans Bold"/>
                  <a:cs typeface="Canva Sans Bold"/>
                  <a:sym typeface="Canva Sans Bold"/>
                </a:rPr>
                <a:t>Explicit Consent</a:t>
              </a:r>
            </a:p>
          </p:txBody>
        </p:sp>
      </p:grpSp>
      <p:sp>
        <p:nvSpPr>
          <p:cNvPr name="TextBox 55" id="55"/>
          <p:cNvSpPr txBox="true"/>
          <p:nvPr/>
        </p:nvSpPr>
        <p:spPr>
          <a:xfrm rot="0">
            <a:off x="12689461" y="3309682"/>
            <a:ext cx="4493679" cy="3302635"/>
          </a:xfrm>
          <a:prstGeom prst="rect">
            <a:avLst/>
          </a:prstGeom>
        </p:spPr>
        <p:txBody>
          <a:bodyPr anchor="t" rtlCol="false" tIns="0" lIns="0" bIns="0" rIns="0">
            <a:spAutoFit/>
          </a:bodyPr>
          <a:lstStyle/>
          <a:p>
            <a:pPr algn="l">
              <a:lnSpc>
                <a:spcPts val="2239"/>
              </a:lnSpc>
            </a:pPr>
            <a:r>
              <a:rPr lang="en-US" sz="1599">
                <a:solidFill>
                  <a:srgbClr val="000000"/>
                </a:solidFill>
                <a:latin typeface="Canva Sans"/>
                <a:ea typeface="Canva Sans"/>
                <a:cs typeface="Canva Sans"/>
                <a:sym typeface="Canva Sans"/>
              </a:rPr>
              <a:t>These users seek the most customized experience, with </a:t>
            </a:r>
            <a:r>
              <a:rPr lang="en-US" sz="1599" b="true">
                <a:solidFill>
                  <a:srgbClr val="000000"/>
                </a:solidFill>
                <a:latin typeface="Canva Sans Bold"/>
                <a:ea typeface="Canva Sans Bold"/>
                <a:cs typeface="Canva Sans Bold"/>
                <a:sym typeface="Canva Sans Bold"/>
              </a:rPr>
              <a:t>Deep Personalization</a:t>
            </a:r>
            <a:r>
              <a:rPr lang="en-US" sz="1599">
                <a:solidFill>
                  <a:srgbClr val="000000"/>
                </a:solidFill>
                <a:latin typeface="Canva Sans"/>
                <a:ea typeface="Canva Sans"/>
                <a:cs typeface="Canva Sans"/>
                <a:sym typeface="Canva Sans"/>
              </a:rPr>
              <a:t> leveraging their full scope of consented data.</a:t>
            </a:r>
          </a:p>
          <a:p>
            <a:pPr algn="l">
              <a:lnSpc>
                <a:spcPts val="2239"/>
              </a:lnSpc>
            </a:pPr>
          </a:p>
          <a:p>
            <a:pPr algn="l">
              <a:lnSpc>
                <a:spcPts val="2239"/>
              </a:lnSpc>
            </a:pPr>
            <a:r>
              <a:rPr lang="en-US" sz="1599">
                <a:solidFill>
                  <a:srgbClr val="000000"/>
                </a:solidFill>
                <a:latin typeface="Canva Sans"/>
                <a:ea typeface="Canva Sans"/>
                <a:cs typeface="Canva Sans"/>
                <a:sym typeface="Canva Sans"/>
              </a:rPr>
              <a:t>By giving explicit consent, customers allow data to be stored on </a:t>
            </a:r>
            <a:r>
              <a:rPr lang="en-US" sz="1599" b="true">
                <a:solidFill>
                  <a:srgbClr val="000000"/>
                </a:solidFill>
                <a:latin typeface="Canva Sans Bold"/>
                <a:ea typeface="Canva Sans Bold"/>
                <a:cs typeface="Canva Sans Bold"/>
                <a:sym typeface="Canva Sans Bold"/>
              </a:rPr>
              <a:t>secure servers</a:t>
            </a:r>
            <a:r>
              <a:rPr lang="en-US" sz="1599">
                <a:solidFill>
                  <a:srgbClr val="000000"/>
                </a:solidFill>
                <a:latin typeface="Canva Sans"/>
                <a:ea typeface="Canva Sans"/>
                <a:cs typeface="Canva Sans"/>
                <a:sym typeface="Canva Sans"/>
              </a:rPr>
              <a:t>, where it undergoes analysis to provide </a:t>
            </a:r>
            <a:r>
              <a:rPr lang="en-US" sz="1599" b="true">
                <a:solidFill>
                  <a:srgbClr val="000000"/>
                </a:solidFill>
                <a:latin typeface="Canva Sans Bold"/>
                <a:ea typeface="Canva Sans Bold"/>
                <a:cs typeface="Canva Sans Bold"/>
                <a:sym typeface="Canva Sans Bold"/>
              </a:rPr>
              <a:t>highly relevant</a:t>
            </a:r>
            <a:r>
              <a:rPr lang="en-US" sz="1599">
                <a:solidFill>
                  <a:srgbClr val="000000"/>
                </a:solidFill>
                <a:latin typeface="Canva Sans"/>
                <a:ea typeface="Canva Sans"/>
                <a:cs typeface="Canva Sans"/>
                <a:sym typeface="Canva Sans"/>
              </a:rPr>
              <a:t>, </a:t>
            </a:r>
            <a:r>
              <a:rPr lang="en-US" sz="1599" b="true">
                <a:solidFill>
                  <a:srgbClr val="000000"/>
                </a:solidFill>
                <a:latin typeface="Canva Sans Bold"/>
                <a:ea typeface="Canva Sans Bold"/>
                <a:cs typeface="Canva Sans Bold"/>
                <a:sym typeface="Canva Sans Bold"/>
              </a:rPr>
              <a:t>data-driven product</a:t>
            </a:r>
            <a:r>
              <a:rPr lang="en-US" sz="1599">
                <a:solidFill>
                  <a:srgbClr val="000000"/>
                </a:solidFill>
                <a:latin typeface="Canva Sans"/>
                <a:ea typeface="Canva Sans"/>
                <a:cs typeface="Canva Sans"/>
                <a:sym typeface="Canva Sans"/>
              </a:rPr>
              <a:t> </a:t>
            </a:r>
            <a:r>
              <a:rPr lang="en-US" sz="1599" b="true">
                <a:solidFill>
                  <a:srgbClr val="000000"/>
                </a:solidFill>
                <a:latin typeface="Canva Sans Bold"/>
                <a:ea typeface="Canva Sans Bold"/>
                <a:cs typeface="Canva Sans Bold"/>
                <a:sym typeface="Canva Sans Bold"/>
              </a:rPr>
              <a:t>recommendations</a:t>
            </a:r>
            <a:r>
              <a:rPr lang="en-US" sz="1599">
                <a:solidFill>
                  <a:srgbClr val="000000"/>
                </a:solidFill>
                <a:latin typeface="Canva Sans"/>
                <a:ea typeface="Canva Sans"/>
                <a:cs typeface="Canva Sans"/>
                <a:sym typeface="Canva Sans"/>
              </a:rPr>
              <a:t>. This option is governed by </a:t>
            </a:r>
            <a:r>
              <a:rPr lang="en-US" sz="1599" b="true">
                <a:solidFill>
                  <a:srgbClr val="000000"/>
                </a:solidFill>
                <a:latin typeface="Canva Sans Bold"/>
                <a:ea typeface="Canva Sans Bold"/>
                <a:cs typeface="Canva Sans Bold"/>
                <a:sym typeface="Canva Sans Bold"/>
              </a:rPr>
              <a:t>strict privacy protoco</a:t>
            </a:r>
            <a:r>
              <a:rPr lang="en-US" sz="1599">
                <a:solidFill>
                  <a:srgbClr val="000000"/>
                </a:solidFill>
                <a:latin typeface="Canva Sans"/>
                <a:ea typeface="Canva Sans"/>
                <a:cs typeface="Canva Sans"/>
                <a:sym typeface="Canva Sans"/>
              </a:rPr>
              <a:t>ls</a:t>
            </a:r>
            <a:r>
              <a:rPr lang="en-US" sz="1599">
                <a:solidFill>
                  <a:srgbClr val="000000"/>
                </a:solidFill>
                <a:latin typeface="Canva Sans"/>
                <a:ea typeface="Canva Sans"/>
                <a:cs typeface="Canva Sans"/>
                <a:sym typeface="Canva Sans"/>
              </a:rPr>
              <a:t> and </a:t>
            </a:r>
            <a:r>
              <a:rPr lang="en-US" sz="1599" b="true">
                <a:solidFill>
                  <a:srgbClr val="000000"/>
                </a:solidFill>
                <a:latin typeface="Canva Sans Bold"/>
                <a:ea typeface="Canva Sans Bold"/>
                <a:cs typeface="Canva Sans Bold"/>
                <a:sym typeface="Canva Sans Bold"/>
              </a:rPr>
              <a:t>transparency</a:t>
            </a:r>
            <a:r>
              <a:rPr lang="en-US" sz="1599">
                <a:solidFill>
                  <a:srgbClr val="000000"/>
                </a:solidFill>
                <a:latin typeface="Canva Sans"/>
                <a:ea typeface="Canva Sans"/>
                <a:cs typeface="Canva Sans"/>
                <a:sym typeface="Canva Sans"/>
              </a:rPr>
              <a:t> regarding data use.</a:t>
            </a:r>
          </a:p>
          <a:p>
            <a:pPr algn="l">
              <a:lnSpc>
                <a:spcPts val="2239"/>
              </a:lnSpc>
            </a:pPr>
          </a:p>
        </p:txBody>
      </p:sp>
      <p:sp>
        <p:nvSpPr>
          <p:cNvPr name="TextBox 56" id="56"/>
          <p:cNvSpPr txBox="true"/>
          <p:nvPr/>
        </p:nvSpPr>
        <p:spPr>
          <a:xfrm rot="0">
            <a:off x="7004040" y="3327779"/>
            <a:ext cx="4105436" cy="3233420"/>
          </a:xfrm>
          <a:prstGeom prst="rect">
            <a:avLst/>
          </a:prstGeom>
        </p:spPr>
        <p:txBody>
          <a:bodyPr anchor="t" rtlCol="false" tIns="0" lIns="0" bIns="0" rIns="0">
            <a:spAutoFit/>
          </a:bodyPr>
          <a:lstStyle/>
          <a:p>
            <a:pPr algn="l">
              <a:lnSpc>
                <a:spcPts val="2379"/>
              </a:lnSpc>
            </a:pPr>
            <a:r>
              <a:rPr lang="en-US" sz="1699">
                <a:solidFill>
                  <a:srgbClr val="000000"/>
                </a:solidFill>
                <a:latin typeface="Canva Sans"/>
                <a:ea typeface="Canva Sans"/>
                <a:cs typeface="Canva Sans"/>
                <a:sym typeface="Canva Sans"/>
              </a:rPr>
              <a:t> These users opt for a balanced approach, where </a:t>
            </a:r>
            <a:r>
              <a:rPr lang="en-US" sz="1699" b="true">
                <a:solidFill>
                  <a:srgbClr val="000000"/>
                </a:solidFill>
                <a:latin typeface="Canva Sans Bold"/>
                <a:ea typeface="Canva Sans Bold"/>
                <a:cs typeface="Canva Sans Bold"/>
                <a:sym typeface="Canva Sans Bold"/>
              </a:rPr>
              <a:t>Federated Learning</a:t>
            </a:r>
            <a:r>
              <a:rPr lang="en-US" sz="1699">
                <a:solidFill>
                  <a:srgbClr val="000000"/>
                </a:solidFill>
                <a:latin typeface="Canva Sans"/>
                <a:ea typeface="Canva Sans"/>
                <a:cs typeface="Canva Sans"/>
                <a:sym typeface="Canva Sans"/>
              </a:rPr>
              <a:t> provides personalized recommendations</a:t>
            </a:r>
          </a:p>
          <a:p>
            <a:pPr algn="l">
              <a:lnSpc>
                <a:spcPts val="2379"/>
              </a:lnSpc>
            </a:pPr>
            <a:r>
              <a:rPr lang="en-US" sz="1699">
                <a:solidFill>
                  <a:srgbClr val="000000"/>
                </a:solidFill>
                <a:latin typeface="Canva Sans"/>
                <a:ea typeface="Canva Sans"/>
                <a:cs typeface="Canva Sans"/>
                <a:sym typeface="Canva Sans"/>
              </a:rPr>
              <a:t>The system learns from each user’s b</a:t>
            </a:r>
            <a:r>
              <a:rPr lang="en-US" sz="1699">
                <a:solidFill>
                  <a:srgbClr val="000000"/>
                </a:solidFill>
                <a:latin typeface="Canva Sans"/>
                <a:ea typeface="Canva Sans"/>
                <a:cs typeface="Canva Sans"/>
                <a:sym typeface="Canva Sans"/>
              </a:rPr>
              <a:t>e</a:t>
            </a:r>
            <a:r>
              <a:rPr lang="en-US" sz="1699">
                <a:solidFill>
                  <a:srgbClr val="000000"/>
                </a:solidFill>
                <a:latin typeface="Canva Sans"/>
                <a:ea typeface="Canva Sans"/>
                <a:cs typeface="Canva Sans"/>
                <a:sym typeface="Canva Sans"/>
              </a:rPr>
              <a:t>h</a:t>
            </a:r>
            <a:r>
              <a:rPr lang="en-US" sz="1699">
                <a:solidFill>
                  <a:srgbClr val="000000"/>
                </a:solidFill>
                <a:latin typeface="Canva Sans"/>
                <a:ea typeface="Canva Sans"/>
                <a:cs typeface="Canva Sans"/>
                <a:sym typeface="Canva Sans"/>
              </a:rPr>
              <a:t>a</a:t>
            </a:r>
            <a:r>
              <a:rPr lang="en-US" sz="1699">
                <a:solidFill>
                  <a:srgbClr val="000000"/>
                </a:solidFill>
                <a:latin typeface="Canva Sans"/>
                <a:ea typeface="Canva Sans"/>
                <a:cs typeface="Canva Sans"/>
                <a:sym typeface="Canva Sans"/>
              </a:rPr>
              <a:t>vior</a:t>
            </a:r>
            <a:r>
              <a:rPr lang="en-US" sz="1699">
                <a:solidFill>
                  <a:srgbClr val="000000"/>
                </a:solidFill>
                <a:latin typeface="Canva Sans"/>
                <a:ea typeface="Canva Sans"/>
                <a:cs typeface="Canva Sans"/>
                <a:sym typeface="Canva Sans"/>
              </a:rPr>
              <a:t> </a:t>
            </a:r>
            <a:r>
              <a:rPr lang="en-US" sz="1699">
                <a:solidFill>
                  <a:srgbClr val="000000"/>
                </a:solidFill>
                <a:latin typeface="Canva Sans"/>
                <a:ea typeface="Canva Sans"/>
                <a:cs typeface="Canva Sans"/>
                <a:sym typeface="Canva Sans"/>
              </a:rPr>
              <a:t>di</a:t>
            </a:r>
            <a:r>
              <a:rPr lang="en-US" sz="1699">
                <a:solidFill>
                  <a:srgbClr val="000000"/>
                </a:solidFill>
                <a:latin typeface="Canva Sans"/>
                <a:ea typeface="Canva Sans"/>
                <a:cs typeface="Canva Sans"/>
                <a:sym typeface="Canva Sans"/>
              </a:rPr>
              <a:t>re</a:t>
            </a:r>
            <a:r>
              <a:rPr lang="en-US" sz="1699">
                <a:solidFill>
                  <a:srgbClr val="000000"/>
                </a:solidFill>
                <a:latin typeface="Canva Sans"/>
                <a:ea typeface="Canva Sans"/>
                <a:cs typeface="Canva Sans"/>
                <a:sym typeface="Canva Sans"/>
              </a:rPr>
              <a:t>c</a:t>
            </a:r>
            <a:r>
              <a:rPr lang="en-US" sz="1699">
                <a:solidFill>
                  <a:srgbClr val="000000"/>
                </a:solidFill>
                <a:latin typeface="Canva Sans"/>
                <a:ea typeface="Canva Sans"/>
                <a:cs typeface="Canva Sans"/>
                <a:sym typeface="Canva Sans"/>
              </a:rPr>
              <a:t>t</a:t>
            </a:r>
            <a:r>
              <a:rPr lang="en-US" sz="1699">
                <a:solidFill>
                  <a:srgbClr val="000000"/>
                </a:solidFill>
                <a:latin typeface="Canva Sans"/>
                <a:ea typeface="Canva Sans"/>
                <a:cs typeface="Canva Sans"/>
                <a:sym typeface="Canva Sans"/>
              </a:rPr>
              <a:t>ly on</a:t>
            </a:r>
            <a:r>
              <a:rPr lang="en-US" sz="1699">
                <a:solidFill>
                  <a:srgbClr val="000000"/>
                </a:solidFill>
                <a:latin typeface="Canva Sans"/>
                <a:ea typeface="Canva Sans"/>
                <a:cs typeface="Canva Sans"/>
                <a:sym typeface="Canva Sans"/>
              </a:rPr>
              <a:t> t</a:t>
            </a:r>
            <a:r>
              <a:rPr lang="en-US" sz="1699">
                <a:solidFill>
                  <a:srgbClr val="000000"/>
                </a:solidFill>
                <a:latin typeface="Canva Sans"/>
                <a:ea typeface="Canva Sans"/>
                <a:cs typeface="Canva Sans"/>
                <a:sym typeface="Canva Sans"/>
              </a:rPr>
              <a:t>hei</a:t>
            </a:r>
            <a:r>
              <a:rPr lang="en-US" sz="1699">
                <a:solidFill>
                  <a:srgbClr val="000000"/>
                </a:solidFill>
                <a:latin typeface="Canva Sans"/>
                <a:ea typeface="Canva Sans"/>
                <a:cs typeface="Canva Sans"/>
                <a:sym typeface="Canva Sans"/>
              </a:rPr>
              <a:t>r</a:t>
            </a:r>
            <a:r>
              <a:rPr lang="en-US" sz="1699">
                <a:solidFill>
                  <a:srgbClr val="000000"/>
                </a:solidFill>
                <a:latin typeface="Canva Sans"/>
                <a:ea typeface="Canva Sans"/>
                <a:cs typeface="Canva Sans"/>
                <a:sym typeface="Canva Sans"/>
              </a:rPr>
              <a:t> device, </a:t>
            </a:r>
            <a:r>
              <a:rPr lang="en-US" sz="1699">
                <a:solidFill>
                  <a:srgbClr val="000000"/>
                </a:solidFill>
                <a:latin typeface="Canva Sans"/>
                <a:ea typeface="Canva Sans"/>
                <a:cs typeface="Canva Sans"/>
                <a:sym typeface="Canva Sans"/>
              </a:rPr>
              <a:t>en</a:t>
            </a:r>
            <a:r>
              <a:rPr lang="en-US" sz="1699">
                <a:solidFill>
                  <a:srgbClr val="000000"/>
                </a:solidFill>
                <a:latin typeface="Canva Sans"/>
                <a:ea typeface="Canva Sans"/>
                <a:cs typeface="Canva Sans"/>
                <a:sym typeface="Canva Sans"/>
              </a:rPr>
              <a:t>suring </a:t>
            </a:r>
            <a:r>
              <a:rPr lang="en-US" sz="1699" b="true">
                <a:solidFill>
                  <a:srgbClr val="000000"/>
                </a:solidFill>
                <a:latin typeface="Canva Sans Bold"/>
                <a:ea typeface="Canva Sans Bold"/>
                <a:cs typeface="Canva Sans Bold"/>
                <a:sym typeface="Canva Sans Bold"/>
              </a:rPr>
              <a:t>data localization.</a:t>
            </a:r>
            <a:r>
              <a:rPr lang="en-US" sz="1699">
                <a:solidFill>
                  <a:srgbClr val="000000"/>
                </a:solidFill>
                <a:latin typeface="Canva Sans"/>
                <a:ea typeface="Canva Sans"/>
                <a:cs typeface="Canva Sans"/>
                <a:sym typeface="Canva Sans"/>
              </a:rPr>
              <a:t> Only </a:t>
            </a:r>
            <a:r>
              <a:rPr lang="en-US" sz="1699" b="true">
                <a:solidFill>
                  <a:srgbClr val="000000"/>
                </a:solidFill>
                <a:latin typeface="Canva Sans Bold"/>
                <a:ea typeface="Canva Sans Bold"/>
                <a:cs typeface="Canva Sans Bold"/>
                <a:sym typeface="Canva Sans Bold"/>
              </a:rPr>
              <a:t>anonymized</a:t>
            </a:r>
            <a:r>
              <a:rPr lang="en-US" sz="1699">
                <a:solidFill>
                  <a:srgbClr val="000000"/>
                </a:solidFill>
                <a:latin typeface="Canva Sans"/>
                <a:ea typeface="Canva Sans"/>
                <a:cs typeface="Canva Sans"/>
                <a:sym typeface="Canva Sans"/>
              </a:rPr>
              <a:t> </a:t>
            </a:r>
            <a:r>
              <a:rPr lang="en-US" sz="1699">
                <a:solidFill>
                  <a:srgbClr val="000000"/>
                </a:solidFill>
                <a:latin typeface="Canva Sans"/>
                <a:ea typeface="Canva Sans"/>
                <a:cs typeface="Canva Sans"/>
                <a:sym typeface="Canva Sans"/>
              </a:rPr>
              <a:t>m</a:t>
            </a:r>
            <a:r>
              <a:rPr lang="en-US" sz="1699">
                <a:solidFill>
                  <a:srgbClr val="000000"/>
                </a:solidFill>
                <a:latin typeface="Canva Sans"/>
                <a:ea typeface="Canva Sans"/>
                <a:cs typeface="Canva Sans"/>
                <a:sym typeface="Canva Sans"/>
              </a:rPr>
              <a:t>od</a:t>
            </a:r>
            <a:r>
              <a:rPr lang="en-US" sz="1699">
                <a:solidFill>
                  <a:srgbClr val="000000"/>
                </a:solidFill>
                <a:latin typeface="Canva Sans"/>
                <a:ea typeface="Canva Sans"/>
                <a:cs typeface="Canva Sans"/>
                <a:sym typeface="Canva Sans"/>
              </a:rPr>
              <a:t>el </a:t>
            </a:r>
            <a:r>
              <a:rPr lang="en-US" sz="1699">
                <a:solidFill>
                  <a:srgbClr val="000000"/>
                </a:solidFill>
                <a:latin typeface="Canva Sans"/>
                <a:ea typeface="Canva Sans"/>
                <a:cs typeface="Canva Sans"/>
                <a:sym typeface="Canva Sans"/>
              </a:rPr>
              <a:t>u</a:t>
            </a:r>
            <a:r>
              <a:rPr lang="en-US" sz="1699">
                <a:solidFill>
                  <a:srgbClr val="000000"/>
                </a:solidFill>
                <a:latin typeface="Canva Sans"/>
                <a:ea typeface="Canva Sans"/>
                <a:cs typeface="Canva Sans"/>
                <a:sym typeface="Canva Sans"/>
              </a:rPr>
              <a:t>pda</a:t>
            </a:r>
            <a:r>
              <a:rPr lang="en-US" sz="1699">
                <a:solidFill>
                  <a:srgbClr val="000000"/>
                </a:solidFill>
                <a:latin typeface="Canva Sans"/>
                <a:ea typeface="Canva Sans"/>
                <a:cs typeface="Canva Sans"/>
                <a:sym typeface="Canva Sans"/>
              </a:rPr>
              <a:t>t</a:t>
            </a:r>
            <a:r>
              <a:rPr lang="en-US" sz="1699">
                <a:solidFill>
                  <a:srgbClr val="000000"/>
                </a:solidFill>
                <a:latin typeface="Canva Sans"/>
                <a:ea typeface="Canva Sans"/>
                <a:cs typeface="Canva Sans"/>
                <a:sym typeface="Canva Sans"/>
              </a:rPr>
              <a:t>e</a:t>
            </a:r>
            <a:r>
              <a:rPr lang="en-US" sz="1699">
                <a:solidFill>
                  <a:srgbClr val="000000"/>
                </a:solidFill>
                <a:latin typeface="Canva Sans"/>
                <a:ea typeface="Canva Sans"/>
                <a:cs typeface="Canva Sans"/>
                <a:sym typeface="Canva Sans"/>
              </a:rPr>
              <a:t>s a</a:t>
            </a:r>
            <a:r>
              <a:rPr lang="en-US" sz="1699">
                <a:solidFill>
                  <a:srgbClr val="000000"/>
                </a:solidFill>
                <a:latin typeface="Canva Sans"/>
                <a:ea typeface="Canva Sans"/>
                <a:cs typeface="Canva Sans"/>
                <a:sym typeface="Canva Sans"/>
              </a:rPr>
              <a:t>re</a:t>
            </a:r>
            <a:r>
              <a:rPr lang="en-US" sz="1699">
                <a:solidFill>
                  <a:srgbClr val="000000"/>
                </a:solidFill>
                <a:latin typeface="Canva Sans"/>
                <a:ea typeface="Canva Sans"/>
                <a:cs typeface="Canva Sans"/>
                <a:sym typeface="Canva Sans"/>
              </a:rPr>
              <a:t> s</a:t>
            </a:r>
            <a:r>
              <a:rPr lang="en-US" sz="1699">
                <a:solidFill>
                  <a:srgbClr val="000000"/>
                </a:solidFill>
                <a:latin typeface="Canva Sans"/>
                <a:ea typeface="Canva Sans"/>
                <a:cs typeface="Canva Sans"/>
                <a:sym typeface="Canva Sans"/>
              </a:rPr>
              <a:t>h</a:t>
            </a:r>
            <a:r>
              <a:rPr lang="en-US" sz="1699">
                <a:solidFill>
                  <a:srgbClr val="000000"/>
                </a:solidFill>
                <a:latin typeface="Canva Sans"/>
                <a:ea typeface="Canva Sans"/>
                <a:cs typeface="Canva Sans"/>
                <a:sym typeface="Canva Sans"/>
              </a:rPr>
              <a:t>a</a:t>
            </a:r>
            <a:r>
              <a:rPr lang="en-US" sz="1699">
                <a:solidFill>
                  <a:srgbClr val="000000"/>
                </a:solidFill>
                <a:latin typeface="Canva Sans"/>
                <a:ea typeface="Canva Sans"/>
                <a:cs typeface="Canva Sans"/>
                <a:sym typeface="Canva Sans"/>
              </a:rPr>
              <a:t>red t</a:t>
            </a:r>
            <a:r>
              <a:rPr lang="en-US" sz="1699">
                <a:solidFill>
                  <a:srgbClr val="000000"/>
                </a:solidFill>
                <a:latin typeface="Canva Sans"/>
                <a:ea typeface="Canva Sans"/>
                <a:cs typeface="Canva Sans"/>
                <a:sym typeface="Canva Sans"/>
              </a:rPr>
              <a:t>o</a:t>
            </a:r>
            <a:r>
              <a:rPr lang="en-US" sz="1699">
                <a:solidFill>
                  <a:srgbClr val="000000"/>
                </a:solidFill>
                <a:latin typeface="Canva Sans"/>
                <a:ea typeface="Canva Sans"/>
                <a:cs typeface="Canva Sans"/>
                <a:sym typeface="Canva Sans"/>
              </a:rPr>
              <a:t> refi</a:t>
            </a:r>
            <a:r>
              <a:rPr lang="en-US" sz="1699">
                <a:solidFill>
                  <a:srgbClr val="000000"/>
                </a:solidFill>
                <a:latin typeface="Canva Sans"/>
                <a:ea typeface="Canva Sans"/>
                <a:cs typeface="Canva Sans"/>
                <a:sym typeface="Canva Sans"/>
              </a:rPr>
              <a:t>n</a:t>
            </a:r>
            <a:r>
              <a:rPr lang="en-US" sz="1699">
                <a:solidFill>
                  <a:srgbClr val="000000"/>
                </a:solidFill>
                <a:latin typeface="Canva Sans"/>
                <a:ea typeface="Canva Sans"/>
                <a:cs typeface="Canva Sans"/>
                <a:sym typeface="Canva Sans"/>
              </a:rPr>
              <a:t>e the gener</a:t>
            </a:r>
            <a:r>
              <a:rPr lang="en-US" sz="1699">
                <a:solidFill>
                  <a:srgbClr val="000000"/>
                </a:solidFill>
                <a:latin typeface="Canva Sans"/>
                <a:ea typeface="Canva Sans"/>
                <a:cs typeface="Canva Sans"/>
                <a:sym typeface="Canva Sans"/>
              </a:rPr>
              <a:t>al </a:t>
            </a:r>
            <a:r>
              <a:rPr lang="en-US" sz="1699">
                <a:solidFill>
                  <a:srgbClr val="000000"/>
                </a:solidFill>
                <a:latin typeface="Canva Sans"/>
                <a:ea typeface="Canva Sans"/>
                <a:cs typeface="Canva Sans"/>
                <a:sym typeface="Canva Sans"/>
              </a:rPr>
              <a:t>algor</a:t>
            </a:r>
            <a:r>
              <a:rPr lang="en-US" sz="1699">
                <a:solidFill>
                  <a:srgbClr val="000000"/>
                </a:solidFill>
                <a:latin typeface="Canva Sans"/>
                <a:ea typeface="Canva Sans"/>
                <a:cs typeface="Canva Sans"/>
                <a:sym typeface="Canva Sans"/>
              </a:rPr>
              <a:t>i</a:t>
            </a:r>
            <a:r>
              <a:rPr lang="en-US" sz="1699">
                <a:solidFill>
                  <a:srgbClr val="000000"/>
                </a:solidFill>
                <a:latin typeface="Canva Sans"/>
                <a:ea typeface="Canva Sans"/>
                <a:cs typeface="Canva Sans"/>
                <a:sym typeface="Canva Sans"/>
              </a:rPr>
              <a:t>t</a:t>
            </a:r>
            <a:r>
              <a:rPr lang="en-US" sz="1699">
                <a:solidFill>
                  <a:srgbClr val="000000"/>
                </a:solidFill>
                <a:latin typeface="Canva Sans"/>
                <a:ea typeface="Canva Sans"/>
                <a:cs typeface="Canva Sans"/>
                <a:sym typeface="Canva Sans"/>
              </a:rPr>
              <a:t>h</a:t>
            </a:r>
            <a:r>
              <a:rPr lang="en-US" sz="1699">
                <a:solidFill>
                  <a:srgbClr val="000000"/>
                </a:solidFill>
                <a:latin typeface="Canva Sans"/>
                <a:ea typeface="Canva Sans"/>
                <a:cs typeface="Canva Sans"/>
                <a:sym typeface="Canva Sans"/>
              </a:rPr>
              <a:t>m, with</a:t>
            </a:r>
            <a:r>
              <a:rPr lang="en-US" sz="1699" b="true">
                <a:solidFill>
                  <a:srgbClr val="000000"/>
                </a:solidFill>
                <a:latin typeface="Canva Sans Bold"/>
                <a:ea typeface="Canva Sans Bold"/>
                <a:cs typeface="Canva Sans Bold"/>
                <a:sym typeface="Canva Sans Bold"/>
              </a:rPr>
              <a:t> no personal information exchanged.</a:t>
            </a:r>
          </a:p>
          <a:p>
            <a:pPr algn="l">
              <a:lnSpc>
                <a:spcPts val="2379"/>
              </a:lnSpc>
            </a:pPr>
          </a:p>
        </p:txBody>
      </p:sp>
      <p:sp>
        <p:nvSpPr>
          <p:cNvPr name="TextBox 57" id="57"/>
          <p:cNvSpPr txBox="true"/>
          <p:nvPr/>
        </p:nvSpPr>
        <p:spPr>
          <a:xfrm rot="0">
            <a:off x="6994824" y="6480267"/>
            <a:ext cx="2097819" cy="297180"/>
          </a:xfrm>
          <a:prstGeom prst="rect">
            <a:avLst/>
          </a:prstGeom>
        </p:spPr>
        <p:txBody>
          <a:bodyPr anchor="t" rtlCol="false" tIns="0" lIns="0" bIns="0" rIns="0">
            <a:spAutoFit/>
          </a:bodyPr>
          <a:lstStyle/>
          <a:p>
            <a:pPr algn="ctr">
              <a:lnSpc>
                <a:spcPts val="2519"/>
              </a:lnSpc>
            </a:pPr>
            <a:r>
              <a:rPr lang="en-US" sz="1799" b="true">
                <a:solidFill>
                  <a:srgbClr val="000000"/>
                </a:solidFill>
                <a:latin typeface="Canva Sans Bold"/>
                <a:ea typeface="Canva Sans Bold"/>
                <a:cs typeface="Canva Sans Bold"/>
                <a:sym typeface="Canva Sans Bold"/>
              </a:rPr>
              <a:t>Pros</a:t>
            </a:r>
          </a:p>
        </p:txBody>
      </p:sp>
      <p:sp>
        <p:nvSpPr>
          <p:cNvPr name="TextBox 58" id="58"/>
          <p:cNvSpPr txBox="true"/>
          <p:nvPr/>
        </p:nvSpPr>
        <p:spPr>
          <a:xfrm rot="0">
            <a:off x="9338122" y="6480267"/>
            <a:ext cx="2052718" cy="297180"/>
          </a:xfrm>
          <a:prstGeom prst="rect">
            <a:avLst/>
          </a:prstGeom>
        </p:spPr>
        <p:txBody>
          <a:bodyPr anchor="t" rtlCol="false" tIns="0" lIns="0" bIns="0" rIns="0">
            <a:spAutoFit/>
          </a:bodyPr>
          <a:lstStyle/>
          <a:p>
            <a:pPr algn="ctr">
              <a:lnSpc>
                <a:spcPts val="2519"/>
              </a:lnSpc>
            </a:pPr>
            <a:r>
              <a:rPr lang="en-US" sz="1799" b="true">
                <a:solidFill>
                  <a:srgbClr val="000000"/>
                </a:solidFill>
                <a:latin typeface="Canva Sans Bold"/>
                <a:ea typeface="Canva Sans Bold"/>
                <a:cs typeface="Canva Sans Bold"/>
                <a:sym typeface="Canva Sans Bold"/>
              </a:rPr>
              <a:t>Cons</a:t>
            </a:r>
          </a:p>
        </p:txBody>
      </p:sp>
      <p:sp>
        <p:nvSpPr>
          <p:cNvPr name="TextBox 59" id="59"/>
          <p:cNvSpPr txBox="true"/>
          <p:nvPr/>
        </p:nvSpPr>
        <p:spPr>
          <a:xfrm rot="0">
            <a:off x="12744194" y="6470742"/>
            <a:ext cx="2097819" cy="297180"/>
          </a:xfrm>
          <a:prstGeom prst="rect">
            <a:avLst/>
          </a:prstGeom>
        </p:spPr>
        <p:txBody>
          <a:bodyPr anchor="t" rtlCol="false" tIns="0" lIns="0" bIns="0" rIns="0">
            <a:spAutoFit/>
          </a:bodyPr>
          <a:lstStyle/>
          <a:p>
            <a:pPr algn="ctr">
              <a:lnSpc>
                <a:spcPts val="2519"/>
              </a:lnSpc>
            </a:pPr>
            <a:r>
              <a:rPr lang="en-US" sz="1799" b="true">
                <a:solidFill>
                  <a:srgbClr val="000000"/>
                </a:solidFill>
                <a:latin typeface="Canva Sans Bold"/>
                <a:ea typeface="Canva Sans Bold"/>
                <a:cs typeface="Canva Sans Bold"/>
                <a:sym typeface="Canva Sans Bold"/>
              </a:rPr>
              <a:t>Pros</a:t>
            </a:r>
          </a:p>
        </p:txBody>
      </p:sp>
      <p:sp>
        <p:nvSpPr>
          <p:cNvPr name="TextBox 60" id="60"/>
          <p:cNvSpPr txBox="true"/>
          <p:nvPr/>
        </p:nvSpPr>
        <p:spPr>
          <a:xfrm rot="0">
            <a:off x="15087492" y="6470742"/>
            <a:ext cx="2052718" cy="297180"/>
          </a:xfrm>
          <a:prstGeom prst="rect">
            <a:avLst/>
          </a:prstGeom>
        </p:spPr>
        <p:txBody>
          <a:bodyPr anchor="t" rtlCol="false" tIns="0" lIns="0" bIns="0" rIns="0">
            <a:spAutoFit/>
          </a:bodyPr>
          <a:lstStyle/>
          <a:p>
            <a:pPr algn="ctr">
              <a:lnSpc>
                <a:spcPts val="2519"/>
              </a:lnSpc>
            </a:pPr>
            <a:r>
              <a:rPr lang="en-US" sz="1799" b="true">
                <a:solidFill>
                  <a:srgbClr val="000000"/>
                </a:solidFill>
                <a:latin typeface="Canva Sans Bold"/>
                <a:ea typeface="Canva Sans Bold"/>
                <a:cs typeface="Canva Sans Bold"/>
                <a:sym typeface="Canva Sans Bold"/>
              </a:rPr>
              <a:t>Cons</a:t>
            </a:r>
          </a:p>
        </p:txBody>
      </p:sp>
      <p:sp>
        <p:nvSpPr>
          <p:cNvPr name="AutoShape 61" id="61"/>
          <p:cNvSpPr/>
          <p:nvPr/>
        </p:nvSpPr>
        <p:spPr>
          <a:xfrm flipH="true">
            <a:off x="717319" y="9723497"/>
            <a:ext cx="16465822" cy="0"/>
          </a:xfrm>
          <a:prstGeom prst="line">
            <a:avLst/>
          </a:prstGeom>
          <a:ln cap="flat" w="628650">
            <a:gradFill>
              <a:gsLst>
                <a:gs pos="0">
                  <a:srgbClr val="8C52FF">
                    <a:alpha val="61000"/>
                  </a:srgbClr>
                </a:gs>
                <a:gs pos="100000">
                  <a:srgbClr val="FF914D">
                    <a:alpha val="61000"/>
                  </a:srgbClr>
                </a:gs>
              </a:gsLst>
              <a:lin ang="0"/>
            </a:gradFill>
            <a:prstDash val="solid"/>
            <a:headEnd type="none" len="sm" w="sm"/>
            <a:tailEnd type="arrow" len="sm" w="med"/>
          </a:ln>
        </p:spPr>
      </p:sp>
      <p:sp>
        <p:nvSpPr>
          <p:cNvPr name="TextBox 62" id="62"/>
          <p:cNvSpPr txBox="true"/>
          <p:nvPr/>
        </p:nvSpPr>
        <p:spPr>
          <a:xfrm rot="0">
            <a:off x="5671658" y="9375200"/>
            <a:ext cx="6825142" cy="629919"/>
          </a:xfrm>
          <a:prstGeom prst="rect">
            <a:avLst/>
          </a:prstGeom>
        </p:spPr>
        <p:txBody>
          <a:bodyPr anchor="t" rtlCol="false" tIns="0" lIns="0" bIns="0" rIns="0">
            <a:spAutoFit/>
          </a:bodyPr>
          <a:lstStyle/>
          <a:p>
            <a:pPr algn="ctr">
              <a:lnSpc>
                <a:spcPts val="5180"/>
              </a:lnSpc>
            </a:pPr>
            <a:r>
              <a:rPr lang="en-US" sz="3700" b="true">
                <a:solidFill>
                  <a:srgbClr val="000000">
                    <a:alpha val="60784"/>
                  </a:srgbClr>
                </a:solidFill>
                <a:latin typeface="Canva Sans Bold"/>
                <a:ea typeface="Canva Sans Bold"/>
                <a:cs typeface="Canva Sans Bold"/>
                <a:sym typeface="Canva Sans Bold"/>
              </a:rPr>
              <a:t>Control Over Your Data</a:t>
            </a:r>
          </a:p>
        </p:txBody>
      </p:sp>
      <p:sp>
        <p:nvSpPr>
          <p:cNvPr name="TextBox 63" id="6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8</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DCD7F1"/>
        </a:solidFill>
      </p:bgPr>
    </p:bg>
    <p:spTree>
      <p:nvGrpSpPr>
        <p:cNvPr id="1" name=""/>
        <p:cNvGrpSpPr/>
        <p:nvPr/>
      </p:nvGrpSpPr>
      <p:grpSpPr>
        <a:xfrm>
          <a:off x="0" y="0"/>
          <a:ext cx="0" cy="0"/>
          <a:chOff x="0" y="0"/>
          <a:chExt cx="0" cy="0"/>
        </a:xfrm>
      </p:grpSpPr>
      <p:grpSp>
        <p:nvGrpSpPr>
          <p:cNvPr name="Group 2" id="2"/>
          <p:cNvGrpSpPr/>
          <p:nvPr/>
        </p:nvGrpSpPr>
        <p:grpSpPr>
          <a:xfrm rot="0">
            <a:off x="5162985" y="3354848"/>
            <a:ext cx="3462883" cy="3577304"/>
            <a:chOff x="0" y="0"/>
            <a:chExt cx="912035" cy="942171"/>
          </a:xfrm>
        </p:grpSpPr>
        <p:sp>
          <p:nvSpPr>
            <p:cNvPr name="Freeform 3" id="3"/>
            <p:cNvSpPr/>
            <p:nvPr/>
          </p:nvSpPr>
          <p:spPr>
            <a:xfrm flipH="false" flipV="false" rot="0">
              <a:off x="0" y="0"/>
              <a:ext cx="912035" cy="942171"/>
            </a:xfrm>
            <a:custGeom>
              <a:avLst/>
              <a:gdLst/>
              <a:ahLst/>
              <a:cxnLst/>
              <a:rect r="r" b="b" t="t" l="l"/>
              <a:pathLst>
                <a:path h="942171" w="912035">
                  <a:moveTo>
                    <a:pt x="0" y="0"/>
                  </a:moveTo>
                  <a:lnTo>
                    <a:pt x="912035" y="0"/>
                  </a:lnTo>
                  <a:lnTo>
                    <a:pt x="912035" y="942171"/>
                  </a:lnTo>
                  <a:lnTo>
                    <a:pt x="0" y="942171"/>
                  </a:lnTo>
                  <a:close/>
                </a:path>
              </a:pathLst>
            </a:custGeom>
            <a:solidFill>
              <a:srgbClr val="000000"/>
            </a:solidFill>
          </p:spPr>
        </p:sp>
        <p:sp>
          <p:nvSpPr>
            <p:cNvPr name="TextBox 4" id="4"/>
            <p:cNvSpPr txBox="true"/>
            <p:nvPr/>
          </p:nvSpPr>
          <p:spPr>
            <a:xfrm>
              <a:off x="0" y="95250"/>
              <a:ext cx="912035" cy="846921"/>
            </a:xfrm>
            <a:prstGeom prst="rect">
              <a:avLst/>
            </a:prstGeom>
          </p:spPr>
          <p:txBody>
            <a:bodyPr anchor="ctr" rtlCol="false" tIns="50800" lIns="50800" bIns="50800" rIns="50800"/>
            <a:lstStyle/>
            <a:p>
              <a:pPr algn="ctr">
                <a:lnSpc>
                  <a:spcPts val="1625"/>
                </a:lnSpc>
              </a:pPr>
            </a:p>
          </p:txBody>
        </p:sp>
      </p:grpSp>
      <p:grpSp>
        <p:nvGrpSpPr>
          <p:cNvPr name="Group 5" id="5"/>
          <p:cNvGrpSpPr/>
          <p:nvPr/>
        </p:nvGrpSpPr>
        <p:grpSpPr>
          <a:xfrm rot="0">
            <a:off x="1726734" y="4123601"/>
            <a:ext cx="3436251" cy="2039799"/>
            <a:chOff x="0" y="0"/>
            <a:chExt cx="4581668" cy="2719732"/>
          </a:xfrm>
        </p:grpSpPr>
        <p:sp>
          <p:nvSpPr>
            <p:cNvPr name="AutoShape 6" id="6"/>
            <p:cNvSpPr/>
            <p:nvPr/>
          </p:nvSpPr>
          <p:spPr>
            <a:xfrm>
              <a:off x="564" y="101598"/>
              <a:ext cx="4579414" cy="25400"/>
            </a:xfrm>
            <a:prstGeom prst="line">
              <a:avLst/>
            </a:prstGeom>
            <a:ln cap="flat" w="203200">
              <a:solidFill>
                <a:srgbClr val="000000"/>
              </a:solidFill>
              <a:prstDash val="solid"/>
              <a:headEnd type="none" len="sm" w="sm"/>
              <a:tailEnd type="arrow" len="sm" w="med"/>
            </a:ln>
          </p:spPr>
        </p:sp>
        <p:sp>
          <p:nvSpPr>
            <p:cNvPr name="AutoShape 7" id="7"/>
            <p:cNvSpPr/>
            <p:nvPr/>
          </p:nvSpPr>
          <p:spPr>
            <a:xfrm>
              <a:off x="1127" y="1348136"/>
              <a:ext cx="4579414" cy="25400"/>
            </a:xfrm>
            <a:prstGeom prst="line">
              <a:avLst/>
            </a:prstGeom>
            <a:ln cap="flat" w="203200">
              <a:solidFill>
                <a:srgbClr val="000000"/>
              </a:solidFill>
              <a:prstDash val="solid"/>
              <a:headEnd type="none" len="sm" w="sm"/>
              <a:tailEnd type="arrow" len="sm" w="med"/>
            </a:ln>
          </p:spPr>
        </p:sp>
        <p:sp>
          <p:nvSpPr>
            <p:cNvPr name="AutoShape 8" id="8"/>
            <p:cNvSpPr/>
            <p:nvPr/>
          </p:nvSpPr>
          <p:spPr>
            <a:xfrm>
              <a:off x="1691" y="2592733"/>
              <a:ext cx="4579414" cy="25400"/>
            </a:xfrm>
            <a:prstGeom prst="line">
              <a:avLst/>
            </a:prstGeom>
            <a:ln cap="flat" w="203200">
              <a:solidFill>
                <a:srgbClr val="000000"/>
              </a:solidFill>
              <a:prstDash val="solid"/>
              <a:headEnd type="none" len="sm" w="sm"/>
              <a:tailEnd type="arrow" len="sm" w="med"/>
            </a:ln>
          </p:spPr>
        </p:sp>
      </p:grpSp>
      <p:grpSp>
        <p:nvGrpSpPr>
          <p:cNvPr name="Group 9" id="9"/>
          <p:cNvGrpSpPr/>
          <p:nvPr/>
        </p:nvGrpSpPr>
        <p:grpSpPr>
          <a:xfrm rot="0">
            <a:off x="8625445" y="3354848"/>
            <a:ext cx="3419818" cy="3577304"/>
            <a:chOff x="0" y="0"/>
            <a:chExt cx="900693" cy="942171"/>
          </a:xfrm>
        </p:grpSpPr>
        <p:sp>
          <p:nvSpPr>
            <p:cNvPr name="Freeform 10" id="10"/>
            <p:cNvSpPr/>
            <p:nvPr/>
          </p:nvSpPr>
          <p:spPr>
            <a:xfrm flipH="false" flipV="false" rot="0">
              <a:off x="0" y="0"/>
              <a:ext cx="900693" cy="942171"/>
            </a:xfrm>
            <a:custGeom>
              <a:avLst/>
              <a:gdLst/>
              <a:ahLst/>
              <a:cxnLst/>
              <a:rect r="r" b="b" t="t" l="l"/>
              <a:pathLst>
                <a:path h="942171" w="900693">
                  <a:moveTo>
                    <a:pt x="0" y="0"/>
                  </a:moveTo>
                  <a:lnTo>
                    <a:pt x="900693" y="0"/>
                  </a:lnTo>
                  <a:lnTo>
                    <a:pt x="900693" y="942171"/>
                  </a:lnTo>
                  <a:lnTo>
                    <a:pt x="0" y="942171"/>
                  </a:lnTo>
                  <a:close/>
                </a:path>
              </a:pathLst>
            </a:custGeom>
            <a:solidFill>
              <a:srgbClr val="FFFFFF"/>
            </a:solidFill>
          </p:spPr>
        </p:sp>
        <p:sp>
          <p:nvSpPr>
            <p:cNvPr name="TextBox 11" id="11"/>
            <p:cNvSpPr txBox="true"/>
            <p:nvPr/>
          </p:nvSpPr>
          <p:spPr>
            <a:xfrm>
              <a:off x="0" y="95250"/>
              <a:ext cx="900693" cy="846921"/>
            </a:xfrm>
            <a:prstGeom prst="rect">
              <a:avLst/>
            </a:prstGeom>
          </p:spPr>
          <p:txBody>
            <a:bodyPr anchor="ctr" rtlCol="false" tIns="50800" lIns="50800" bIns="50800" rIns="50800"/>
            <a:lstStyle/>
            <a:p>
              <a:pPr algn="ctr">
                <a:lnSpc>
                  <a:spcPts val="1625"/>
                </a:lnSpc>
              </a:pPr>
            </a:p>
          </p:txBody>
        </p:sp>
      </p:grpSp>
      <p:sp>
        <p:nvSpPr>
          <p:cNvPr name="AutoShape 12" id="12"/>
          <p:cNvSpPr/>
          <p:nvPr/>
        </p:nvSpPr>
        <p:spPr>
          <a:xfrm>
            <a:off x="12045686" y="5420435"/>
            <a:ext cx="3434560" cy="19050"/>
          </a:xfrm>
          <a:prstGeom prst="line">
            <a:avLst/>
          </a:prstGeom>
          <a:ln cap="flat" w="152400">
            <a:solidFill>
              <a:srgbClr val="000000"/>
            </a:solidFill>
            <a:prstDash val="solid"/>
            <a:headEnd type="none" len="sm" w="sm"/>
            <a:tailEnd type="arrow" len="sm" w="med"/>
          </a:ln>
        </p:spPr>
      </p:sp>
      <p:sp>
        <p:nvSpPr>
          <p:cNvPr name="Freeform 13" id="13"/>
          <p:cNvSpPr/>
          <p:nvPr/>
        </p:nvSpPr>
        <p:spPr>
          <a:xfrm flipH="false" flipV="false" rot="0">
            <a:off x="9204570" y="3509646"/>
            <a:ext cx="2482361" cy="2482361"/>
          </a:xfrm>
          <a:custGeom>
            <a:avLst/>
            <a:gdLst/>
            <a:ahLst/>
            <a:cxnLst/>
            <a:rect r="r" b="b" t="t" l="l"/>
            <a:pathLst>
              <a:path h="2482361" w="2482361">
                <a:moveTo>
                  <a:pt x="0" y="0"/>
                </a:moveTo>
                <a:lnTo>
                  <a:pt x="2482361" y="0"/>
                </a:lnTo>
                <a:lnTo>
                  <a:pt x="2482361" y="2482361"/>
                </a:lnTo>
                <a:lnTo>
                  <a:pt x="0" y="2482361"/>
                </a:lnTo>
                <a:lnTo>
                  <a:pt x="0" y="0"/>
                </a:lnTo>
                <a:close/>
              </a:path>
            </a:pathLst>
          </a:custGeom>
          <a:blipFill>
            <a:blip r:embed="rId2"/>
            <a:stretch>
              <a:fillRect l="0" t="0" r="0" b="0"/>
            </a:stretch>
          </a:blipFill>
        </p:spPr>
      </p:sp>
      <p:sp>
        <p:nvSpPr>
          <p:cNvPr name="TextBox 14" id="14"/>
          <p:cNvSpPr txBox="true"/>
          <p:nvPr/>
        </p:nvSpPr>
        <p:spPr>
          <a:xfrm rot="0">
            <a:off x="94089" y="0"/>
            <a:ext cx="11355692" cy="1028700"/>
          </a:xfrm>
          <a:prstGeom prst="rect">
            <a:avLst/>
          </a:prstGeom>
        </p:spPr>
        <p:txBody>
          <a:bodyPr anchor="t" rtlCol="false" tIns="0" lIns="0" bIns="0" rIns="0">
            <a:spAutoFit/>
          </a:bodyPr>
          <a:lstStyle/>
          <a:p>
            <a:pPr algn="l">
              <a:lnSpc>
                <a:spcPts val="8400"/>
              </a:lnSpc>
            </a:pPr>
            <a:r>
              <a:rPr lang="en-US" sz="6000" b="true">
                <a:solidFill>
                  <a:srgbClr val="231F20"/>
                </a:solidFill>
                <a:latin typeface="Canva Sans Bold"/>
                <a:ea typeface="Canva Sans Bold"/>
                <a:cs typeface="Canva Sans Bold"/>
                <a:sym typeface="Canva Sans Bold"/>
              </a:rPr>
              <a:t>Control and Governance</a:t>
            </a:r>
          </a:p>
        </p:txBody>
      </p:sp>
      <p:sp>
        <p:nvSpPr>
          <p:cNvPr name="TextBox 15" id="15"/>
          <p:cNvSpPr txBox="true"/>
          <p:nvPr/>
        </p:nvSpPr>
        <p:spPr>
          <a:xfrm rot="0">
            <a:off x="1726734" y="3297698"/>
            <a:ext cx="3435405" cy="514350"/>
          </a:xfrm>
          <a:prstGeom prst="rect">
            <a:avLst/>
          </a:prstGeom>
        </p:spPr>
        <p:txBody>
          <a:bodyPr anchor="t" rtlCol="false" tIns="0" lIns="0" bIns="0" rIns="0">
            <a:spAutoFit/>
          </a:bodyPr>
          <a:lstStyle/>
          <a:p>
            <a:pPr algn="ctr">
              <a:lnSpc>
                <a:spcPts val="4200"/>
              </a:lnSpc>
            </a:pPr>
            <a:r>
              <a:rPr lang="en-US" sz="3000" b="true">
                <a:solidFill>
                  <a:srgbClr val="231F20"/>
                </a:solidFill>
                <a:latin typeface="Canva Sans Bold"/>
                <a:ea typeface="Canva Sans Bold"/>
                <a:cs typeface="Canva Sans Bold"/>
                <a:sym typeface="Canva Sans Bold"/>
              </a:rPr>
              <a:t>Your Data</a:t>
            </a:r>
          </a:p>
        </p:txBody>
      </p:sp>
      <p:sp>
        <p:nvSpPr>
          <p:cNvPr name="TextBox 16" id="16"/>
          <p:cNvSpPr txBox="true"/>
          <p:nvPr/>
        </p:nvSpPr>
        <p:spPr>
          <a:xfrm rot="0">
            <a:off x="12212039" y="4490159"/>
            <a:ext cx="3435405" cy="521335"/>
          </a:xfrm>
          <a:prstGeom prst="rect">
            <a:avLst/>
          </a:prstGeom>
        </p:spPr>
        <p:txBody>
          <a:bodyPr anchor="t" rtlCol="false" tIns="0" lIns="0" bIns="0" rIns="0">
            <a:spAutoFit/>
          </a:bodyPr>
          <a:lstStyle/>
          <a:p>
            <a:pPr algn="ctr">
              <a:lnSpc>
                <a:spcPts val="4340"/>
              </a:lnSpc>
            </a:pPr>
            <a:r>
              <a:rPr lang="en-US" sz="3100" b="true">
                <a:solidFill>
                  <a:srgbClr val="231F20"/>
                </a:solidFill>
                <a:latin typeface="Canva Sans Bold"/>
                <a:ea typeface="Canva Sans Bold"/>
                <a:cs typeface="Canva Sans Bold"/>
                <a:sym typeface="Canva Sans Bold"/>
              </a:rPr>
              <a:t>Recommendation</a:t>
            </a:r>
          </a:p>
        </p:txBody>
      </p:sp>
      <p:sp>
        <p:nvSpPr>
          <p:cNvPr name="TextBox 17" id="17"/>
          <p:cNvSpPr txBox="true"/>
          <p:nvPr/>
        </p:nvSpPr>
        <p:spPr>
          <a:xfrm rot="0">
            <a:off x="9204570" y="5839867"/>
            <a:ext cx="2131888" cy="580390"/>
          </a:xfrm>
          <a:prstGeom prst="rect">
            <a:avLst/>
          </a:prstGeom>
        </p:spPr>
        <p:txBody>
          <a:bodyPr anchor="t" rtlCol="false" tIns="0" lIns="0" bIns="0" rIns="0">
            <a:spAutoFit/>
          </a:bodyPr>
          <a:lstStyle/>
          <a:p>
            <a:pPr algn="ctr">
              <a:lnSpc>
                <a:spcPts val="4759"/>
              </a:lnSpc>
            </a:pPr>
            <a:r>
              <a:rPr lang="en-US" sz="3399" b="true">
                <a:solidFill>
                  <a:srgbClr val="231F20"/>
                </a:solidFill>
                <a:latin typeface="Canva Sans Bold"/>
                <a:ea typeface="Canva Sans Bold"/>
                <a:cs typeface="Canva Sans Bold"/>
                <a:sym typeface="Canva Sans Bold"/>
              </a:rPr>
              <a:t>White Box</a:t>
            </a:r>
          </a:p>
        </p:txBody>
      </p:sp>
      <p:sp>
        <p:nvSpPr>
          <p:cNvPr name="TextBox 18" id="18"/>
          <p:cNvSpPr txBox="true"/>
          <p:nvPr/>
        </p:nvSpPr>
        <p:spPr>
          <a:xfrm rot="0">
            <a:off x="5771935" y="5839867"/>
            <a:ext cx="2050703" cy="580390"/>
          </a:xfrm>
          <a:prstGeom prst="rect">
            <a:avLst/>
          </a:prstGeom>
        </p:spPr>
        <p:txBody>
          <a:bodyPr anchor="t" rtlCol="false" tIns="0" lIns="0" bIns="0" rIns="0">
            <a:spAutoFit/>
          </a:bodyPr>
          <a:lstStyle/>
          <a:p>
            <a:pPr algn="ctr">
              <a:lnSpc>
                <a:spcPts val="4759"/>
              </a:lnSpc>
            </a:pPr>
            <a:r>
              <a:rPr lang="en-US" sz="3399" b="true">
                <a:solidFill>
                  <a:srgbClr val="FFFFFF"/>
                </a:solidFill>
                <a:latin typeface="Canva Sans Bold"/>
                <a:ea typeface="Canva Sans Bold"/>
                <a:cs typeface="Canva Sans Bold"/>
                <a:sym typeface="Canva Sans Bold"/>
              </a:rPr>
              <a:t>Black Box</a:t>
            </a:r>
          </a:p>
        </p:txBody>
      </p:sp>
      <p:sp>
        <p:nvSpPr>
          <p:cNvPr name="TextBox 19" id="19"/>
          <p:cNvSpPr txBox="true"/>
          <p:nvPr/>
        </p:nvSpPr>
        <p:spPr>
          <a:xfrm rot="0">
            <a:off x="2111025" y="7751302"/>
            <a:ext cx="14065949" cy="1811020"/>
          </a:xfrm>
          <a:prstGeom prst="rect">
            <a:avLst/>
          </a:prstGeom>
        </p:spPr>
        <p:txBody>
          <a:bodyPr anchor="t" rtlCol="false" tIns="0" lIns="0" bIns="0" rIns="0">
            <a:spAutoFit/>
          </a:bodyPr>
          <a:lstStyle/>
          <a:p>
            <a:pPr algn="ctr">
              <a:lnSpc>
                <a:spcPts val="7279"/>
              </a:lnSpc>
            </a:pPr>
            <a:r>
              <a:rPr lang="en-US" sz="5199" b="true">
                <a:solidFill>
                  <a:srgbClr val="000000"/>
                </a:solidFill>
                <a:latin typeface="Canva Sans Bold"/>
                <a:ea typeface="Canva Sans Bold"/>
                <a:cs typeface="Canva Sans Bold"/>
                <a:sym typeface="Canva Sans Bold"/>
              </a:rPr>
              <a:t>Because You Deserve to See How Your Data Drives Decisions For You</a:t>
            </a:r>
          </a:p>
        </p:txBody>
      </p:sp>
      <p:sp>
        <p:nvSpPr>
          <p:cNvPr name="TextBox 20" id="20"/>
          <p:cNvSpPr txBox="true"/>
          <p:nvPr/>
        </p:nvSpPr>
        <p:spPr>
          <a:xfrm rot="0">
            <a:off x="5143935" y="6865477"/>
            <a:ext cx="3419818" cy="580390"/>
          </a:xfrm>
          <a:prstGeom prst="rect">
            <a:avLst/>
          </a:prstGeom>
        </p:spPr>
        <p:txBody>
          <a:bodyPr anchor="t" rtlCol="false" tIns="0" lIns="0" bIns="0" rIns="0">
            <a:spAutoFit/>
          </a:bodyPr>
          <a:lstStyle/>
          <a:p>
            <a:pPr algn="ctr">
              <a:lnSpc>
                <a:spcPts val="4759"/>
              </a:lnSpc>
            </a:pPr>
            <a:r>
              <a:rPr lang="en-US" sz="3399" b="true">
                <a:solidFill>
                  <a:srgbClr val="000000"/>
                </a:solidFill>
                <a:latin typeface="Canva Sans Bold"/>
                <a:ea typeface="Canva Sans Bold"/>
                <a:cs typeface="Canva Sans Bold"/>
                <a:sym typeface="Canva Sans Bold"/>
              </a:rPr>
              <a:t>Others</a:t>
            </a:r>
          </a:p>
        </p:txBody>
      </p:sp>
      <p:sp>
        <p:nvSpPr>
          <p:cNvPr name="TextBox 21" id="21"/>
          <p:cNvSpPr txBox="true"/>
          <p:nvPr/>
        </p:nvSpPr>
        <p:spPr>
          <a:xfrm rot="0">
            <a:off x="8625868" y="6865477"/>
            <a:ext cx="3419818" cy="580390"/>
          </a:xfrm>
          <a:prstGeom prst="rect">
            <a:avLst/>
          </a:prstGeom>
        </p:spPr>
        <p:txBody>
          <a:bodyPr anchor="t" rtlCol="false" tIns="0" lIns="0" bIns="0" rIns="0">
            <a:spAutoFit/>
          </a:bodyPr>
          <a:lstStyle/>
          <a:p>
            <a:pPr algn="ctr">
              <a:lnSpc>
                <a:spcPts val="4759"/>
              </a:lnSpc>
            </a:pPr>
            <a:r>
              <a:rPr lang="en-US" sz="3399" b="true">
                <a:solidFill>
                  <a:srgbClr val="000000"/>
                </a:solidFill>
                <a:latin typeface="Canva Sans Bold"/>
                <a:ea typeface="Canva Sans Bold"/>
                <a:cs typeface="Canva Sans Bold"/>
                <a:sym typeface="Canva Sans Bold"/>
              </a:rPr>
              <a:t>Our Product</a:t>
            </a:r>
          </a:p>
        </p:txBody>
      </p:sp>
      <p:sp>
        <p:nvSpPr>
          <p:cNvPr name="TextBox 22" id="22"/>
          <p:cNvSpPr txBox="true"/>
          <p:nvPr/>
        </p:nvSpPr>
        <p:spPr>
          <a:xfrm rot="0">
            <a:off x="6252394" y="2634372"/>
            <a:ext cx="1283643" cy="3435349"/>
          </a:xfrm>
          <a:prstGeom prst="rect">
            <a:avLst/>
          </a:prstGeom>
        </p:spPr>
        <p:txBody>
          <a:bodyPr anchor="t" rtlCol="false" tIns="0" lIns="0" bIns="0" rIns="0">
            <a:spAutoFit/>
          </a:bodyPr>
          <a:lstStyle/>
          <a:p>
            <a:pPr algn="ctr">
              <a:lnSpc>
                <a:spcPts val="28000"/>
              </a:lnSpc>
            </a:pPr>
            <a:r>
              <a:rPr lang="en-US" sz="20000" b="true">
                <a:solidFill>
                  <a:srgbClr val="FFFFFF"/>
                </a:solidFill>
                <a:latin typeface="Canva Sans Bold"/>
                <a:ea typeface="Canva Sans Bold"/>
                <a:cs typeface="Canva Sans Bold"/>
                <a:sym typeface="Canva Sans Bold"/>
              </a:rPr>
              <a:t>?</a:t>
            </a:r>
          </a:p>
        </p:txBody>
      </p:sp>
      <p:grpSp>
        <p:nvGrpSpPr>
          <p:cNvPr name="Group 23" id="23"/>
          <p:cNvGrpSpPr/>
          <p:nvPr/>
        </p:nvGrpSpPr>
        <p:grpSpPr>
          <a:xfrm rot="0">
            <a:off x="400485" y="1436418"/>
            <a:ext cx="6029042" cy="772617"/>
            <a:chOff x="0" y="0"/>
            <a:chExt cx="1587896" cy="203488"/>
          </a:xfrm>
        </p:grpSpPr>
        <p:sp>
          <p:nvSpPr>
            <p:cNvPr name="Freeform 24" id="24"/>
            <p:cNvSpPr/>
            <p:nvPr/>
          </p:nvSpPr>
          <p:spPr>
            <a:xfrm flipH="false" flipV="false" rot="0">
              <a:off x="26778" y="0"/>
              <a:ext cx="1538911" cy="203488"/>
            </a:xfrm>
            <a:custGeom>
              <a:avLst/>
              <a:gdLst/>
              <a:ahLst/>
              <a:cxnLst/>
              <a:rect r="r" b="b" t="t" l="l"/>
              <a:pathLst>
                <a:path h="203488" w="1538911">
                  <a:moveTo>
                    <a:pt x="9177" y="0"/>
                  </a:moveTo>
                  <a:lnTo>
                    <a:pt x="1321963" y="0"/>
                  </a:lnTo>
                  <a:cubicBezTo>
                    <a:pt x="1345607" y="0"/>
                    <a:pt x="1368926" y="5512"/>
                    <a:pt x="1390068" y="16098"/>
                  </a:cubicBezTo>
                  <a:lnTo>
                    <a:pt x="1528968" y="85646"/>
                  </a:lnTo>
                  <a:cubicBezTo>
                    <a:pt x="1535062" y="88697"/>
                    <a:pt x="1538911" y="94928"/>
                    <a:pt x="1538911" y="101744"/>
                  </a:cubicBezTo>
                  <a:cubicBezTo>
                    <a:pt x="1538911" y="108559"/>
                    <a:pt x="1535062" y="114790"/>
                    <a:pt x="1528968" y="117842"/>
                  </a:cubicBezTo>
                  <a:lnTo>
                    <a:pt x="1390068" y="187390"/>
                  </a:lnTo>
                  <a:cubicBezTo>
                    <a:pt x="1368926" y="197976"/>
                    <a:pt x="1345607" y="203488"/>
                    <a:pt x="1321963" y="203488"/>
                  </a:cubicBezTo>
                  <a:lnTo>
                    <a:pt x="9177" y="203488"/>
                  </a:lnTo>
                  <a:cubicBezTo>
                    <a:pt x="5236" y="203488"/>
                    <a:pt x="1813" y="200779"/>
                    <a:pt x="906" y="196944"/>
                  </a:cubicBezTo>
                  <a:cubicBezTo>
                    <a:pt x="0" y="193109"/>
                    <a:pt x="1848" y="189154"/>
                    <a:pt x="5372" y="187390"/>
                  </a:cubicBezTo>
                  <a:lnTo>
                    <a:pt x="144272" y="117842"/>
                  </a:lnTo>
                  <a:cubicBezTo>
                    <a:pt x="150366" y="114790"/>
                    <a:pt x="154215" y="108559"/>
                    <a:pt x="154215" y="101744"/>
                  </a:cubicBezTo>
                  <a:cubicBezTo>
                    <a:pt x="154215" y="94928"/>
                    <a:pt x="150366" y="88697"/>
                    <a:pt x="144272" y="85646"/>
                  </a:cubicBezTo>
                  <a:lnTo>
                    <a:pt x="5372" y="16098"/>
                  </a:lnTo>
                  <a:cubicBezTo>
                    <a:pt x="1848" y="14333"/>
                    <a:pt x="0" y="10379"/>
                    <a:pt x="906" y="6544"/>
                  </a:cubicBezTo>
                  <a:cubicBezTo>
                    <a:pt x="1813" y="2709"/>
                    <a:pt x="5236" y="0"/>
                    <a:pt x="9177" y="0"/>
                  </a:cubicBezTo>
                  <a:close/>
                </a:path>
              </a:pathLst>
            </a:custGeom>
            <a:solidFill>
              <a:srgbClr val="FF7009">
                <a:alpha val="19608"/>
              </a:srgbClr>
            </a:solidFill>
          </p:spPr>
        </p:sp>
        <p:sp>
          <p:nvSpPr>
            <p:cNvPr name="TextBox 25" id="25"/>
            <p:cNvSpPr txBox="true"/>
            <p:nvPr/>
          </p:nvSpPr>
          <p:spPr>
            <a:xfrm>
              <a:off x="177800" y="104775"/>
              <a:ext cx="1333896" cy="98713"/>
            </a:xfrm>
            <a:prstGeom prst="rect">
              <a:avLst/>
            </a:prstGeom>
          </p:spPr>
          <p:txBody>
            <a:bodyPr anchor="ctr" rtlCol="false" tIns="50800" lIns="50800" bIns="50800" rIns="50800"/>
            <a:lstStyle/>
            <a:p>
              <a:pPr algn="l">
                <a:lnSpc>
                  <a:spcPts val="1959"/>
                </a:lnSpc>
              </a:pPr>
              <a:r>
                <a:rPr lang="en-US" sz="2799" b="true">
                  <a:solidFill>
                    <a:srgbClr val="F9F5E3">
                      <a:alpha val="19608"/>
                    </a:srgbClr>
                  </a:solidFill>
                  <a:latin typeface="Poppins Bold"/>
                  <a:ea typeface="Poppins Bold"/>
                  <a:cs typeface="Poppins Bold"/>
                  <a:sym typeface="Poppins Bold"/>
                </a:rPr>
                <a:t>Own Your Data</a:t>
              </a:r>
            </a:p>
          </p:txBody>
        </p:sp>
      </p:grpSp>
      <p:grpSp>
        <p:nvGrpSpPr>
          <p:cNvPr name="Group 26" id="26"/>
          <p:cNvGrpSpPr/>
          <p:nvPr/>
        </p:nvGrpSpPr>
        <p:grpSpPr>
          <a:xfrm rot="0">
            <a:off x="5836161" y="1436418"/>
            <a:ext cx="6029042" cy="772617"/>
            <a:chOff x="0" y="0"/>
            <a:chExt cx="1587896" cy="203488"/>
          </a:xfrm>
        </p:grpSpPr>
        <p:sp>
          <p:nvSpPr>
            <p:cNvPr name="Freeform 27" id="27"/>
            <p:cNvSpPr/>
            <p:nvPr/>
          </p:nvSpPr>
          <p:spPr>
            <a:xfrm flipH="false" flipV="false" rot="0">
              <a:off x="26778" y="0"/>
              <a:ext cx="1538911" cy="203488"/>
            </a:xfrm>
            <a:custGeom>
              <a:avLst/>
              <a:gdLst/>
              <a:ahLst/>
              <a:cxnLst/>
              <a:rect r="r" b="b" t="t" l="l"/>
              <a:pathLst>
                <a:path h="203488" w="1538911">
                  <a:moveTo>
                    <a:pt x="9177" y="0"/>
                  </a:moveTo>
                  <a:lnTo>
                    <a:pt x="1321963" y="0"/>
                  </a:lnTo>
                  <a:cubicBezTo>
                    <a:pt x="1345607" y="0"/>
                    <a:pt x="1368926" y="5512"/>
                    <a:pt x="1390068" y="16098"/>
                  </a:cubicBezTo>
                  <a:lnTo>
                    <a:pt x="1528968" y="85646"/>
                  </a:lnTo>
                  <a:cubicBezTo>
                    <a:pt x="1535062" y="88697"/>
                    <a:pt x="1538911" y="94928"/>
                    <a:pt x="1538911" y="101744"/>
                  </a:cubicBezTo>
                  <a:cubicBezTo>
                    <a:pt x="1538911" y="108559"/>
                    <a:pt x="1535062" y="114790"/>
                    <a:pt x="1528968" y="117842"/>
                  </a:cubicBezTo>
                  <a:lnTo>
                    <a:pt x="1390068" y="187390"/>
                  </a:lnTo>
                  <a:cubicBezTo>
                    <a:pt x="1368926" y="197976"/>
                    <a:pt x="1345607" y="203488"/>
                    <a:pt x="1321963" y="203488"/>
                  </a:cubicBezTo>
                  <a:lnTo>
                    <a:pt x="9177" y="203488"/>
                  </a:lnTo>
                  <a:cubicBezTo>
                    <a:pt x="5236" y="203488"/>
                    <a:pt x="1813" y="200779"/>
                    <a:pt x="906" y="196944"/>
                  </a:cubicBezTo>
                  <a:cubicBezTo>
                    <a:pt x="0" y="193109"/>
                    <a:pt x="1848" y="189154"/>
                    <a:pt x="5372" y="187390"/>
                  </a:cubicBezTo>
                  <a:lnTo>
                    <a:pt x="144272" y="117842"/>
                  </a:lnTo>
                  <a:cubicBezTo>
                    <a:pt x="150366" y="114790"/>
                    <a:pt x="154215" y="108559"/>
                    <a:pt x="154215" y="101744"/>
                  </a:cubicBezTo>
                  <a:cubicBezTo>
                    <a:pt x="154215" y="94928"/>
                    <a:pt x="150366" y="88697"/>
                    <a:pt x="144272" y="85646"/>
                  </a:cubicBezTo>
                  <a:lnTo>
                    <a:pt x="5372" y="16098"/>
                  </a:lnTo>
                  <a:cubicBezTo>
                    <a:pt x="1848" y="14333"/>
                    <a:pt x="0" y="10379"/>
                    <a:pt x="906" y="6544"/>
                  </a:cubicBezTo>
                  <a:cubicBezTo>
                    <a:pt x="1813" y="2709"/>
                    <a:pt x="5236" y="0"/>
                    <a:pt x="9177" y="0"/>
                  </a:cubicBezTo>
                  <a:close/>
                </a:path>
              </a:pathLst>
            </a:custGeom>
            <a:solidFill>
              <a:srgbClr val="FF7009"/>
            </a:solidFill>
          </p:spPr>
        </p:sp>
        <p:sp>
          <p:nvSpPr>
            <p:cNvPr name="TextBox 28" id="28"/>
            <p:cNvSpPr txBox="true"/>
            <p:nvPr/>
          </p:nvSpPr>
          <p:spPr>
            <a:xfrm>
              <a:off x="177800" y="104775"/>
              <a:ext cx="1333896" cy="98713"/>
            </a:xfrm>
            <a:prstGeom prst="rect">
              <a:avLst/>
            </a:prstGeom>
          </p:spPr>
          <p:txBody>
            <a:bodyPr anchor="ctr" rtlCol="false" tIns="50800" lIns="50800" bIns="50800" rIns="50800"/>
            <a:lstStyle/>
            <a:p>
              <a:pPr algn="ctr">
                <a:lnSpc>
                  <a:spcPts val="1959"/>
                </a:lnSpc>
              </a:pPr>
              <a:r>
                <a:rPr lang="en-US" b="true" sz="2799">
                  <a:solidFill>
                    <a:srgbClr val="F9F5E3"/>
                  </a:solidFill>
                  <a:latin typeface="Poppins Bold"/>
                  <a:ea typeface="Poppins Bold"/>
                  <a:cs typeface="Poppins Bold"/>
                  <a:sym typeface="Poppins Bold"/>
                </a:rPr>
                <a:t>Explainable AI</a:t>
              </a:r>
            </a:p>
          </p:txBody>
        </p:sp>
      </p:grpSp>
      <p:grpSp>
        <p:nvGrpSpPr>
          <p:cNvPr name="Group 29" id="29"/>
          <p:cNvGrpSpPr/>
          <p:nvPr/>
        </p:nvGrpSpPr>
        <p:grpSpPr>
          <a:xfrm rot="0">
            <a:off x="11230258" y="1436418"/>
            <a:ext cx="6029042" cy="772617"/>
            <a:chOff x="0" y="0"/>
            <a:chExt cx="1587896" cy="203488"/>
          </a:xfrm>
        </p:grpSpPr>
        <p:sp>
          <p:nvSpPr>
            <p:cNvPr name="Freeform 30" id="30"/>
            <p:cNvSpPr/>
            <p:nvPr/>
          </p:nvSpPr>
          <p:spPr>
            <a:xfrm flipH="false" flipV="false" rot="0">
              <a:off x="26778" y="0"/>
              <a:ext cx="1538911" cy="203488"/>
            </a:xfrm>
            <a:custGeom>
              <a:avLst/>
              <a:gdLst/>
              <a:ahLst/>
              <a:cxnLst/>
              <a:rect r="r" b="b" t="t" l="l"/>
              <a:pathLst>
                <a:path h="203488" w="1538911">
                  <a:moveTo>
                    <a:pt x="9177" y="0"/>
                  </a:moveTo>
                  <a:lnTo>
                    <a:pt x="1321963" y="0"/>
                  </a:lnTo>
                  <a:cubicBezTo>
                    <a:pt x="1345607" y="0"/>
                    <a:pt x="1368926" y="5512"/>
                    <a:pt x="1390068" y="16098"/>
                  </a:cubicBezTo>
                  <a:lnTo>
                    <a:pt x="1528968" y="85646"/>
                  </a:lnTo>
                  <a:cubicBezTo>
                    <a:pt x="1535062" y="88697"/>
                    <a:pt x="1538911" y="94928"/>
                    <a:pt x="1538911" y="101744"/>
                  </a:cubicBezTo>
                  <a:cubicBezTo>
                    <a:pt x="1538911" y="108559"/>
                    <a:pt x="1535062" y="114790"/>
                    <a:pt x="1528968" y="117842"/>
                  </a:cubicBezTo>
                  <a:lnTo>
                    <a:pt x="1390068" y="187390"/>
                  </a:lnTo>
                  <a:cubicBezTo>
                    <a:pt x="1368926" y="197976"/>
                    <a:pt x="1345607" y="203488"/>
                    <a:pt x="1321963" y="203488"/>
                  </a:cubicBezTo>
                  <a:lnTo>
                    <a:pt x="9177" y="203488"/>
                  </a:lnTo>
                  <a:cubicBezTo>
                    <a:pt x="5236" y="203488"/>
                    <a:pt x="1813" y="200779"/>
                    <a:pt x="906" y="196944"/>
                  </a:cubicBezTo>
                  <a:cubicBezTo>
                    <a:pt x="0" y="193109"/>
                    <a:pt x="1848" y="189154"/>
                    <a:pt x="5372" y="187390"/>
                  </a:cubicBezTo>
                  <a:lnTo>
                    <a:pt x="144272" y="117842"/>
                  </a:lnTo>
                  <a:cubicBezTo>
                    <a:pt x="150366" y="114790"/>
                    <a:pt x="154215" y="108559"/>
                    <a:pt x="154215" y="101744"/>
                  </a:cubicBezTo>
                  <a:cubicBezTo>
                    <a:pt x="154215" y="94928"/>
                    <a:pt x="150366" y="88697"/>
                    <a:pt x="144272" y="85646"/>
                  </a:cubicBezTo>
                  <a:lnTo>
                    <a:pt x="5372" y="16098"/>
                  </a:lnTo>
                  <a:cubicBezTo>
                    <a:pt x="1848" y="14333"/>
                    <a:pt x="0" y="10379"/>
                    <a:pt x="906" y="6544"/>
                  </a:cubicBezTo>
                  <a:cubicBezTo>
                    <a:pt x="1813" y="2709"/>
                    <a:pt x="5236" y="0"/>
                    <a:pt x="9177" y="0"/>
                  </a:cubicBezTo>
                  <a:close/>
                </a:path>
              </a:pathLst>
            </a:custGeom>
            <a:solidFill>
              <a:srgbClr val="FF7009">
                <a:alpha val="19608"/>
              </a:srgbClr>
            </a:solidFill>
          </p:spPr>
        </p:sp>
        <p:sp>
          <p:nvSpPr>
            <p:cNvPr name="TextBox 31" id="31"/>
            <p:cNvSpPr txBox="true"/>
            <p:nvPr/>
          </p:nvSpPr>
          <p:spPr>
            <a:xfrm>
              <a:off x="177800" y="104775"/>
              <a:ext cx="1333896" cy="98713"/>
            </a:xfrm>
            <a:prstGeom prst="rect">
              <a:avLst/>
            </a:prstGeom>
          </p:spPr>
          <p:txBody>
            <a:bodyPr anchor="ctr" rtlCol="false" tIns="50800" lIns="50800" bIns="50800" rIns="50800"/>
            <a:lstStyle/>
            <a:p>
              <a:pPr algn="ctr">
                <a:lnSpc>
                  <a:spcPts val="1959"/>
                </a:lnSpc>
              </a:pPr>
              <a:r>
                <a:rPr lang="en-US" b="true" sz="2799">
                  <a:solidFill>
                    <a:srgbClr val="F9F5E3">
                      <a:alpha val="19608"/>
                    </a:srgbClr>
                  </a:solidFill>
                  <a:latin typeface="Poppins Bold"/>
                  <a:ea typeface="Poppins Bold"/>
                  <a:cs typeface="Poppins Bold"/>
                  <a:sym typeface="Poppins Bold"/>
                </a:rPr>
                <a:t>Differential Privacy</a:t>
              </a:r>
            </a:p>
          </p:txBody>
        </p:sp>
      </p:grpSp>
      <p:grpSp>
        <p:nvGrpSpPr>
          <p:cNvPr name="Group 32" id="32"/>
          <p:cNvGrpSpPr/>
          <p:nvPr/>
        </p:nvGrpSpPr>
        <p:grpSpPr>
          <a:xfrm rot="0">
            <a:off x="0" y="9555697"/>
            <a:ext cx="4099091" cy="731303"/>
            <a:chOff x="0" y="0"/>
            <a:chExt cx="5465455" cy="975071"/>
          </a:xfrm>
        </p:grpSpPr>
        <p:grpSp>
          <p:nvGrpSpPr>
            <p:cNvPr name="Group 33" id="33"/>
            <p:cNvGrpSpPr/>
            <p:nvPr/>
          </p:nvGrpSpPr>
          <p:grpSpPr>
            <a:xfrm rot="0">
              <a:off x="0" y="0"/>
              <a:ext cx="975071" cy="975071"/>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0" t="-446" r="0" b="0"/>
                </a:stretch>
              </a:blipFill>
            </p:spPr>
          </p:sp>
        </p:grpSp>
        <p:sp>
          <p:nvSpPr>
            <p:cNvPr name="TextBox 35" id="35"/>
            <p:cNvSpPr txBox="true"/>
            <p:nvPr/>
          </p:nvSpPr>
          <p:spPr>
            <a:xfrm rot="0">
              <a:off x="1141360" y="48747"/>
              <a:ext cx="2860498" cy="925689"/>
            </a:xfrm>
            <a:prstGeom prst="rect">
              <a:avLst/>
            </a:prstGeom>
          </p:spPr>
          <p:txBody>
            <a:bodyPr anchor="t" rtlCol="false" tIns="0" lIns="0" bIns="0" rIns="0">
              <a:spAutoFit/>
            </a:bodyPr>
            <a:lstStyle/>
            <a:p>
              <a:pPr algn="l">
                <a:lnSpc>
                  <a:spcPts val="5594"/>
                </a:lnSpc>
                <a:spcBef>
                  <a:spcPct val="0"/>
                </a:spcBef>
              </a:pPr>
              <a:r>
                <a:rPr lang="en-US" b="true" sz="3996">
                  <a:solidFill>
                    <a:srgbClr val="FFFFFF"/>
                  </a:solidFill>
                  <a:latin typeface="Poppins Bold"/>
                  <a:ea typeface="Poppins Bold"/>
                  <a:cs typeface="Poppins Bold"/>
                  <a:sym typeface="Poppins Bold"/>
                </a:rPr>
                <a:t>No</a:t>
              </a:r>
            </a:p>
          </p:txBody>
        </p:sp>
        <p:sp>
          <p:nvSpPr>
            <p:cNvPr name="TextBox 36" id="36"/>
            <p:cNvSpPr txBox="true"/>
            <p:nvPr/>
          </p:nvSpPr>
          <p:spPr>
            <a:xfrm rot="0">
              <a:off x="2184479" y="48747"/>
              <a:ext cx="3280976" cy="925689"/>
            </a:xfrm>
            <a:prstGeom prst="rect">
              <a:avLst/>
            </a:prstGeom>
          </p:spPr>
          <p:txBody>
            <a:bodyPr anchor="t" rtlCol="false" tIns="0" lIns="0" bIns="0" rIns="0">
              <a:spAutoFit/>
            </a:bodyPr>
            <a:lstStyle/>
            <a:p>
              <a:pPr algn="l">
                <a:lnSpc>
                  <a:spcPts val="5594"/>
                </a:lnSpc>
                <a:spcBef>
                  <a:spcPct val="0"/>
                </a:spcBef>
              </a:pPr>
              <a:r>
                <a:rPr lang="en-US" b="true" sz="3996">
                  <a:solidFill>
                    <a:srgbClr val="FFFFFF"/>
                  </a:solidFill>
                  <a:latin typeface="Poppins Semi-Bold"/>
                  <a:ea typeface="Poppins Semi-Bold"/>
                  <a:cs typeface="Poppins Semi-Bold"/>
                  <a:sym typeface="Poppins Semi-Bold"/>
                </a:rPr>
                <a:t>Parking</a:t>
              </a:r>
            </a:p>
          </p:txBody>
        </p:sp>
      </p:grpSp>
      <p:sp>
        <p:nvSpPr>
          <p:cNvPr name="TextBox 37" id="3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9</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DCD7F1"/>
        </a:solidFill>
      </p:bgPr>
    </p:bg>
    <p:spTree>
      <p:nvGrpSpPr>
        <p:cNvPr id="1" name=""/>
        <p:cNvGrpSpPr/>
        <p:nvPr/>
      </p:nvGrpSpPr>
      <p:grpSpPr>
        <a:xfrm>
          <a:off x="0" y="0"/>
          <a:ext cx="0" cy="0"/>
          <a:chOff x="0" y="0"/>
          <a:chExt cx="0" cy="0"/>
        </a:xfrm>
      </p:grpSpPr>
      <p:sp>
        <p:nvSpPr>
          <p:cNvPr name="TextBox 2" id="2"/>
          <p:cNvSpPr txBox="true"/>
          <p:nvPr/>
        </p:nvSpPr>
        <p:spPr>
          <a:xfrm rot="0">
            <a:off x="94089" y="0"/>
            <a:ext cx="11355692" cy="1028700"/>
          </a:xfrm>
          <a:prstGeom prst="rect">
            <a:avLst/>
          </a:prstGeom>
        </p:spPr>
        <p:txBody>
          <a:bodyPr anchor="t" rtlCol="false" tIns="0" lIns="0" bIns="0" rIns="0">
            <a:spAutoFit/>
          </a:bodyPr>
          <a:lstStyle/>
          <a:p>
            <a:pPr algn="l">
              <a:lnSpc>
                <a:spcPts val="8400"/>
              </a:lnSpc>
            </a:pPr>
            <a:r>
              <a:rPr lang="en-US" sz="6000" b="true">
                <a:solidFill>
                  <a:srgbClr val="231F20"/>
                </a:solidFill>
                <a:latin typeface="Canva Sans Bold"/>
                <a:ea typeface="Canva Sans Bold"/>
                <a:cs typeface="Canva Sans Bold"/>
                <a:sym typeface="Canva Sans Bold"/>
              </a:rPr>
              <a:t>Control and Governance</a:t>
            </a:r>
          </a:p>
        </p:txBody>
      </p:sp>
      <p:sp>
        <p:nvSpPr>
          <p:cNvPr name="Freeform 3" id="3"/>
          <p:cNvSpPr/>
          <p:nvPr/>
        </p:nvSpPr>
        <p:spPr>
          <a:xfrm flipH="false" flipV="false" rot="0">
            <a:off x="400485" y="2618609"/>
            <a:ext cx="8330057" cy="5549901"/>
          </a:xfrm>
          <a:custGeom>
            <a:avLst/>
            <a:gdLst/>
            <a:ahLst/>
            <a:cxnLst/>
            <a:rect r="r" b="b" t="t" l="l"/>
            <a:pathLst>
              <a:path h="5549901" w="8330057">
                <a:moveTo>
                  <a:pt x="0" y="0"/>
                </a:moveTo>
                <a:lnTo>
                  <a:pt x="8330057" y="0"/>
                </a:lnTo>
                <a:lnTo>
                  <a:pt x="8330057" y="5549901"/>
                </a:lnTo>
                <a:lnTo>
                  <a:pt x="0" y="5549901"/>
                </a:lnTo>
                <a:lnTo>
                  <a:pt x="0" y="0"/>
                </a:lnTo>
                <a:close/>
              </a:path>
            </a:pathLst>
          </a:custGeom>
          <a:blipFill>
            <a:blip r:embed="rId2"/>
            <a:stretch>
              <a:fillRect l="0" t="0" r="0" b="0"/>
            </a:stretch>
          </a:blipFill>
        </p:spPr>
      </p:sp>
      <p:sp>
        <p:nvSpPr>
          <p:cNvPr name="TextBox 4" id="4"/>
          <p:cNvSpPr txBox="true"/>
          <p:nvPr/>
        </p:nvSpPr>
        <p:spPr>
          <a:xfrm rot="0">
            <a:off x="400485" y="8101835"/>
            <a:ext cx="3692017" cy="580390"/>
          </a:xfrm>
          <a:prstGeom prst="rect">
            <a:avLst/>
          </a:prstGeom>
        </p:spPr>
        <p:txBody>
          <a:bodyPr anchor="t" rtlCol="false" tIns="0" lIns="0" bIns="0" rIns="0">
            <a:spAutoFit/>
          </a:bodyPr>
          <a:lstStyle/>
          <a:p>
            <a:pPr algn="ctr">
              <a:lnSpc>
                <a:spcPts val="4759"/>
              </a:lnSpc>
            </a:pPr>
            <a:r>
              <a:rPr lang="en-US" sz="3399" b="true">
                <a:solidFill>
                  <a:srgbClr val="000000"/>
                </a:solidFill>
                <a:latin typeface="Canva Sans Bold"/>
                <a:ea typeface="Canva Sans Bold"/>
                <a:cs typeface="Canva Sans Bold"/>
                <a:sym typeface="Canva Sans Bold"/>
              </a:rPr>
              <a:t>Your Information</a:t>
            </a:r>
          </a:p>
        </p:txBody>
      </p:sp>
      <p:sp>
        <p:nvSpPr>
          <p:cNvPr name="Freeform 5" id="5"/>
          <p:cNvSpPr/>
          <p:nvPr/>
        </p:nvSpPr>
        <p:spPr>
          <a:xfrm flipH="false" flipV="false" rot="0">
            <a:off x="4278581" y="2618609"/>
            <a:ext cx="4451962" cy="5549901"/>
          </a:xfrm>
          <a:custGeom>
            <a:avLst/>
            <a:gdLst/>
            <a:ahLst/>
            <a:cxnLst/>
            <a:rect r="r" b="b" t="t" l="l"/>
            <a:pathLst>
              <a:path h="5549901" w="4451962">
                <a:moveTo>
                  <a:pt x="0" y="0"/>
                </a:moveTo>
                <a:lnTo>
                  <a:pt x="4451961" y="0"/>
                </a:lnTo>
                <a:lnTo>
                  <a:pt x="4451961" y="5549901"/>
                </a:lnTo>
                <a:lnTo>
                  <a:pt x="0" y="5549901"/>
                </a:lnTo>
                <a:lnTo>
                  <a:pt x="0" y="0"/>
                </a:lnTo>
                <a:close/>
              </a:path>
            </a:pathLst>
          </a:custGeom>
          <a:blipFill>
            <a:blip r:embed="rId3"/>
            <a:stretch>
              <a:fillRect l="-87109" t="0" r="0" b="0"/>
            </a:stretch>
          </a:blipFill>
        </p:spPr>
      </p:sp>
      <p:sp>
        <p:nvSpPr>
          <p:cNvPr name="TextBox 6" id="6"/>
          <p:cNvSpPr txBox="true"/>
          <p:nvPr/>
        </p:nvSpPr>
        <p:spPr>
          <a:xfrm rot="0">
            <a:off x="4278581" y="8101835"/>
            <a:ext cx="4451962" cy="580390"/>
          </a:xfrm>
          <a:prstGeom prst="rect">
            <a:avLst/>
          </a:prstGeom>
        </p:spPr>
        <p:txBody>
          <a:bodyPr anchor="t" rtlCol="false" tIns="0" lIns="0" bIns="0" rIns="0">
            <a:spAutoFit/>
          </a:bodyPr>
          <a:lstStyle/>
          <a:p>
            <a:pPr algn="ctr">
              <a:lnSpc>
                <a:spcPts val="4759"/>
              </a:lnSpc>
            </a:pPr>
            <a:r>
              <a:rPr lang="en-US" sz="3399" b="true">
                <a:solidFill>
                  <a:srgbClr val="000000"/>
                </a:solidFill>
                <a:latin typeface="Canva Sans Bold"/>
                <a:ea typeface="Canva Sans Bold"/>
                <a:cs typeface="Canva Sans Bold"/>
                <a:sym typeface="Canva Sans Bold"/>
              </a:rPr>
              <a:t>Noised Information</a:t>
            </a:r>
          </a:p>
        </p:txBody>
      </p:sp>
      <p:grpSp>
        <p:nvGrpSpPr>
          <p:cNvPr name="Group 7" id="7"/>
          <p:cNvGrpSpPr/>
          <p:nvPr/>
        </p:nvGrpSpPr>
        <p:grpSpPr>
          <a:xfrm rot="0">
            <a:off x="9456769" y="2826278"/>
            <a:ext cx="8296669" cy="1464031"/>
            <a:chOff x="0" y="0"/>
            <a:chExt cx="2185131" cy="385588"/>
          </a:xfrm>
        </p:grpSpPr>
        <p:sp>
          <p:nvSpPr>
            <p:cNvPr name="Freeform 8" id="8"/>
            <p:cNvSpPr/>
            <p:nvPr/>
          </p:nvSpPr>
          <p:spPr>
            <a:xfrm flipH="false" flipV="false" rot="0">
              <a:off x="0" y="0"/>
              <a:ext cx="2185131" cy="385588"/>
            </a:xfrm>
            <a:custGeom>
              <a:avLst/>
              <a:gdLst/>
              <a:ahLst/>
              <a:cxnLst/>
              <a:rect r="r" b="b" t="t" l="l"/>
              <a:pathLst>
                <a:path h="385588" w="2185131">
                  <a:moveTo>
                    <a:pt x="47590" y="0"/>
                  </a:moveTo>
                  <a:lnTo>
                    <a:pt x="2137541" y="0"/>
                  </a:lnTo>
                  <a:cubicBezTo>
                    <a:pt x="2150163" y="0"/>
                    <a:pt x="2162267" y="5014"/>
                    <a:pt x="2171192" y="13939"/>
                  </a:cubicBezTo>
                  <a:cubicBezTo>
                    <a:pt x="2180117" y="22864"/>
                    <a:pt x="2185131" y="34968"/>
                    <a:pt x="2185131" y="47590"/>
                  </a:cubicBezTo>
                  <a:lnTo>
                    <a:pt x="2185131" y="337999"/>
                  </a:lnTo>
                  <a:cubicBezTo>
                    <a:pt x="2185131" y="350620"/>
                    <a:pt x="2180117" y="362725"/>
                    <a:pt x="2171192" y="371650"/>
                  </a:cubicBezTo>
                  <a:cubicBezTo>
                    <a:pt x="2162267" y="380575"/>
                    <a:pt x="2150163" y="385588"/>
                    <a:pt x="2137541" y="385588"/>
                  </a:cubicBezTo>
                  <a:lnTo>
                    <a:pt x="47590" y="385588"/>
                  </a:lnTo>
                  <a:cubicBezTo>
                    <a:pt x="34968" y="385588"/>
                    <a:pt x="22864" y="380575"/>
                    <a:pt x="13939" y="371650"/>
                  </a:cubicBezTo>
                  <a:cubicBezTo>
                    <a:pt x="5014" y="362725"/>
                    <a:pt x="0" y="350620"/>
                    <a:pt x="0" y="337999"/>
                  </a:cubicBezTo>
                  <a:lnTo>
                    <a:pt x="0" y="47590"/>
                  </a:lnTo>
                  <a:cubicBezTo>
                    <a:pt x="0" y="34968"/>
                    <a:pt x="5014" y="22864"/>
                    <a:pt x="13939" y="13939"/>
                  </a:cubicBezTo>
                  <a:cubicBezTo>
                    <a:pt x="22864" y="5014"/>
                    <a:pt x="34968" y="0"/>
                    <a:pt x="47590" y="0"/>
                  </a:cubicBezTo>
                  <a:close/>
                </a:path>
              </a:pathLst>
            </a:custGeom>
            <a:solidFill>
              <a:srgbClr val="9B3F3D"/>
            </a:solidFill>
          </p:spPr>
        </p:sp>
        <p:sp>
          <p:nvSpPr>
            <p:cNvPr name="TextBox 9" id="9"/>
            <p:cNvSpPr txBox="true"/>
            <p:nvPr/>
          </p:nvSpPr>
          <p:spPr>
            <a:xfrm>
              <a:off x="0" y="-57150"/>
              <a:ext cx="2185131" cy="442738"/>
            </a:xfrm>
            <a:prstGeom prst="rect">
              <a:avLst/>
            </a:prstGeom>
          </p:spPr>
          <p:txBody>
            <a:bodyPr anchor="ctr" rtlCol="false" tIns="50800" lIns="50800" bIns="50800" rIns="50800"/>
            <a:lstStyle/>
            <a:p>
              <a:pPr algn="ctr">
                <a:lnSpc>
                  <a:spcPts val="4059"/>
                </a:lnSpc>
              </a:pPr>
              <a:r>
                <a:rPr lang="en-US" b="true" sz="2899">
                  <a:solidFill>
                    <a:srgbClr val="FFFFFF"/>
                  </a:solidFill>
                  <a:latin typeface="Canva Sans Bold"/>
                  <a:ea typeface="Canva Sans Bold"/>
                  <a:cs typeface="Canva Sans Bold"/>
                  <a:sym typeface="Canva Sans Bold"/>
                </a:rPr>
                <a:t>Training AI Models with Adding Noise, Protecting Data</a:t>
              </a:r>
            </a:p>
          </p:txBody>
        </p:sp>
      </p:grpSp>
      <p:grpSp>
        <p:nvGrpSpPr>
          <p:cNvPr name="Group 10" id="10"/>
          <p:cNvGrpSpPr/>
          <p:nvPr/>
        </p:nvGrpSpPr>
        <p:grpSpPr>
          <a:xfrm rot="0">
            <a:off x="9456769" y="4699884"/>
            <a:ext cx="8296669" cy="1464031"/>
            <a:chOff x="0" y="0"/>
            <a:chExt cx="2185131" cy="385588"/>
          </a:xfrm>
        </p:grpSpPr>
        <p:sp>
          <p:nvSpPr>
            <p:cNvPr name="Freeform 11" id="11"/>
            <p:cNvSpPr/>
            <p:nvPr/>
          </p:nvSpPr>
          <p:spPr>
            <a:xfrm flipH="false" flipV="false" rot="0">
              <a:off x="0" y="0"/>
              <a:ext cx="2185131" cy="385588"/>
            </a:xfrm>
            <a:custGeom>
              <a:avLst/>
              <a:gdLst/>
              <a:ahLst/>
              <a:cxnLst/>
              <a:rect r="r" b="b" t="t" l="l"/>
              <a:pathLst>
                <a:path h="385588" w="2185131">
                  <a:moveTo>
                    <a:pt x="47590" y="0"/>
                  </a:moveTo>
                  <a:lnTo>
                    <a:pt x="2137541" y="0"/>
                  </a:lnTo>
                  <a:cubicBezTo>
                    <a:pt x="2150163" y="0"/>
                    <a:pt x="2162267" y="5014"/>
                    <a:pt x="2171192" y="13939"/>
                  </a:cubicBezTo>
                  <a:cubicBezTo>
                    <a:pt x="2180117" y="22864"/>
                    <a:pt x="2185131" y="34968"/>
                    <a:pt x="2185131" y="47590"/>
                  </a:cubicBezTo>
                  <a:lnTo>
                    <a:pt x="2185131" y="337999"/>
                  </a:lnTo>
                  <a:cubicBezTo>
                    <a:pt x="2185131" y="350620"/>
                    <a:pt x="2180117" y="362725"/>
                    <a:pt x="2171192" y="371650"/>
                  </a:cubicBezTo>
                  <a:cubicBezTo>
                    <a:pt x="2162267" y="380575"/>
                    <a:pt x="2150163" y="385588"/>
                    <a:pt x="2137541" y="385588"/>
                  </a:cubicBezTo>
                  <a:lnTo>
                    <a:pt x="47590" y="385588"/>
                  </a:lnTo>
                  <a:cubicBezTo>
                    <a:pt x="34968" y="385588"/>
                    <a:pt x="22864" y="380575"/>
                    <a:pt x="13939" y="371650"/>
                  </a:cubicBezTo>
                  <a:cubicBezTo>
                    <a:pt x="5014" y="362725"/>
                    <a:pt x="0" y="350620"/>
                    <a:pt x="0" y="337999"/>
                  </a:cubicBezTo>
                  <a:lnTo>
                    <a:pt x="0" y="47590"/>
                  </a:lnTo>
                  <a:cubicBezTo>
                    <a:pt x="0" y="34968"/>
                    <a:pt x="5014" y="22864"/>
                    <a:pt x="13939" y="13939"/>
                  </a:cubicBezTo>
                  <a:cubicBezTo>
                    <a:pt x="22864" y="5014"/>
                    <a:pt x="34968" y="0"/>
                    <a:pt x="47590" y="0"/>
                  </a:cubicBezTo>
                  <a:close/>
                </a:path>
              </a:pathLst>
            </a:custGeom>
            <a:solidFill>
              <a:srgbClr val="9B3F3D"/>
            </a:solidFill>
          </p:spPr>
        </p:sp>
        <p:sp>
          <p:nvSpPr>
            <p:cNvPr name="TextBox 12" id="12"/>
            <p:cNvSpPr txBox="true"/>
            <p:nvPr/>
          </p:nvSpPr>
          <p:spPr>
            <a:xfrm>
              <a:off x="0" y="-57150"/>
              <a:ext cx="2185131" cy="442738"/>
            </a:xfrm>
            <a:prstGeom prst="rect">
              <a:avLst/>
            </a:prstGeom>
          </p:spPr>
          <p:txBody>
            <a:bodyPr anchor="ctr" rtlCol="false" tIns="50800" lIns="50800" bIns="50800" rIns="50800"/>
            <a:lstStyle/>
            <a:p>
              <a:pPr algn="ctr">
                <a:lnSpc>
                  <a:spcPts val="4059"/>
                </a:lnSpc>
              </a:pPr>
              <a:r>
                <a:rPr lang="en-US" b="true" sz="2899">
                  <a:solidFill>
                    <a:srgbClr val="FFFFFF"/>
                  </a:solidFill>
                  <a:latin typeface="Canva Sans Bold"/>
                  <a:ea typeface="Canva Sans Bold"/>
                  <a:cs typeface="Canva Sans Bold"/>
                  <a:sym typeface="Canva Sans Bold"/>
                </a:rPr>
                <a:t>Analyzing Data with Integrity: Safeguarding Privacy Every Step</a:t>
              </a:r>
            </a:p>
          </p:txBody>
        </p:sp>
      </p:grpSp>
      <p:grpSp>
        <p:nvGrpSpPr>
          <p:cNvPr name="Group 13" id="13"/>
          <p:cNvGrpSpPr/>
          <p:nvPr/>
        </p:nvGrpSpPr>
        <p:grpSpPr>
          <a:xfrm rot="0">
            <a:off x="9456769" y="6573490"/>
            <a:ext cx="8296669" cy="1464031"/>
            <a:chOff x="0" y="0"/>
            <a:chExt cx="2185131" cy="385588"/>
          </a:xfrm>
        </p:grpSpPr>
        <p:sp>
          <p:nvSpPr>
            <p:cNvPr name="Freeform 14" id="14"/>
            <p:cNvSpPr/>
            <p:nvPr/>
          </p:nvSpPr>
          <p:spPr>
            <a:xfrm flipH="false" flipV="false" rot="0">
              <a:off x="0" y="0"/>
              <a:ext cx="2185131" cy="385588"/>
            </a:xfrm>
            <a:custGeom>
              <a:avLst/>
              <a:gdLst/>
              <a:ahLst/>
              <a:cxnLst/>
              <a:rect r="r" b="b" t="t" l="l"/>
              <a:pathLst>
                <a:path h="385588" w="2185131">
                  <a:moveTo>
                    <a:pt x="47590" y="0"/>
                  </a:moveTo>
                  <a:lnTo>
                    <a:pt x="2137541" y="0"/>
                  </a:lnTo>
                  <a:cubicBezTo>
                    <a:pt x="2150163" y="0"/>
                    <a:pt x="2162267" y="5014"/>
                    <a:pt x="2171192" y="13939"/>
                  </a:cubicBezTo>
                  <a:cubicBezTo>
                    <a:pt x="2180117" y="22864"/>
                    <a:pt x="2185131" y="34968"/>
                    <a:pt x="2185131" y="47590"/>
                  </a:cubicBezTo>
                  <a:lnTo>
                    <a:pt x="2185131" y="337999"/>
                  </a:lnTo>
                  <a:cubicBezTo>
                    <a:pt x="2185131" y="350620"/>
                    <a:pt x="2180117" y="362725"/>
                    <a:pt x="2171192" y="371650"/>
                  </a:cubicBezTo>
                  <a:cubicBezTo>
                    <a:pt x="2162267" y="380575"/>
                    <a:pt x="2150163" y="385588"/>
                    <a:pt x="2137541" y="385588"/>
                  </a:cubicBezTo>
                  <a:lnTo>
                    <a:pt x="47590" y="385588"/>
                  </a:lnTo>
                  <a:cubicBezTo>
                    <a:pt x="34968" y="385588"/>
                    <a:pt x="22864" y="380575"/>
                    <a:pt x="13939" y="371650"/>
                  </a:cubicBezTo>
                  <a:cubicBezTo>
                    <a:pt x="5014" y="362725"/>
                    <a:pt x="0" y="350620"/>
                    <a:pt x="0" y="337999"/>
                  </a:cubicBezTo>
                  <a:lnTo>
                    <a:pt x="0" y="47590"/>
                  </a:lnTo>
                  <a:cubicBezTo>
                    <a:pt x="0" y="34968"/>
                    <a:pt x="5014" y="22864"/>
                    <a:pt x="13939" y="13939"/>
                  </a:cubicBezTo>
                  <a:cubicBezTo>
                    <a:pt x="22864" y="5014"/>
                    <a:pt x="34968" y="0"/>
                    <a:pt x="47590" y="0"/>
                  </a:cubicBezTo>
                  <a:close/>
                </a:path>
              </a:pathLst>
            </a:custGeom>
            <a:solidFill>
              <a:srgbClr val="9B3F3D"/>
            </a:solidFill>
          </p:spPr>
        </p:sp>
        <p:sp>
          <p:nvSpPr>
            <p:cNvPr name="TextBox 15" id="15"/>
            <p:cNvSpPr txBox="true"/>
            <p:nvPr/>
          </p:nvSpPr>
          <p:spPr>
            <a:xfrm>
              <a:off x="0" y="-57150"/>
              <a:ext cx="2185131" cy="442738"/>
            </a:xfrm>
            <a:prstGeom prst="rect">
              <a:avLst/>
            </a:prstGeom>
          </p:spPr>
          <p:txBody>
            <a:bodyPr anchor="ctr" rtlCol="false" tIns="50800" lIns="50800" bIns="50800" rIns="50800"/>
            <a:lstStyle/>
            <a:p>
              <a:pPr algn="ctr">
                <a:lnSpc>
                  <a:spcPts val="4059"/>
                </a:lnSpc>
              </a:pPr>
              <a:r>
                <a:rPr lang="en-US" b="true" sz="2899">
                  <a:solidFill>
                    <a:srgbClr val="FFFFFF"/>
                  </a:solidFill>
                  <a:latin typeface="Canva Sans Bold"/>
                  <a:ea typeface="Canva Sans Bold"/>
                  <a:cs typeface="Canva Sans Bold"/>
                  <a:sym typeface="Canva Sans Bold"/>
                </a:rPr>
                <a:t>Ensuring Ethical AI: Independent Audits and Annual Reports for Full Transparency</a:t>
              </a:r>
            </a:p>
          </p:txBody>
        </p:sp>
      </p:grpSp>
      <p:grpSp>
        <p:nvGrpSpPr>
          <p:cNvPr name="Group 16" id="16"/>
          <p:cNvGrpSpPr/>
          <p:nvPr/>
        </p:nvGrpSpPr>
        <p:grpSpPr>
          <a:xfrm rot="0">
            <a:off x="400485" y="1436418"/>
            <a:ext cx="6029042" cy="772617"/>
            <a:chOff x="0" y="0"/>
            <a:chExt cx="1587896" cy="203488"/>
          </a:xfrm>
        </p:grpSpPr>
        <p:sp>
          <p:nvSpPr>
            <p:cNvPr name="Freeform 17" id="17"/>
            <p:cNvSpPr/>
            <p:nvPr/>
          </p:nvSpPr>
          <p:spPr>
            <a:xfrm flipH="false" flipV="false" rot="0">
              <a:off x="26778" y="0"/>
              <a:ext cx="1538911" cy="203488"/>
            </a:xfrm>
            <a:custGeom>
              <a:avLst/>
              <a:gdLst/>
              <a:ahLst/>
              <a:cxnLst/>
              <a:rect r="r" b="b" t="t" l="l"/>
              <a:pathLst>
                <a:path h="203488" w="1538911">
                  <a:moveTo>
                    <a:pt x="9177" y="0"/>
                  </a:moveTo>
                  <a:lnTo>
                    <a:pt x="1321963" y="0"/>
                  </a:lnTo>
                  <a:cubicBezTo>
                    <a:pt x="1345607" y="0"/>
                    <a:pt x="1368926" y="5512"/>
                    <a:pt x="1390068" y="16098"/>
                  </a:cubicBezTo>
                  <a:lnTo>
                    <a:pt x="1528968" y="85646"/>
                  </a:lnTo>
                  <a:cubicBezTo>
                    <a:pt x="1535062" y="88697"/>
                    <a:pt x="1538911" y="94928"/>
                    <a:pt x="1538911" y="101744"/>
                  </a:cubicBezTo>
                  <a:cubicBezTo>
                    <a:pt x="1538911" y="108559"/>
                    <a:pt x="1535062" y="114790"/>
                    <a:pt x="1528968" y="117842"/>
                  </a:cubicBezTo>
                  <a:lnTo>
                    <a:pt x="1390068" y="187390"/>
                  </a:lnTo>
                  <a:cubicBezTo>
                    <a:pt x="1368926" y="197976"/>
                    <a:pt x="1345607" y="203488"/>
                    <a:pt x="1321963" y="203488"/>
                  </a:cubicBezTo>
                  <a:lnTo>
                    <a:pt x="9177" y="203488"/>
                  </a:lnTo>
                  <a:cubicBezTo>
                    <a:pt x="5236" y="203488"/>
                    <a:pt x="1813" y="200779"/>
                    <a:pt x="906" y="196944"/>
                  </a:cubicBezTo>
                  <a:cubicBezTo>
                    <a:pt x="0" y="193109"/>
                    <a:pt x="1848" y="189154"/>
                    <a:pt x="5372" y="187390"/>
                  </a:cubicBezTo>
                  <a:lnTo>
                    <a:pt x="144272" y="117842"/>
                  </a:lnTo>
                  <a:cubicBezTo>
                    <a:pt x="150366" y="114790"/>
                    <a:pt x="154215" y="108559"/>
                    <a:pt x="154215" y="101744"/>
                  </a:cubicBezTo>
                  <a:cubicBezTo>
                    <a:pt x="154215" y="94928"/>
                    <a:pt x="150366" y="88697"/>
                    <a:pt x="144272" y="85646"/>
                  </a:cubicBezTo>
                  <a:lnTo>
                    <a:pt x="5372" y="16098"/>
                  </a:lnTo>
                  <a:cubicBezTo>
                    <a:pt x="1848" y="14333"/>
                    <a:pt x="0" y="10379"/>
                    <a:pt x="906" y="6544"/>
                  </a:cubicBezTo>
                  <a:cubicBezTo>
                    <a:pt x="1813" y="2709"/>
                    <a:pt x="5236" y="0"/>
                    <a:pt x="9177" y="0"/>
                  </a:cubicBezTo>
                  <a:close/>
                </a:path>
              </a:pathLst>
            </a:custGeom>
            <a:solidFill>
              <a:srgbClr val="FF7009">
                <a:alpha val="19608"/>
              </a:srgbClr>
            </a:solidFill>
          </p:spPr>
        </p:sp>
        <p:sp>
          <p:nvSpPr>
            <p:cNvPr name="TextBox 18" id="18"/>
            <p:cNvSpPr txBox="true"/>
            <p:nvPr/>
          </p:nvSpPr>
          <p:spPr>
            <a:xfrm>
              <a:off x="177800" y="104775"/>
              <a:ext cx="1333896" cy="98713"/>
            </a:xfrm>
            <a:prstGeom prst="rect">
              <a:avLst/>
            </a:prstGeom>
          </p:spPr>
          <p:txBody>
            <a:bodyPr anchor="ctr" rtlCol="false" tIns="50800" lIns="50800" bIns="50800" rIns="50800"/>
            <a:lstStyle/>
            <a:p>
              <a:pPr algn="l">
                <a:lnSpc>
                  <a:spcPts val="1959"/>
                </a:lnSpc>
              </a:pPr>
              <a:r>
                <a:rPr lang="en-US" sz="2799" b="true">
                  <a:solidFill>
                    <a:srgbClr val="F9F5E3">
                      <a:alpha val="19608"/>
                    </a:srgbClr>
                  </a:solidFill>
                  <a:latin typeface="Poppins Bold"/>
                  <a:ea typeface="Poppins Bold"/>
                  <a:cs typeface="Poppins Bold"/>
                  <a:sym typeface="Poppins Bold"/>
                </a:rPr>
                <a:t>Own Your Data</a:t>
              </a:r>
            </a:p>
          </p:txBody>
        </p:sp>
      </p:grpSp>
      <p:grpSp>
        <p:nvGrpSpPr>
          <p:cNvPr name="Group 19" id="19"/>
          <p:cNvGrpSpPr/>
          <p:nvPr/>
        </p:nvGrpSpPr>
        <p:grpSpPr>
          <a:xfrm rot="0">
            <a:off x="5836161" y="1436418"/>
            <a:ext cx="6029042" cy="772617"/>
            <a:chOff x="0" y="0"/>
            <a:chExt cx="1587896" cy="203488"/>
          </a:xfrm>
        </p:grpSpPr>
        <p:sp>
          <p:nvSpPr>
            <p:cNvPr name="Freeform 20" id="20"/>
            <p:cNvSpPr/>
            <p:nvPr/>
          </p:nvSpPr>
          <p:spPr>
            <a:xfrm flipH="false" flipV="false" rot="0">
              <a:off x="26778" y="0"/>
              <a:ext cx="1538911" cy="203488"/>
            </a:xfrm>
            <a:custGeom>
              <a:avLst/>
              <a:gdLst/>
              <a:ahLst/>
              <a:cxnLst/>
              <a:rect r="r" b="b" t="t" l="l"/>
              <a:pathLst>
                <a:path h="203488" w="1538911">
                  <a:moveTo>
                    <a:pt x="9177" y="0"/>
                  </a:moveTo>
                  <a:lnTo>
                    <a:pt x="1321963" y="0"/>
                  </a:lnTo>
                  <a:cubicBezTo>
                    <a:pt x="1345607" y="0"/>
                    <a:pt x="1368926" y="5512"/>
                    <a:pt x="1390068" y="16098"/>
                  </a:cubicBezTo>
                  <a:lnTo>
                    <a:pt x="1528968" y="85646"/>
                  </a:lnTo>
                  <a:cubicBezTo>
                    <a:pt x="1535062" y="88697"/>
                    <a:pt x="1538911" y="94928"/>
                    <a:pt x="1538911" y="101744"/>
                  </a:cubicBezTo>
                  <a:cubicBezTo>
                    <a:pt x="1538911" y="108559"/>
                    <a:pt x="1535062" y="114790"/>
                    <a:pt x="1528968" y="117842"/>
                  </a:cubicBezTo>
                  <a:lnTo>
                    <a:pt x="1390068" y="187390"/>
                  </a:lnTo>
                  <a:cubicBezTo>
                    <a:pt x="1368926" y="197976"/>
                    <a:pt x="1345607" y="203488"/>
                    <a:pt x="1321963" y="203488"/>
                  </a:cubicBezTo>
                  <a:lnTo>
                    <a:pt x="9177" y="203488"/>
                  </a:lnTo>
                  <a:cubicBezTo>
                    <a:pt x="5236" y="203488"/>
                    <a:pt x="1813" y="200779"/>
                    <a:pt x="906" y="196944"/>
                  </a:cubicBezTo>
                  <a:cubicBezTo>
                    <a:pt x="0" y="193109"/>
                    <a:pt x="1848" y="189154"/>
                    <a:pt x="5372" y="187390"/>
                  </a:cubicBezTo>
                  <a:lnTo>
                    <a:pt x="144272" y="117842"/>
                  </a:lnTo>
                  <a:cubicBezTo>
                    <a:pt x="150366" y="114790"/>
                    <a:pt x="154215" y="108559"/>
                    <a:pt x="154215" y="101744"/>
                  </a:cubicBezTo>
                  <a:cubicBezTo>
                    <a:pt x="154215" y="94928"/>
                    <a:pt x="150366" y="88697"/>
                    <a:pt x="144272" y="85646"/>
                  </a:cubicBezTo>
                  <a:lnTo>
                    <a:pt x="5372" y="16098"/>
                  </a:lnTo>
                  <a:cubicBezTo>
                    <a:pt x="1848" y="14333"/>
                    <a:pt x="0" y="10379"/>
                    <a:pt x="906" y="6544"/>
                  </a:cubicBezTo>
                  <a:cubicBezTo>
                    <a:pt x="1813" y="2709"/>
                    <a:pt x="5236" y="0"/>
                    <a:pt x="9177" y="0"/>
                  </a:cubicBezTo>
                  <a:close/>
                </a:path>
              </a:pathLst>
            </a:custGeom>
            <a:solidFill>
              <a:srgbClr val="FF7009">
                <a:alpha val="19608"/>
              </a:srgbClr>
            </a:solidFill>
          </p:spPr>
        </p:sp>
        <p:sp>
          <p:nvSpPr>
            <p:cNvPr name="TextBox 21" id="21"/>
            <p:cNvSpPr txBox="true"/>
            <p:nvPr/>
          </p:nvSpPr>
          <p:spPr>
            <a:xfrm>
              <a:off x="177800" y="104775"/>
              <a:ext cx="1333896" cy="98713"/>
            </a:xfrm>
            <a:prstGeom prst="rect">
              <a:avLst/>
            </a:prstGeom>
          </p:spPr>
          <p:txBody>
            <a:bodyPr anchor="ctr" rtlCol="false" tIns="50800" lIns="50800" bIns="50800" rIns="50800"/>
            <a:lstStyle/>
            <a:p>
              <a:pPr algn="ctr">
                <a:lnSpc>
                  <a:spcPts val="1959"/>
                </a:lnSpc>
              </a:pPr>
              <a:r>
                <a:rPr lang="en-US" b="true" sz="2799">
                  <a:solidFill>
                    <a:srgbClr val="F9F5E3">
                      <a:alpha val="19608"/>
                    </a:srgbClr>
                  </a:solidFill>
                  <a:latin typeface="Poppins Bold"/>
                  <a:ea typeface="Poppins Bold"/>
                  <a:cs typeface="Poppins Bold"/>
                  <a:sym typeface="Poppins Bold"/>
                </a:rPr>
                <a:t>Explainable AI</a:t>
              </a:r>
            </a:p>
          </p:txBody>
        </p:sp>
      </p:grpSp>
      <p:grpSp>
        <p:nvGrpSpPr>
          <p:cNvPr name="Group 22" id="22"/>
          <p:cNvGrpSpPr/>
          <p:nvPr/>
        </p:nvGrpSpPr>
        <p:grpSpPr>
          <a:xfrm rot="0">
            <a:off x="11230258" y="1436418"/>
            <a:ext cx="6029042" cy="772617"/>
            <a:chOff x="0" y="0"/>
            <a:chExt cx="1587896" cy="203488"/>
          </a:xfrm>
        </p:grpSpPr>
        <p:sp>
          <p:nvSpPr>
            <p:cNvPr name="Freeform 23" id="23"/>
            <p:cNvSpPr/>
            <p:nvPr/>
          </p:nvSpPr>
          <p:spPr>
            <a:xfrm flipH="false" flipV="false" rot="0">
              <a:off x="26778" y="0"/>
              <a:ext cx="1538911" cy="203488"/>
            </a:xfrm>
            <a:custGeom>
              <a:avLst/>
              <a:gdLst/>
              <a:ahLst/>
              <a:cxnLst/>
              <a:rect r="r" b="b" t="t" l="l"/>
              <a:pathLst>
                <a:path h="203488" w="1538911">
                  <a:moveTo>
                    <a:pt x="9177" y="0"/>
                  </a:moveTo>
                  <a:lnTo>
                    <a:pt x="1321963" y="0"/>
                  </a:lnTo>
                  <a:cubicBezTo>
                    <a:pt x="1345607" y="0"/>
                    <a:pt x="1368926" y="5512"/>
                    <a:pt x="1390068" y="16098"/>
                  </a:cubicBezTo>
                  <a:lnTo>
                    <a:pt x="1528968" y="85646"/>
                  </a:lnTo>
                  <a:cubicBezTo>
                    <a:pt x="1535062" y="88697"/>
                    <a:pt x="1538911" y="94928"/>
                    <a:pt x="1538911" y="101744"/>
                  </a:cubicBezTo>
                  <a:cubicBezTo>
                    <a:pt x="1538911" y="108559"/>
                    <a:pt x="1535062" y="114790"/>
                    <a:pt x="1528968" y="117842"/>
                  </a:cubicBezTo>
                  <a:lnTo>
                    <a:pt x="1390068" y="187390"/>
                  </a:lnTo>
                  <a:cubicBezTo>
                    <a:pt x="1368926" y="197976"/>
                    <a:pt x="1345607" y="203488"/>
                    <a:pt x="1321963" y="203488"/>
                  </a:cubicBezTo>
                  <a:lnTo>
                    <a:pt x="9177" y="203488"/>
                  </a:lnTo>
                  <a:cubicBezTo>
                    <a:pt x="5236" y="203488"/>
                    <a:pt x="1813" y="200779"/>
                    <a:pt x="906" y="196944"/>
                  </a:cubicBezTo>
                  <a:cubicBezTo>
                    <a:pt x="0" y="193109"/>
                    <a:pt x="1848" y="189154"/>
                    <a:pt x="5372" y="187390"/>
                  </a:cubicBezTo>
                  <a:lnTo>
                    <a:pt x="144272" y="117842"/>
                  </a:lnTo>
                  <a:cubicBezTo>
                    <a:pt x="150366" y="114790"/>
                    <a:pt x="154215" y="108559"/>
                    <a:pt x="154215" y="101744"/>
                  </a:cubicBezTo>
                  <a:cubicBezTo>
                    <a:pt x="154215" y="94928"/>
                    <a:pt x="150366" y="88697"/>
                    <a:pt x="144272" y="85646"/>
                  </a:cubicBezTo>
                  <a:lnTo>
                    <a:pt x="5372" y="16098"/>
                  </a:lnTo>
                  <a:cubicBezTo>
                    <a:pt x="1848" y="14333"/>
                    <a:pt x="0" y="10379"/>
                    <a:pt x="906" y="6544"/>
                  </a:cubicBezTo>
                  <a:cubicBezTo>
                    <a:pt x="1813" y="2709"/>
                    <a:pt x="5236" y="0"/>
                    <a:pt x="9177" y="0"/>
                  </a:cubicBezTo>
                  <a:close/>
                </a:path>
              </a:pathLst>
            </a:custGeom>
            <a:solidFill>
              <a:srgbClr val="FF7009"/>
            </a:solidFill>
          </p:spPr>
        </p:sp>
        <p:sp>
          <p:nvSpPr>
            <p:cNvPr name="TextBox 24" id="24"/>
            <p:cNvSpPr txBox="true"/>
            <p:nvPr/>
          </p:nvSpPr>
          <p:spPr>
            <a:xfrm>
              <a:off x="177800" y="104775"/>
              <a:ext cx="1333896" cy="98713"/>
            </a:xfrm>
            <a:prstGeom prst="rect">
              <a:avLst/>
            </a:prstGeom>
          </p:spPr>
          <p:txBody>
            <a:bodyPr anchor="ctr" rtlCol="false" tIns="50800" lIns="50800" bIns="50800" rIns="50800"/>
            <a:lstStyle/>
            <a:p>
              <a:pPr algn="ctr">
                <a:lnSpc>
                  <a:spcPts val="1959"/>
                </a:lnSpc>
              </a:pPr>
              <a:r>
                <a:rPr lang="en-US" b="true" sz="2799">
                  <a:solidFill>
                    <a:srgbClr val="F9F5E3"/>
                  </a:solidFill>
                  <a:latin typeface="Poppins Bold"/>
                  <a:ea typeface="Poppins Bold"/>
                  <a:cs typeface="Poppins Bold"/>
                  <a:sym typeface="Poppins Bold"/>
                </a:rPr>
                <a:t>Differential Privacy</a:t>
              </a:r>
            </a:p>
          </p:txBody>
        </p:sp>
      </p:grpSp>
      <p:grpSp>
        <p:nvGrpSpPr>
          <p:cNvPr name="Group 25" id="25"/>
          <p:cNvGrpSpPr/>
          <p:nvPr/>
        </p:nvGrpSpPr>
        <p:grpSpPr>
          <a:xfrm rot="0">
            <a:off x="0" y="9555697"/>
            <a:ext cx="4099091" cy="731303"/>
            <a:chOff x="0" y="0"/>
            <a:chExt cx="5465455" cy="975071"/>
          </a:xfrm>
        </p:grpSpPr>
        <p:grpSp>
          <p:nvGrpSpPr>
            <p:cNvPr name="Group 26" id="26"/>
            <p:cNvGrpSpPr/>
            <p:nvPr/>
          </p:nvGrpSpPr>
          <p:grpSpPr>
            <a:xfrm rot="0">
              <a:off x="0" y="0"/>
              <a:ext cx="975071" cy="975071"/>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0" t="-446" r="0" b="0"/>
                </a:stretch>
              </a:blipFill>
            </p:spPr>
          </p:sp>
        </p:grpSp>
        <p:sp>
          <p:nvSpPr>
            <p:cNvPr name="TextBox 28" id="28"/>
            <p:cNvSpPr txBox="true"/>
            <p:nvPr/>
          </p:nvSpPr>
          <p:spPr>
            <a:xfrm rot="0">
              <a:off x="1141360" y="48747"/>
              <a:ext cx="2860498" cy="925689"/>
            </a:xfrm>
            <a:prstGeom prst="rect">
              <a:avLst/>
            </a:prstGeom>
          </p:spPr>
          <p:txBody>
            <a:bodyPr anchor="t" rtlCol="false" tIns="0" lIns="0" bIns="0" rIns="0">
              <a:spAutoFit/>
            </a:bodyPr>
            <a:lstStyle/>
            <a:p>
              <a:pPr algn="l">
                <a:lnSpc>
                  <a:spcPts val="5594"/>
                </a:lnSpc>
                <a:spcBef>
                  <a:spcPct val="0"/>
                </a:spcBef>
              </a:pPr>
              <a:r>
                <a:rPr lang="en-US" b="true" sz="3996">
                  <a:solidFill>
                    <a:srgbClr val="FFFFFF"/>
                  </a:solidFill>
                  <a:latin typeface="Poppins Bold"/>
                  <a:ea typeface="Poppins Bold"/>
                  <a:cs typeface="Poppins Bold"/>
                  <a:sym typeface="Poppins Bold"/>
                </a:rPr>
                <a:t>No</a:t>
              </a:r>
            </a:p>
          </p:txBody>
        </p:sp>
        <p:sp>
          <p:nvSpPr>
            <p:cNvPr name="TextBox 29" id="29"/>
            <p:cNvSpPr txBox="true"/>
            <p:nvPr/>
          </p:nvSpPr>
          <p:spPr>
            <a:xfrm rot="0">
              <a:off x="2184479" y="48747"/>
              <a:ext cx="3280976" cy="925689"/>
            </a:xfrm>
            <a:prstGeom prst="rect">
              <a:avLst/>
            </a:prstGeom>
          </p:spPr>
          <p:txBody>
            <a:bodyPr anchor="t" rtlCol="false" tIns="0" lIns="0" bIns="0" rIns="0">
              <a:spAutoFit/>
            </a:bodyPr>
            <a:lstStyle/>
            <a:p>
              <a:pPr algn="l">
                <a:lnSpc>
                  <a:spcPts val="5594"/>
                </a:lnSpc>
                <a:spcBef>
                  <a:spcPct val="0"/>
                </a:spcBef>
              </a:pPr>
              <a:r>
                <a:rPr lang="en-US" b="true" sz="3996">
                  <a:solidFill>
                    <a:srgbClr val="FFFFFF"/>
                  </a:solidFill>
                  <a:latin typeface="Poppins Semi-Bold"/>
                  <a:ea typeface="Poppins Semi-Bold"/>
                  <a:cs typeface="Poppins Semi-Bold"/>
                  <a:sym typeface="Poppins Semi-Bold"/>
                </a:rPr>
                <a:t>Parking</a:t>
              </a:r>
            </a:p>
          </p:txBody>
        </p:sp>
      </p:grpSp>
      <p:sp>
        <p:nvSpPr>
          <p:cNvPr name="TextBox 30" id="30"/>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10</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DCD7F1"/>
        </a:solidFill>
      </p:bgPr>
    </p:bg>
    <p:spTree>
      <p:nvGrpSpPr>
        <p:cNvPr id="1" name=""/>
        <p:cNvGrpSpPr/>
        <p:nvPr/>
      </p:nvGrpSpPr>
      <p:grpSpPr>
        <a:xfrm>
          <a:off x="0" y="0"/>
          <a:ext cx="0" cy="0"/>
          <a:chOff x="0" y="0"/>
          <a:chExt cx="0" cy="0"/>
        </a:xfrm>
      </p:grpSpPr>
      <p:sp>
        <p:nvSpPr>
          <p:cNvPr name="TextBox 2" id="2"/>
          <p:cNvSpPr txBox="true"/>
          <p:nvPr/>
        </p:nvSpPr>
        <p:spPr>
          <a:xfrm rot="0">
            <a:off x="288738" y="210339"/>
            <a:ext cx="9684076" cy="1276177"/>
          </a:xfrm>
          <a:prstGeom prst="rect">
            <a:avLst/>
          </a:prstGeom>
        </p:spPr>
        <p:txBody>
          <a:bodyPr anchor="t" rtlCol="false" tIns="0" lIns="0" bIns="0" rIns="0">
            <a:spAutoFit/>
          </a:bodyPr>
          <a:lstStyle/>
          <a:p>
            <a:pPr algn="l">
              <a:lnSpc>
                <a:spcPts val="9075"/>
              </a:lnSpc>
            </a:pPr>
            <a:r>
              <a:rPr lang="en-US" sz="8561" b="true">
                <a:solidFill>
                  <a:srgbClr val="000000"/>
                </a:solidFill>
                <a:latin typeface="Poppins Semi-Bold"/>
                <a:ea typeface="Poppins Semi-Bold"/>
                <a:cs typeface="Poppins Semi-Bold"/>
                <a:sym typeface="Poppins Semi-Bold"/>
              </a:rPr>
              <a:t>Use Cases</a:t>
            </a:r>
          </a:p>
        </p:txBody>
      </p:sp>
      <p:grpSp>
        <p:nvGrpSpPr>
          <p:cNvPr name="Group 3" id="3"/>
          <p:cNvGrpSpPr/>
          <p:nvPr/>
        </p:nvGrpSpPr>
        <p:grpSpPr>
          <a:xfrm rot="0">
            <a:off x="378484" y="1681531"/>
            <a:ext cx="17701671" cy="1451230"/>
            <a:chOff x="0" y="0"/>
            <a:chExt cx="4662168" cy="382217"/>
          </a:xfrm>
        </p:grpSpPr>
        <p:sp>
          <p:nvSpPr>
            <p:cNvPr name="Freeform 4" id="4"/>
            <p:cNvSpPr/>
            <p:nvPr/>
          </p:nvSpPr>
          <p:spPr>
            <a:xfrm flipH="false" flipV="false" rot="0">
              <a:off x="0" y="0"/>
              <a:ext cx="4662169" cy="382217"/>
            </a:xfrm>
            <a:custGeom>
              <a:avLst/>
              <a:gdLst/>
              <a:ahLst/>
              <a:cxnLst/>
              <a:rect r="r" b="b" t="t" l="l"/>
              <a:pathLst>
                <a:path h="382217" w="4662169">
                  <a:moveTo>
                    <a:pt x="13558" y="0"/>
                  </a:moveTo>
                  <a:lnTo>
                    <a:pt x="4648610" y="0"/>
                  </a:lnTo>
                  <a:cubicBezTo>
                    <a:pt x="4656098" y="0"/>
                    <a:pt x="4662169" y="6070"/>
                    <a:pt x="4662169" y="13558"/>
                  </a:cubicBezTo>
                  <a:lnTo>
                    <a:pt x="4662169" y="368659"/>
                  </a:lnTo>
                  <a:cubicBezTo>
                    <a:pt x="4662169" y="376147"/>
                    <a:pt x="4656098" y="382217"/>
                    <a:pt x="4648610" y="382217"/>
                  </a:cubicBezTo>
                  <a:lnTo>
                    <a:pt x="13558" y="382217"/>
                  </a:lnTo>
                  <a:cubicBezTo>
                    <a:pt x="6070" y="382217"/>
                    <a:pt x="0" y="376147"/>
                    <a:pt x="0" y="368659"/>
                  </a:cubicBezTo>
                  <a:lnTo>
                    <a:pt x="0" y="13558"/>
                  </a:lnTo>
                  <a:cubicBezTo>
                    <a:pt x="0" y="6070"/>
                    <a:pt x="6070" y="0"/>
                    <a:pt x="13558" y="0"/>
                  </a:cubicBezTo>
                  <a:close/>
                </a:path>
              </a:pathLst>
            </a:custGeom>
            <a:solidFill>
              <a:srgbClr val="443880"/>
            </a:solidFill>
          </p:spPr>
        </p:sp>
        <p:sp>
          <p:nvSpPr>
            <p:cNvPr name="TextBox 5" id="5"/>
            <p:cNvSpPr txBox="true"/>
            <p:nvPr/>
          </p:nvSpPr>
          <p:spPr>
            <a:xfrm>
              <a:off x="0" y="-38100"/>
              <a:ext cx="4662168" cy="420317"/>
            </a:xfrm>
            <a:prstGeom prst="rect">
              <a:avLst/>
            </a:prstGeom>
          </p:spPr>
          <p:txBody>
            <a:bodyPr anchor="ctr" rtlCol="false" tIns="50800" lIns="50800" bIns="50800" rIns="50800"/>
            <a:lstStyle/>
            <a:p>
              <a:pPr algn="l" marL="518157" indent="-259078" lvl="1">
                <a:lnSpc>
                  <a:spcPts val="3359"/>
                </a:lnSpc>
                <a:buFont typeface="Arial"/>
                <a:buChar char="•"/>
              </a:pPr>
              <a:r>
                <a:rPr lang="en-US" b="true" sz="2399">
                  <a:solidFill>
                    <a:srgbClr val="FFFFFF"/>
                  </a:solidFill>
                  <a:latin typeface="Canva Sans Bold"/>
                  <a:ea typeface="Canva Sans Bold"/>
                  <a:cs typeface="Canva Sans Bold"/>
                  <a:sym typeface="Canva Sans Bold"/>
                </a:rPr>
                <a:t>Find the “Right” Product:</a:t>
              </a:r>
              <a:r>
                <a:rPr lang="en-US" sz="2399">
                  <a:solidFill>
                    <a:srgbClr val="FFFFFF"/>
                  </a:solidFill>
                  <a:latin typeface="Canva Sans"/>
                  <a:ea typeface="Canva Sans"/>
                  <a:cs typeface="Canva Sans"/>
                  <a:sym typeface="Canva Sans"/>
                </a:rPr>
                <a:t> Leverage AI to help customers identify products that best match their needs by analyzing preferences, browsing history, and popular trends, thereby enhancing shopping satisfaction.</a:t>
              </a:r>
            </a:p>
          </p:txBody>
        </p:sp>
      </p:grpSp>
      <p:grpSp>
        <p:nvGrpSpPr>
          <p:cNvPr name="Group 6" id="6"/>
          <p:cNvGrpSpPr/>
          <p:nvPr/>
        </p:nvGrpSpPr>
        <p:grpSpPr>
          <a:xfrm rot="0">
            <a:off x="378484" y="3323261"/>
            <a:ext cx="17701671" cy="1451230"/>
            <a:chOff x="0" y="0"/>
            <a:chExt cx="4662168" cy="382217"/>
          </a:xfrm>
        </p:grpSpPr>
        <p:sp>
          <p:nvSpPr>
            <p:cNvPr name="Freeform 7" id="7"/>
            <p:cNvSpPr/>
            <p:nvPr/>
          </p:nvSpPr>
          <p:spPr>
            <a:xfrm flipH="false" flipV="false" rot="0">
              <a:off x="0" y="0"/>
              <a:ext cx="4662169" cy="382217"/>
            </a:xfrm>
            <a:custGeom>
              <a:avLst/>
              <a:gdLst/>
              <a:ahLst/>
              <a:cxnLst/>
              <a:rect r="r" b="b" t="t" l="l"/>
              <a:pathLst>
                <a:path h="382217" w="4662169">
                  <a:moveTo>
                    <a:pt x="13558" y="0"/>
                  </a:moveTo>
                  <a:lnTo>
                    <a:pt x="4648610" y="0"/>
                  </a:lnTo>
                  <a:cubicBezTo>
                    <a:pt x="4656098" y="0"/>
                    <a:pt x="4662169" y="6070"/>
                    <a:pt x="4662169" y="13558"/>
                  </a:cubicBezTo>
                  <a:lnTo>
                    <a:pt x="4662169" y="368659"/>
                  </a:lnTo>
                  <a:cubicBezTo>
                    <a:pt x="4662169" y="376147"/>
                    <a:pt x="4656098" y="382217"/>
                    <a:pt x="4648610" y="382217"/>
                  </a:cubicBezTo>
                  <a:lnTo>
                    <a:pt x="13558" y="382217"/>
                  </a:lnTo>
                  <a:cubicBezTo>
                    <a:pt x="6070" y="382217"/>
                    <a:pt x="0" y="376147"/>
                    <a:pt x="0" y="368659"/>
                  </a:cubicBezTo>
                  <a:lnTo>
                    <a:pt x="0" y="13558"/>
                  </a:lnTo>
                  <a:cubicBezTo>
                    <a:pt x="0" y="6070"/>
                    <a:pt x="6070" y="0"/>
                    <a:pt x="13558" y="0"/>
                  </a:cubicBezTo>
                  <a:close/>
                </a:path>
              </a:pathLst>
            </a:custGeom>
            <a:solidFill>
              <a:srgbClr val="443880"/>
            </a:solidFill>
          </p:spPr>
        </p:sp>
        <p:sp>
          <p:nvSpPr>
            <p:cNvPr name="TextBox 8" id="8"/>
            <p:cNvSpPr txBox="true"/>
            <p:nvPr/>
          </p:nvSpPr>
          <p:spPr>
            <a:xfrm>
              <a:off x="0" y="-38100"/>
              <a:ext cx="4662168" cy="420317"/>
            </a:xfrm>
            <a:prstGeom prst="rect">
              <a:avLst/>
            </a:prstGeom>
          </p:spPr>
          <p:txBody>
            <a:bodyPr anchor="ctr" rtlCol="false" tIns="50800" lIns="50800" bIns="50800" rIns="50800"/>
            <a:lstStyle/>
            <a:p>
              <a:pPr algn="l" marL="518157" indent="-259078" lvl="1">
                <a:lnSpc>
                  <a:spcPts val="3359"/>
                </a:lnSpc>
                <a:buFont typeface="Arial"/>
                <a:buChar char="•"/>
              </a:pPr>
              <a:r>
                <a:rPr lang="en-US" b="true" sz="2399">
                  <a:solidFill>
                    <a:srgbClr val="FFFFFF"/>
                  </a:solidFill>
                  <a:latin typeface="Canva Sans Bold"/>
                  <a:ea typeface="Canva Sans Bold"/>
                  <a:cs typeface="Canva Sans Bold"/>
                  <a:sym typeface="Canva Sans Bold"/>
                </a:rPr>
                <a:t>Agentic RAG for Enhanced Responses: </a:t>
              </a:r>
              <a:r>
                <a:rPr lang="en-US" sz="2399">
                  <a:solidFill>
                    <a:srgbClr val="FFFFFF"/>
                  </a:solidFill>
                  <a:latin typeface="Canva Sans"/>
                  <a:ea typeface="Canva Sans"/>
                  <a:cs typeface="Canva Sans"/>
                  <a:sym typeface="Canva Sans"/>
                </a:rPr>
                <a:t>Use Agentic Retrieval-Augmented Generation (RAG) to reduce data hallucinations in chat responses, ensuring customers receive accurate and relevant information. This approach also supports AI governance by improving model reliability and trustworthiness.</a:t>
              </a:r>
            </a:p>
          </p:txBody>
        </p:sp>
      </p:grpSp>
      <p:grpSp>
        <p:nvGrpSpPr>
          <p:cNvPr name="Group 9" id="9"/>
          <p:cNvGrpSpPr/>
          <p:nvPr/>
        </p:nvGrpSpPr>
        <p:grpSpPr>
          <a:xfrm rot="0">
            <a:off x="388009" y="5048250"/>
            <a:ext cx="17701671" cy="1451230"/>
            <a:chOff x="0" y="0"/>
            <a:chExt cx="4662168" cy="382217"/>
          </a:xfrm>
        </p:grpSpPr>
        <p:sp>
          <p:nvSpPr>
            <p:cNvPr name="Freeform 10" id="10"/>
            <p:cNvSpPr/>
            <p:nvPr/>
          </p:nvSpPr>
          <p:spPr>
            <a:xfrm flipH="false" flipV="false" rot="0">
              <a:off x="0" y="0"/>
              <a:ext cx="4662169" cy="382217"/>
            </a:xfrm>
            <a:custGeom>
              <a:avLst/>
              <a:gdLst/>
              <a:ahLst/>
              <a:cxnLst/>
              <a:rect r="r" b="b" t="t" l="l"/>
              <a:pathLst>
                <a:path h="382217" w="4662169">
                  <a:moveTo>
                    <a:pt x="13558" y="0"/>
                  </a:moveTo>
                  <a:lnTo>
                    <a:pt x="4648610" y="0"/>
                  </a:lnTo>
                  <a:cubicBezTo>
                    <a:pt x="4656098" y="0"/>
                    <a:pt x="4662169" y="6070"/>
                    <a:pt x="4662169" y="13558"/>
                  </a:cubicBezTo>
                  <a:lnTo>
                    <a:pt x="4662169" y="368659"/>
                  </a:lnTo>
                  <a:cubicBezTo>
                    <a:pt x="4662169" y="376147"/>
                    <a:pt x="4656098" y="382217"/>
                    <a:pt x="4648610" y="382217"/>
                  </a:cubicBezTo>
                  <a:lnTo>
                    <a:pt x="13558" y="382217"/>
                  </a:lnTo>
                  <a:cubicBezTo>
                    <a:pt x="6070" y="382217"/>
                    <a:pt x="0" y="376147"/>
                    <a:pt x="0" y="368659"/>
                  </a:cubicBezTo>
                  <a:lnTo>
                    <a:pt x="0" y="13558"/>
                  </a:lnTo>
                  <a:cubicBezTo>
                    <a:pt x="0" y="6070"/>
                    <a:pt x="6070" y="0"/>
                    <a:pt x="13558" y="0"/>
                  </a:cubicBezTo>
                  <a:close/>
                </a:path>
              </a:pathLst>
            </a:custGeom>
            <a:solidFill>
              <a:srgbClr val="443880"/>
            </a:solidFill>
          </p:spPr>
        </p:sp>
        <p:sp>
          <p:nvSpPr>
            <p:cNvPr name="TextBox 11" id="11"/>
            <p:cNvSpPr txBox="true"/>
            <p:nvPr/>
          </p:nvSpPr>
          <p:spPr>
            <a:xfrm>
              <a:off x="0" y="-38100"/>
              <a:ext cx="4662168" cy="420317"/>
            </a:xfrm>
            <a:prstGeom prst="rect">
              <a:avLst/>
            </a:prstGeom>
          </p:spPr>
          <p:txBody>
            <a:bodyPr anchor="ctr" rtlCol="false" tIns="50800" lIns="50800" bIns="50800" rIns="50800"/>
            <a:lstStyle/>
            <a:p>
              <a:pPr algn="l" marL="518157" indent="-259078" lvl="1">
                <a:lnSpc>
                  <a:spcPts val="3359"/>
                </a:lnSpc>
                <a:buFont typeface="Arial"/>
                <a:buChar char="•"/>
              </a:pPr>
              <a:r>
                <a:rPr lang="en-US" b="true" sz="2399">
                  <a:solidFill>
                    <a:srgbClr val="FFFFFF"/>
                  </a:solidFill>
                  <a:latin typeface="Canva Sans Bold"/>
                  <a:ea typeface="Canva Sans Bold"/>
                  <a:cs typeface="Canva Sans Bold"/>
                  <a:sym typeface="Canva Sans Bold"/>
                </a:rPr>
                <a:t>Chatbot Features and Interaction: </a:t>
              </a:r>
              <a:r>
                <a:rPr lang="en-US" sz="2399">
                  <a:solidFill>
                    <a:srgbClr val="FFFFFF"/>
                  </a:solidFill>
                  <a:latin typeface="Canva Sans"/>
                  <a:ea typeface="Canva Sans"/>
                  <a:cs typeface="Canva Sans"/>
                  <a:sym typeface="Canva Sans"/>
                </a:rPr>
                <a:t>Deploy AI-driven chatbots to handle a range of customer queries, from basic product inquiries to more complex issues, offering real-time, automated assistance that enhances user experience and reduces support workload.</a:t>
              </a:r>
            </a:p>
          </p:txBody>
        </p:sp>
      </p:grpSp>
      <p:grpSp>
        <p:nvGrpSpPr>
          <p:cNvPr name="Group 12" id="12"/>
          <p:cNvGrpSpPr/>
          <p:nvPr/>
        </p:nvGrpSpPr>
        <p:grpSpPr>
          <a:xfrm rot="0">
            <a:off x="378484" y="6775705"/>
            <a:ext cx="17701671" cy="1451230"/>
            <a:chOff x="0" y="0"/>
            <a:chExt cx="4662168" cy="382217"/>
          </a:xfrm>
        </p:grpSpPr>
        <p:sp>
          <p:nvSpPr>
            <p:cNvPr name="Freeform 13" id="13"/>
            <p:cNvSpPr/>
            <p:nvPr/>
          </p:nvSpPr>
          <p:spPr>
            <a:xfrm flipH="false" flipV="false" rot="0">
              <a:off x="0" y="0"/>
              <a:ext cx="4662169" cy="382217"/>
            </a:xfrm>
            <a:custGeom>
              <a:avLst/>
              <a:gdLst/>
              <a:ahLst/>
              <a:cxnLst/>
              <a:rect r="r" b="b" t="t" l="l"/>
              <a:pathLst>
                <a:path h="382217" w="4662169">
                  <a:moveTo>
                    <a:pt x="13558" y="0"/>
                  </a:moveTo>
                  <a:lnTo>
                    <a:pt x="4648610" y="0"/>
                  </a:lnTo>
                  <a:cubicBezTo>
                    <a:pt x="4656098" y="0"/>
                    <a:pt x="4662169" y="6070"/>
                    <a:pt x="4662169" y="13558"/>
                  </a:cubicBezTo>
                  <a:lnTo>
                    <a:pt x="4662169" y="368659"/>
                  </a:lnTo>
                  <a:cubicBezTo>
                    <a:pt x="4662169" y="376147"/>
                    <a:pt x="4656098" y="382217"/>
                    <a:pt x="4648610" y="382217"/>
                  </a:cubicBezTo>
                  <a:lnTo>
                    <a:pt x="13558" y="382217"/>
                  </a:lnTo>
                  <a:cubicBezTo>
                    <a:pt x="6070" y="382217"/>
                    <a:pt x="0" y="376147"/>
                    <a:pt x="0" y="368659"/>
                  </a:cubicBezTo>
                  <a:lnTo>
                    <a:pt x="0" y="13558"/>
                  </a:lnTo>
                  <a:cubicBezTo>
                    <a:pt x="0" y="6070"/>
                    <a:pt x="6070" y="0"/>
                    <a:pt x="13558" y="0"/>
                  </a:cubicBezTo>
                  <a:close/>
                </a:path>
              </a:pathLst>
            </a:custGeom>
            <a:solidFill>
              <a:srgbClr val="443880"/>
            </a:solidFill>
          </p:spPr>
        </p:sp>
        <p:sp>
          <p:nvSpPr>
            <p:cNvPr name="TextBox 14" id="14"/>
            <p:cNvSpPr txBox="true"/>
            <p:nvPr/>
          </p:nvSpPr>
          <p:spPr>
            <a:xfrm>
              <a:off x="0" y="-38100"/>
              <a:ext cx="4662168" cy="420317"/>
            </a:xfrm>
            <a:prstGeom prst="rect">
              <a:avLst/>
            </a:prstGeom>
          </p:spPr>
          <p:txBody>
            <a:bodyPr anchor="ctr" rtlCol="false" tIns="50800" lIns="50800" bIns="50800" rIns="50800"/>
            <a:lstStyle/>
            <a:p>
              <a:pPr algn="l" marL="518157" indent="-259078" lvl="1">
                <a:lnSpc>
                  <a:spcPts val="3359"/>
                </a:lnSpc>
                <a:buFont typeface="Arial"/>
                <a:buChar char="•"/>
              </a:pPr>
              <a:r>
                <a:rPr lang="en-US" b="true" sz="2399">
                  <a:solidFill>
                    <a:srgbClr val="FFFFFF"/>
                  </a:solidFill>
                  <a:latin typeface="Canva Sans Bold"/>
                  <a:ea typeface="Canva Sans Bold"/>
                  <a:cs typeface="Canva Sans Bold"/>
                  <a:sym typeface="Canva Sans Bold"/>
                </a:rPr>
                <a:t>Product Installation Assistance: </a:t>
              </a:r>
              <a:r>
                <a:rPr lang="en-US" sz="2399">
                  <a:solidFill>
                    <a:srgbClr val="FFFFFF"/>
                  </a:solidFill>
                  <a:latin typeface="Canva Sans"/>
                  <a:ea typeface="Canva Sans"/>
                  <a:cs typeface="Canva Sans"/>
                  <a:sym typeface="Canva Sans"/>
                </a:rPr>
                <a:t>Provide customers with interactive, step-by-step guidance on product installation through AI-driven chatbots or augmented reality, reducing the need for support calls and improving post-purchase satisfaction.</a:t>
              </a:r>
            </a:p>
          </p:txBody>
        </p:sp>
      </p:grpSp>
      <p:grpSp>
        <p:nvGrpSpPr>
          <p:cNvPr name="Group 15" id="15"/>
          <p:cNvGrpSpPr/>
          <p:nvPr/>
        </p:nvGrpSpPr>
        <p:grpSpPr>
          <a:xfrm rot="0">
            <a:off x="369365" y="8550784"/>
            <a:ext cx="17701671" cy="1451230"/>
            <a:chOff x="0" y="0"/>
            <a:chExt cx="4662168" cy="382217"/>
          </a:xfrm>
        </p:grpSpPr>
        <p:sp>
          <p:nvSpPr>
            <p:cNvPr name="Freeform 16" id="16"/>
            <p:cNvSpPr/>
            <p:nvPr/>
          </p:nvSpPr>
          <p:spPr>
            <a:xfrm flipH="false" flipV="false" rot="0">
              <a:off x="0" y="0"/>
              <a:ext cx="4662169" cy="382217"/>
            </a:xfrm>
            <a:custGeom>
              <a:avLst/>
              <a:gdLst/>
              <a:ahLst/>
              <a:cxnLst/>
              <a:rect r="r" b="b" t="t" l="l"/>
              <a:pathLst>
                <a:path h="382217" w="4662169">
                  <a:moveTo>
                    <a:pt x="13558" y="0"/>
                  </a:moveTo>
                  <a:lnTo>
                    <a:pt x="4648610" y="0"/>
                  </a:lnTo>
                  <a:cubicBezTo>
                    <a:pt x="4656098" y="0"/>
                    <a:pt x="4662169" y="6070"/>
                    <a:pt x="4662169" y="13558"/>
                  </a:cubicBezTo>
                  <a:lnTo>
                    <a:pt x="4662169" y="368659"/>
                  </a:lnTo>
                  <a:cubicBezTo>
                    <a:pt x="4662169" y="376147"/>
                    <a:pt x="4656098" y="382217"/>
                    <a:pt x="4648610" y="382217"/>
                  </a:cubicBezTo>
                  <a:lnTo>
                    <a:pt x="13558" y="382217"/>
                  </a:lnTo>
                  <a:cubicBezTo>
                    <a:pt x="6070" y="382217"/>
                    <a:pt x="0" y="376147"/>
                    <a:pt x="0" y="368659"/>
                  </a:cubicBezTo>
                  <a:lnTo>
                    <a:pt x="0" y="13558"/>
                  </a:lnTo>
                  <a:cubicBezTo>
                    <a:pt x="0" y="6070"/>
                    <a:pt x="6070" y="0"/>
                    <a:pt x="13558" y="0"/>
                  </a:cubicBezTo>
                  <a:close/>
                </a:path>
              </a:pathLst>
            </a:custGeom>
            <a:solidFill>
              <a:srgbClr val="443880"/>
            </a:solidFill>
          </p:spPr>
        </p:sp>
        <p:sp>
          <p:nvSpPr>
            <p:cNvPr name="TextBox 17" id="17"/>
            <p:cNvSpPr txBox="true"/>
            <p:nvPr/>
          </p:nvSpPr>
          <p:spPr>
            <a:xfrm>
              <a:off x="0" y="-38100"/>
              <a:ext cx="4662168" cy="420317"/>
            </a:xfrm>
            <a:prstGeom prst="rect">
              <a:avLst/>
            </a:prstGeom>
          </p:spPr>
          <p:txBody>
            <a:bodyPr anchor="ctr" rtlCol="false" tIns="50800" lIns="50800" bIns="50800" rIns="50800"/>
            <a:lstStyle/>
            <a:p>
              <a:pPr algn="l" marL="518157" indent="-259078" lvl="1">
                <a:lnSpc>
                  <a:spcPts val="3359"/>
                </a:lnSpc>
                <a:buFont typeface="Arial"/>
                <a:buChar char="•"/>
              </a:pPr>
              <a:r>
                <a:rPr lang="en-US" b="true" sz="2399">
                  <a:solidFill>
                    <a:srgbClr val="FFFFFF"/>
                  </a:solidFill>
                  <a:latin typeface="Canva Sans Bold"/>
                  <a:ea typeface="Canva Sans Bold"/>
                  <a:cs typeface="Canva Sans Bold"/>
                  <a:sym typeface="Canva Sans Bold"/>
                </a:rPr>
                <a:t>Track Current Orders &amp; Automated Delay Notification: </a:t>
              </a:r>
              <a:r>
                <a:rPr lang="en-US" sz="2399">
                  <a:solidFill>
                    <a:srgbClr val="FFFFFF"/>
                  </a:solidFill>
                  <a:latin typeface="Canva Sans"/>
                  <a:ea typeface="Canva Sans"/>
                  <a:cs typeface="Canva Sans"/>
                  <a:sym typeface="Canva Sans"/>
                </a:rPr>
                <a:t>Enable customers to track their orders in real-time, with automated notifications for any delays, improving transparency and customer satisfaction by keeping them informed of their order status.</a:t>
              </a:r>
            </a:p>
          </p:txBody>
        </p:sp>
      </p:grpSp>
      <p:sp>
        <p:nvSpPr>
          <p:cNvPr name="TextBox 18" id="1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11</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DCD7F1"/>
        </a:solidFill>
      </p:bgPr>
    </p:bg>
    <p:spTree>
      <p:nvGrpSpPr>
        <p:cNvPr id="1" name=""/>
        <p:cNvGrpSpPr/>
        <p:nvPr/>
      </p:nvGrpSpPr>
      <p:grpSpPr>
        <a:xfrm>
          <a:off x="0" y="0"/>
          <a:ext cx="0" cy="0"/>
          <a:chOff x="0" y="0"/>
          <a:chExt cx="0" cy="0"/>
        </a:xfrm>
      </p:grpSpPr>
      <p:grpSp>
        <p:nvGrpSpPr>
          <p:cNvPr name="Group 2" id="2"/>
          <p:cNvGrpSpPr/>
          <p:nvPr/>
        </p:nvGrpSpPr>
        <p:grpSpPr>
          <a:xfrm rot="0">
            <a:off x="13539262" y="310856"/>
            <a:ext cx="4412722" cy="921831"/>
            <a:chOff x="0" y="0"/>
            <a:chExt cx="1945401" cy="406400"/>
          </a:xfrm>
        </p:grpSpPr>
        <p:sp>
          <p:nvSpPr>
            <p:cNvPr name="Freeform 3" id="3"/>
            <p:cNvSpPr/>
            <p:nvPr/>
          </p:nvSpPr>
          <p:spPr>
            <a:xfrm flipH="false" flipV="false" rot="0">
              <a:off x="0" y="0"/>
              <a:ext cx="1945401" cy="406400"/>
            </a:xfrm>
            <a:custGeom>
              <a:avLst/>
              <a:gdLst/>
              <a:ahLst/>
              <a:cxnLst/>
              <a:rect r="r" b="b" t="t" l="l"/>
              <a:pathLst>
                <a:path h="406400" w="1945401">
                  <a:moveTo>
                    <a:pt x="1742201" y="0"/>
                  </a:moveTo>
                  <a:cubicBezTo>
                    <a:pt x="1854425" y="0"/>
                    <a:pt x="1945401" y="90976"/>
                    <a:pt x="1945401" y="203200"/>
                  </a:cubicBezTo>
                  <a:cubicBezTo>
                    <a:pt x="1945401" y="315424"/>
                    <a:pt x="1854425" y="406400"/>
                    <a:pt x="1742201" y="406400"/>
                  </a:cubicBezTo>
                  <a:lnTo>
                    <a:pt x="203200" y="406400"/>
                  </a:lnTo>
                  <a:cubicBezTo>
                    <a:pt x="90976" y="406400"/>
                    <a:pt x="0" y="315424"/>
                    <a:pt x="0" y="203200"/>
                  </a:cubicBezTo>
                  <a:cubicBezTo>
                    <a:pt x="0" y="90976"/>
                    <a:pt x="90976" y="0"/>
                    <a:pt x="203200" y="0"/>
                  </a:cubicBezTo>
                  <a:close/>
                </a:path>
              </a:pathLst>
            </a:custGeom>
            <a:solidFill>
              <a:srgbClr val="FDF9DE"/>
            </a:solidFill>
          </p:spPr>
        </p:sp>
        <p:sp>
          <p:nvSpPr>
            <p:cNvPr name="TextBox 4" id="4"/>
            <p:cNvSpPr txBox="true"/>
            <p:nvPr/>
          </p:nvSpPr>
          <p:spPr>
            <a:xfrm>
              <a:off x="0" y="95250"/>
              <a:ext cx="1945401" cy="311150"/>
            </a:xfrm>
            <a:prstGeom prst="rect">
              <a:avLst/>
            </a:prstGeom>
          </p:spPr>
          <p:txBody>
            <a:bodyPr anchor="ctr" rtlCol="false" tIns="50800" lIns="50800" bIns="50800" rIns="50800"/>
            <a:lstStyle/>
            <a:p>
              <a:pPr algn="ctr">
                <a:lnSpc>
                  <a:spcPts val="1625"/>
                </a:lnSpc>
              </a:pPr>
            </a:p>
          </p:txBody>
        </p:sp>
      </p:grpSp>
      <p:sp>
        <p:nvSpPr>
          <p:cNvPr name="Freeform 5" id="5"/>
          <p:cNvSpPr/>
          <p:nvPr/>
        </p:nvSpPr>
        <p:spPr>
          <a:xfrm flipH="false" flipV="false" rot="0">
            <a:off x="1321223" y="1181100"/>
            <a:ext cx="15143385" cy="5857702"/>
          </a:xfrm>
          <a:custGeom>
            <a:avLst/>
            <a:gdLst/>
            <a:ahLst/>
            <a:cxnLst/>
            <a:rect r="r" b="b" t="t" l="l"/>
            <a:pathLst>
              <a:path h="5857702" w="15143385">
                <a:moveTo>
                  <a:pt x="0" y="0"/>
                </a:moveTo>
                <a:lnTo>
                  <a:pt x="15143384" y="0"/>
                </a:lnTo>
                <a:lnTo>
                  <a:pt x="15143384" y="5857702"/>
                </a:lnTo>
                <a:lnTo>
                  <a:pt x="0" y="5857702"/>
                </a:lnTo>
                <a:lnTo>
                  <a:pt x="0" y="0"/>
                </a:lnTo>
                <a:close/>
              </a:path>
            </a:pathLst>
          </a:custGeom>
          <a:blipFill>
            <a:blip r:embed="rId2"/>
            <a:stretch>
              <a:fillRect l="0" t="0" r="0" b="0"/>
            </a:stretch>
          </a:blipFill>
        </p:spPr>
      </p:sp>
      <p:sp>
        <p:nvSpPr>
          <p:cNvPr name="Freeform 6" id="6"/>
          <p:cNvSpPr/>
          <p:nvPr/>
        </p:nvSpPr>
        <p:spPr>
          <a:xfrm flipH="false" flipV="false" rot="0">
            <a:off x="475896" y="6943552"/>
            <a:ext cx="17476087" cy="2730639"/>
          </a:xfrm>
          <a:custGeom>
            <a:avLst/>
            <a:gdLst/>
            <a:ahLst/>
            <a:cxnLst/>
            <a:rect r="r" b="b" t="t" l="l"/>
            <a:pathLst>
              <a:path h="2730639" w="17476087">
                <a:moveTo>
                  <a:pt x="0" y="0"/>
                </a:moveTo>
                <a:lnTo>
                  <a:pt x="17476088" y="0"/>
                </a:lnTo>
                <a:lnTo>
                  <a:pt x="17476088" y="2730639"/>
                </a:lnTo>
                <a:lnTo>
                  <a:pt x="0" y="2730639"/>
                </a:lnTo>
                <a:lnTo>
                  <a:pt x="0" y="0"/>
                </a:lnTo>
                <a:close/>
              </a:path>
            </a:pathLst>
          </a:custGeom>
          <a:blipFill>
            <a:blip r:embed="rId3"/>
            <a:stretch>
              <a:fillRect l="0" t="0" r="0" b="0"/>
            </a:stretch>
          </a:blipFill>
        </p:spPr>
      </p:sp>
      <p:grpSp>
        <p:nvGrpSpPr>
          <p:cNvPr name="Group 7" id="7"/>
          <p:cNvGrpSpPr/>
          <p:nvPr/>
        </p:nvGrpSpPr>
        <p:grpSpPr>
          <a:xfrm rot="0">
            <a:off x="0" y="9555697"/>
            <a:ext cx="4099091" cy="731303"/>
            <a:chOff x="0" y="0"/>
            <a:chExt cx="5465455" cy="975071"/>
          </a:xfrm>
        </p:grpSpPr>
        <p:grpSp>
          <p:nvGrpSpPr>
            <p:cNvPr name="Group 8" id="8"/>
            <p:cNvGrpSpPr/>
            <p:nvPr/>
          </p:nvGrpSpPr>
          <p:grpSpPr>
            <a:xfrm rot="0">
              <a:off x="0" y="0"/>
              <a:ext cx="975071" cy="97507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0" t="-446" r="0" b="0"/>
                </a:stretch>
              </a:blipFill>
            </p:spPr>
          </p:sp>
        </p:grpSp>
        <p:sp>
          <p:nvSpPr>
            <p:cNvPr name="TextBox 10" id="10"/>
            <p:cNvSpPr txBox="true"/>
            <p:nvPr/>
          </p:nvSpPr>
          <p:spPr>
            <a:xfrm rot="0">
              <a:off x="1141360" y="48747"/>
              <a:ext cx="2860498" cy="925689"/>
            </a:xfrm>
            <a:prstGeom prst="rect">
              <a:avLst/>
            </a:prstGeom>
          </p:spPr>
          <p:txBody>
            <a:bodyPr anchor="t" rtlCol="false" tIns="0" lIns="0" bIns="0" rIns="0">
              <a:spAutoFit/>
            </a:bodyPr>
            <a:lstStyle/>
            <a:p>
              <a:pPr algn="l">
                <a:lnSpc>
                  <a:spcPts val="5594"/>
                </a:lnSpc>
                <a:spcBef>
                  <a:spcPct val="0"/>
                </a:spcBef>
              </a:pPr>
              <a:r>
                <a:rPr lang="en-US" b="true" sz="3996">
                  <a:solidFill>
                    <a:srgbClr val="FFFFFF"/>
                  </a:solidFill>
                  <a:latin typeface="Poppins Bold"/>
                  <a:ea typeface="Poppins Bold"/>
                  <a:cs typeface="Poppins Bold"/>
                  <a:sym typeface="Poppins Bold"/>
                </a:rPr>
                <a:t>No</a:t>
              </a:r>
            </a:p>
          </p:txBody>
        </p:sp>
        <p:sp>
          <p:nvSpPr>
            <p:cNvPr name="TextBox 11" id="11"/>
            <p:cNvSpPr txBox="true"/>
            <p:nvPr/>
          </p:nvSpPr>
          <p:spPr>
            <a:xfrm rot="0">
              <a:off x="2184479" y="48747"/>
              <a:ext cx="3280976" cy="925689"/>
            </a:xfrm>
            <a:prstGeom prst="rect">
              <a:avLst/>
            </a:prstGeom>
          </p:spPr>
          <p:txBody>
            <a:bodyPr anchor="t" rtlCol="false" tIns="0" lIns="0" bIns="0" rIns="0">
              <a:spAutoFit/>
            </a:bodyPr>
            <a:lstStyle/>
            <a:p>
              <a:pPr algn="l">
                <a:lnSpc>
                  <a:spcPts val="5594"/>
                </a:lnSpc>
                <a:spcBef>
                  <a:spcPct val="0"/>
                </a:spcBef>
              </a:pPr>
              <a:r>
                <a:rPr lang="en-US" b="true" sz="3996">
                  <a:solidFill>
                    <a:srgbClr val="FFFFFF"/>
                  </a:solidFill>
                  <a:latin typeface="Poppins Semi-Bold"/>
                  <a:ea typeface="Poppins Semi-Bold"/>
                  <a:cs typeface="Poppins Semi-Bold"/>
                  <a:sym typeface="Poppins Semi-Bold"/>
                </a:rPr>
                <a:t>Parking</a:t>
              </a:r>
            </a:p>
          </p:txBody>
        </p:sp>
      </p:grpSp>
      <p:sp>
        <p:nvSpPr>
          <p:cNvPr name="AutoShape 12" id="12"/>
          <p:cNvSpPr/>
          <p:nvPr/>
        </p:nvSpPr>
        <p:spPr>
          <a:xfrm flipV="true">
            <a:off x="14173285" y="770745"/>
            <a:ext cx="3360603" cy="0"/>
          </a:xfrm>
          <a:prstGeom prst="line">
            <a:avLst/>
          </a:prstGeom>
          <a:ln cap="flat" w="38100">
            <a:solidFill>
              <a:srgbClr val="000000"/>
            </a:solidFill>
            <a:prstDash val="solid"/>
            <a:headEnd type="none" len="sm" w="sm"/>
            <a:tailEnd type="none" len="sm" w="sm"/>
          </a:ln>
        </p:spPr>
      </p:sp>
      <p:sp>
        <p:nvSpPr>
          <p:cNvPr name="AutoShape 13" id="13"/>
          <p:cNvSpPr/>
          <p:nvPr/>
        </p:nvSpPr>
        <p:spPr>
          <a:xfrm>
            <a:off x="14173285" y="469133"/>
            <a:ext cx="0" cy="603224"/>
          </a:xfrm>
          <a:prstGeom prst="line">
            <a:avLst/>
          </a:prstGeom>
          <a:ln cap="flat" w="38100">
            <a:solidFill>
              <a:srgbClr val="000000"/>
            </a:solidFill>
            <a:prstDash val="solid"/>
            <a:headEnd type="none" len="sm" w="sm"/>
            <a:tailEnd type="none" len="sm" w="sm"/>
          </a:ln>
        </p:spPr>
      </p:sp>
      <p:sp>
        <p:nvSpPr>
          <p:cNvPr name="AutoShape 14" id="14"/>
          <p:cNvSpPr/>
          <p:nvPr/>
        </p:nvSpPr>
        <p:spPr>
          <a:xfrm>
            <a:off x="17533888" y="469133"/>
            <a:ext cx="0" cy="603224"/>
          </a:xfrm>
          <a:prstGeom prst="line">
            <a:avLst/>
          </a:prstGeom>
          <a:ln cap="flat" w="38100">
            <a:solidFill>
              <a:srgbClr val="000000"/>
            </a:solidFill>
            <a:prstDash val="solid"/>
            <a:headEnd type="none" len="sm" w="sm"/>
            <a:tailEnd type="none" len="sm" w="sm"/>
          </a:ln>
        </p:spPr>
      </p:sp>
      <p:sp>
        <p:nvSpPr>
          <p:cNvPr name="AutoShape 15" id="15"/>
          <p:cNvSpPr/>
          <p:nvPr/>
        </p:nvSpPr>
        <p:spPr>
          <a:xfrm>
            <a:off x="15936336" y="469133"/>
            <a:ext cx="0" cy="603224"/>
          </a:xfrm>
          <a:prstGeom prst="line">
            <a:avLst/>
          </a:prstGeom>
          <a:ln cap="flat" w="38100">
            <a:solidFill>
              <a:srgbClr val="000000"/>
            </a:solidFill>
            <a:prstDash val="solid"/>
            <a:headEnd type="none" len="sm" w="sm"/>
            <a:tailEnd type="none" len="sm" w="sm"/>
          </a:ln>
        </p:spPr>
      </p:sp>
      <p:grpSp>
        <p:nvGrpSpPr>
          <p:cNvPr name="Group 16" id="16"/>
          <p:cNvGrpSpPr/>
          <p:nvPr/>
        </p:nvGrpSpPr>
        <p:grpSpPr>
          <a:xfrm rot="0">
            <a:off x="14635315" y="469133"/>
            <a:ext cx="603224" cy="603224"/>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B26E"/>
            </a:solidFill>
          </p:spPr>
        </p:sp>
        <p:sp>
          <p:nvSpPr>
            <p:cNvPr name="TextBox 18" id="18"/>
            <p:cNvSpPr txBox="true"/>
            <p:nvPr/>
          </p:nvSpPr>
          <p:spPr>
            <a:xfrm>
              <a:off x="76200" y="171450"/>
              <a:ext cx="660400" cy="565150"/>
            </a:xfrm>
            <a:prstGeom prst="rect">
              <a:avLst/>
            </a:prstGeom>
          </p:spPr>
          <p:txBody>
            <a:bodyPr anchor="ctr" rtlCol="false" tIns="50800" lIns="50800" bIns="50800" rIns="50800"/>
            <a:lstStyle/>
            <a:p>
              <a:pPr algn="ctr">
                <a:lnSpc>
                  <a:spcPts val="1625"/>
                </a:lnSpc>
              </a:pPr>
            </a:p>
          </p:txBody>
        </p:sp>
      </p:grpSp>
      <p:sp>
        <p:nvSpPr>
          <p:cNvPr name="TextBox 19" id="19"/>
          <p:cNvSpPr txBox="true"/>
          <p:nvPr/>
        </p:nvSpPr>
        <p:spPr>
          <a:xfrm rot="0">
            <a:off x="439872" y="194503"/>
            <a:ext cx="11515397" cy="1038184"/>
          </a:xfrm>
          <a:prstGeom prst="rect">
            <a:avLst/>
          </a:prstGeom>
        </p:spPr>
        <p:txBody>
          <a:bodyPr anchor="t" rtlCol="false" tIns="0" lIns="0" bIns="0" rIns="0">
            <a:spAutoFit/>
          </a:bodyPr>
          <a:lstStyle/>
          <a:p>
            <a:pPr algn="l">
              <a:lnSpc>
                <a:spcPts val="8487"/>
              </a:lnSpc>
            </a:pPr>
            <a:r>
              <a:rPr lang="en-US" sz="6062" b="true">
                <a:solidFill>
                  <a:srgbClr val="231F20"/>
                </a:solidFill>
                <a:latin typeface="Canva Sans Bold"/>
                <a:ea typeface="Canva Sans Bold"/>
                <a:cs typeface="Canva Sans Bold"/>
                <a:sym typeface="Canva Sans Bold"/>
              </a:rPr>
              <a:t>Find the “Right” Product</a:t>
            </a:r>
          </a:p>
        </p:txBody>
      </p:sp>
      <p:sp>
        <p:nvSpPr>
          <p:cNvPr name="TextBox 20" id="20"/>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12</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DCD7F1"/>
        </a:solidFill>
      </p:bgPr>
    </p:bg>
    <p:spTree>
      <p:nvGrpSpPr>
        <p:cNvPr id="1" name=""/>
        <p:cNvGrpSpPr/>
        <p:nvPr/>
      </p:nvGrpSpPr>
      <p:grpSpPr>
        <a:xfrm>
          <a:off x="0" y="0"/>
          <a:ext cx="0" cy="0"/>
          <a:chOff x="0" y="0"/>
          <a:chExt cx="0" cy="0"/>
        </a:xfrm>
      </p:grpSpPr>
      <p:grpSp>
        <p:nvGrpSpPr>
          <p:cNvPr name="Group 2" id="2"/>
          <p:cNvGrpSpPr/>
          <p:nvPr/>
        </p:nvGrpSpPr>
        <p:grpSpPr>
          <a:xfrm rot="0">
            <a:off x="1028700" y="1036570"/>
            <a:ext cx="16230600" cy="1274996"/>
            <a:chOff x="0" y="0"/>
            <a:chExt cx="4274726" cy="335801"/>
          </a:xfrm>
        </p:grpSpPr>
        <p:sp>
          <p:nvSpPr>
            <p:cNvPr name="Freeform 3" id="3"/>
            <p:cNvSpPr/>
            <p:nvPr/>
          </p:nvSpPr>
          <p:spPr>
            <a:xfrm flipH="false" flipV="false" rot="0">
              <a:off x="0" y="0"/>
              <a:ext cx="4274726" cy="335801"/>
            </a:xfrm>
            <a:custGeom>
              <a:avLst/>
              <a:gdLst/>
              <a:ahLst/>
              <a:cxnLst/>
              <a:rect r="r" b="b" t="t" l="l"/>
              <a:pathLst>
                <a:path h="335801" w="4274726">
                  <a:moveTo>
                    <a:pt x="24327" y="0"/>
                  </a:moveTo>
                  <a:lnTo>
                    <a:pt x="4250399" y="0"/>
                  </a:lnTo>
                  <a:cubicBezTo>
                    <a:pt x="4263834" y="0"/>
                    <a:pt x="4274726" y="10891"/>
                    <a:pt x="4274726" y="24327"/>
                  </a:cubicBezTo>
                  <a:lnTo>
                    <a:pt x="4274726" y="311475"/>
                  </a:lnTo>
                  <a:cubicBezTo>
                    <a:pt x="4274726" y="317927"/>
                    <a:pt x="4272163" y="324114"/>
                    <a:pt x="4267601" y="328676"/>
                  </a:cubicBezTo>
                  <a:cubicBezTo>
                    <a:pt x="4263039" y="333238"/>
                    <a:pt x="4256851" y="335801"/>
                    <a:pt x="4250399" y="335801"/>
                  </a:cubicBezTo>
                  <a:lnTo>
                    <a:pt x="24327" y="335801"/>
                  </a:lnTo>
                  <a:cubicBezTo>
                    <a:pt x="10891" y="335801"/>
                    <a:pt x="0" y="324910"/>
                    <a:pt x="0" y="311475"/>
                  </a:cubicBezTo>
                  <a:lnTo>
                    <a:pt x="0" y="24327"/>
                  </a:lnTo>
                  <a:cubicBezTo>
                    <a:pt x="0" y="10891"/>
                    <a:pt x="10891" y="0"/>
                    <a:pt x="24327" y="0"/>
                  </a:cubicBezTo>
                  <a:close/>
                </a:path>
              </a:pathLst>
            </a:custGeom>
            <a:solidFill>
              <a:srgbClr val="BA4852"/>
            </a:solidFill>
          </p:spPr>
        </p:sp>
        <p:sp>
          <p:nvSpPr>
            <p:cNvPr name="TextBox 4" id="4"/>
            <p:cNvSpPr txBox="true"/>
            <p:nvPr/>
          </p:nvSpPr>
          <p:spPr>
            <a:xfrm>
              <a:off x="0" y="-38100"/>
              <a:ext cx="4274726" cy="373901"/>
            </a:xfrm>
            <a:prstGeom prst="rect">
              <a:avLst/>
            </a:prstGeom>
          </p:spPr>
          <p:txBody>
            <a:bodyPr anchor="ctr" rtlCol="false" tIns="50800" lIns="50800" bIns="50800" rIns="50800"/>
            <a:lstStyle/>
            <a:p>
              <a:pPr algn="l">
                <a:lnSpc>
                  <a:spcPts val="3019"/>
                </a:lnSpc>
              </a:pPr>
              <a:r>
                <a:rPr lang="en-US" sz="2322" b="true">
                  <a:solidFill>
                    <a:srgbClr val="FFFFFF"/>
                  </a:solidFill>
                  <a:latin typeface="Poppins Medium"/>
                  <a:ea typeface="Poppins Medium"/>
                  <a:cs typeface="Poppins Medium"/>
                  <a:sym typeface="Poppins Medium"/>
                </a:rPr>
                <a:t>Agentic RAG can reduce data hallucinations, enhancing response quality and relevance, and serves as a method for implementing AI governance in AI model development.</a:t>
              </a:r>
            </a:p>
          </p:txBody>
        </p:sp>
      </p:grpSp>
      <p:sp>
        <p:nvSpPr>
          <p:cNvPr name="Freeform 5" id="5"/>
          <p:cNvSpPr/>
          <p:nvPr/>
        </p:nvSpPr>
        <p:spPr>
          <a:xfrm flipH="false" flipV="false" rot="0">
            <a:off x="1028700" y="2667185"/>
            <a:ext cx="14786381" cy="7283007"/>
          </a:xfrm>
          <a:custGeom>
            <a:avLst/>
            <a:gdLst/>
            <a:ahLst/>
            <a:cxnLst/>
            <a:rect r="r" b="b" t="t" l="l"/>
            <a:pathLst>
              <a:path h="7283007" w="14786381">
                <a:moveTo>
                  <a:pt x="0" y="0"/>
                </a:moveTo>
                <a:lnTo>
                  <a:pt x="14786381" y="0"/>
                </a:lnTo>
                <a:lnTo>
                  <a:pt x="14786381" y="7283007"/>
                </a:lnTo>
                <a:lnTo>
                  <a:pt x="0" y="7283007"/>
                </a:lnTo>
                <a:lnTo>
                  <a:pt x="0" y="0"/>
                </a:lnTo>
                <a:close/>
              </a:path>
            </a:pathLst>
          </a:custGeom>
          <a:blipFill>
            <a:blip r:embed="rId2"/>
            <a:stretch>
              <a:fillRect l="0" t="-1644" r="0" b="-1644"/>
            </a:stretch>
          </a:blipFill>
        </p:spPr>
      </p:sp>
      <p:sp>
        <p:nvSpPr>
          <p:cNvPr name="TextBox 6" id="6"/>
          <p:cNvSpPr txBox="true"/>
          <p:nvPr/>
        </p:nvSpPr>
        <p:spPr>
          <a:xfrm rot="0">
            <a:off x="94089" y="0"/>
            <a:ext cx="13239241" cy="1028700"/>
          </a:xfrm>
          <a:prstGeom prst="rect">
            <a:avLst/>
          </a:prstGeom>
        </p:spPr>
        <p:txBody>
          <a:bodyPr anchor="t" rtlCol="false" tIns="0" lIns="0" bIns="0" rIns="0">
            <a:spAutoFit/>
          </a:bodyPr>
          <a:lstStyle/>
          <a:p>
            <a:pPr algn="ctr">
              <a:lnSpc>
                <a:spcPts val="8400"/>
              </a:lnSpc>
            </a:pPr>
            <a:r>
              <a:rPr lang="en-US" sz="6000" b="true">
                <a:solidFill>
                  <a:srgbClr val="231F20"/>
                </a:solidFill>
                <a:latin typeface="Canva Sans Bold"/>
                <a:ea typeface="Canva Sans Bold"/>
                <a:cs typeface="Canva Sans Bold"/>
                <a:sym typeface="Canva Sans Bold"/>
              </a:rPr>
              <a:t>Chatbot features and interaction</a:t>
            </a:r>
          </a:p>
        </p:txBody>
      </p:sp>
      <p:grpSp>
        <p:nvGrpSpPr>
          <p:cNvPr name="Group 7" id="7"/>
          <p:cNvGrpSpPr/>
          <p:nvPr/>
        </p:nvGrpSpPr>
        <p:grpSpPr>
          <a:xfrm rot="0">
            <a:off x="0" y="9555697"/>
            <a:ext cx="4099091" cy="731303"/>
            <a:chOff x="0" y="0"/>
            <a:chExt cx="5465455" cy="975071"/>
          </a:xfrm>
        </p:grpSpPr>
        <p:grpSp>
          <p:nvGrpSpPr>
            <p:cNvPr name="Group 8" id="8"/>
            <p:cNvGrpSpPr/>
            <p:nvPr/>
          </p:nvGrpSpPr>
          <p:grpSpPr>
            <a:xfrm rot="0">
              <a:off x="0" y="0"/>
              <a:ext cx="975071" cy="97507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0" t="-446" r="0" b="0"/>
                </a:stretch>
              </a:blipFill>
            </p:spPr>
          </p:sp>
        </p:grpSp>
        <p:sp>
          <p:nvSpPr>
            <p:cNvPr name="TextBox 10" id="10"/>
            <p:cNvSpPr txBox="true"/>
            <p:nvPr/>
          </p:nvSpPr>
          <p:spPr>
            <a:xfrm rot="0">
              <a:off x="1141360" y="48747"/>
              <a:ext cx="2860498" cy="925689"/>
            </a:xfrm>
            <a:prstGeom prst="rect">
              <a:avLst/>
            </a:prstGeom>
          </p:spPr>
          <p:txBody>
            <a:bodyPr anchor="t" rtlCol="false" tIns="0" lIns="0" bIns="0" rIns="0">
              <a:spAutoFit/>
            </a:bodyPr>
            <a:lstStyle/>
            <a:p>
              <a:pPr algn="l">
                <a:lnSpc>
                  <a:spcPts val="5594"/>
                </a:lnSpc>
                <a:spcBef>
                  <a:spcPct val="0"/>
                </a:spcBef>
              </a:pPr>
              <a:r>
                <a:rPr lang="en-US" b="true" sz="3996">
                  <a:solidFill>
                    <a:srgbClr val="FFFFFF"/>
                  </a:solidFill>
                  <a:latin typeface="Poppins Bold"/>
                  <a:ea typeface="Poppins Bold"/>
                  <a:cs typeface="Poppins Bold"/>
                  <a:sym typeface="Poppins Bold"/>
                </a:rPr>
                <a:t>No</a:t>
              </a:r>
            </a:p>
          </p:txBody>
        </p:sp>
        <p:sp>
          <p:nvSpPr>
            <p:cNvPr name="TextBox 11" id="11"/>
            <p:cNvSpPr txBox="true"/>
            <p:nvPr/>
          </p:nvSpPr>
          <p:spPr>
            <a:xfrm rot="0">
              <a:off x="2184479" y="48747"/>
              <a:ext cx="3280976" cy="925689"/>
            </a:xfrm>
            <a:prstGeom prst="rect">
              <a:avLst/>
            </a:prstGeom>
          </p:spPr>
          <p:txBody>
            <a:bodyPr anchor="t" rtlCol="false" tIns="0" lIns="0" bIns="0" rIns="0">
              <a:spAutoFit/>
            </a:bodyPr>
            <a:lstStyle/>
            <a:p>
              <a:pPr algn="l">
                <a:lnSpc>
                  <a:spcPts val="5594"/>
                </a:lnSpc>
                <a:spcBef>
                  <a:spcPct val="0"/>
                </a:spcBef>
              </a:pPr>
              <a:r>
                <a:rPr lang="en-US" b="true" sz="3996">
                  <a:solidFill>
                    <a:srgbClr val="FFFFFF"/>
                  </a:solidFill>
                  <a:latin typeface="Poppins Semi-Bold"/>
                  <a:ea typeface="Poppins Semi-Bold"/>
                  <a:cs typeface="Poppins Semi-Bold"/>
                  <a:sym typeface="Poppins Semi-Bold"/>
                </a:rPr>
                <a:t>Parking</a:t>
              </a:r>
            </a:p>
          </p:txBody>
        </p:sp>
      </p:grpSp>
      <p:sp>
        <p:nvSpPr>
          <p:cNvPr name="TextBox 12" id="1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13</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DCD7F1"/>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269664"/>
            <a:ext cx="9822886" cy="6360319"/>
          </a:xfrm>
          <a:custGeom>
            <a:avLst/>
            <a:gdLst/>
            <a:ahLst/>
            <a:cxnLst/>
            <a:rect r="r" b="b" t="t" l="l"/>
            <a:pathLst>
              <a:path h="6360319" w="9822886">
                <a:moveTo>
                  <a:pt x="0" y="0"/>
                </a:moveTo>
                <a:lnTo>
                  <a:pt x="9822886" y="0"/>
                </a:lnTo>
                <a:lnTo>
                  <a:pt x="9822886" y="6360319"/>
                </a:lnTo>
                <a:lnTo>
                  <a:pt x="0" y="6360319"/>
                </a:lnTo>
                <a:lnTo>
                  <a:pt x="0" y="0"/>
                </a:lnTo>
                <a:close/>
              </a:path>
            </a:pathLst>
          </a:custGeom>
          <a:blipFill>
            <a:blip r:embed="rId2"/>
            <a:stretch>
              <a:fillRect l="0" t="0" r="0" b="0"/>
            </a:stretch>
          </a:blipFill>
        </p:spPr>
      </p:sp>
      <p:sp>
        <p:nvSpPr>
          <p:cNvPr name="TextBox 3" id="3"/>
          <p:cNvSpPr txBox="true"/>
          <p:nvPr/>
        </p:nvSpPr>
        <p:spPr>
          <a:xfrm rot="0">
            <a:off x="94089" y="0"/>
            <a:ext cx="13239241" cy="1028700"/>
          </a:xfrm>
          <a:prstGeom prst="rect">
            <a:avLst/>
          </a:prstGeom>
        </p:spPr>
        <p:txBody>
          <a:bodyPr anchor="t" rtlCol="false" tIns="0" lIns="0" bIns="0" rIns="0">
            <a:spAutoFit/>
          </a:bodyPr>
          <a:lstStyle/>
          <a:p>
            <a:pPr algn="ctr">
              <a:lnSpc>
                <a:spcPts val="8400"/>
              </a:lnSpc>
            </a:pPr>
            <a:r>
              <a:rPr lang="en-US" sz="6000" b="true">
                <a:solidFill>
                  <a:srgbClr val="231F20"/>
                </a:solidFill>
                <a:latin typeface="Canva Sans Bold"/>
                <a:ea typeface="Canva Sans Bold"/>
                <a:cs typeface="Canva Sans Bold"/>
                <a:sym typeface="Canva Sans Bold"/>
              </a:rPr>
              <a:t>Product Installation Assistance</a:t>
            </a:r>
          </a:p>
        </p:txBody>
      </p:sp>
      <p:grpSp>
        <p:nvGrpSpPr>
          <p:cNvPr name="Group 4" id="4"/>
          <p:cNvGrpSpPr/>
          <p:nvPr/>
        </p:nvGrpSpPr>
        <p:grpSpPr>
          <a:xfrm rot="0">
            <a:off x="11170882" y="1369181"/>
            <a:ext cx="6849082" cy="6260802"/>
            <a:chOff x="0" y="0"/>
            <a:chExt cx="1803873" cy="1648936"/>
          </a:xfrm>
        </p:grpSpPr>
        <p:sp>
          <p:nvSpPr>
            <p:cNvPr name="Freeform 5" id="5"/>
            <p:cNvSpPr/>
            <p:nvPr/>
          </p:nvSpPr>
          <p:spPr>
            <a:xfrm flipH="false" flipV="false" rot="0">
              <a:off x="0" y="0"/>
              <a:ext cx="1803873" cy="1648936"/>
            </a:xfrm>
            <a:custGeom>
              <a:avLst/>
              <a:gdLst/>
              <a:ahLst/>
              <a:cxnLst/>
              <a:rect r="r" b="b" t="t" l="l"/>
              <a:pathLst>
                <a:path h="1648936" w="1803873">
                  <a:moveTo>
                    <a:pt x="57648" y="0"/>
                  </a:moveTo>
                  <a:lnTo>
                    <a:pt x="1746225" y="0"/>
                  </a:lnTo>
                  <a:cubicBezTo>
                    <a:pt x="1761514" y="0"/>
                    <a:pt x="1776177" y="6074"/>
                    <a:pt x="1786989" y="16885"/>
                  </a:cubicBezTo>
                  <a:cubicBezTo>
                    <a:pt x="1797800" y="27696"/>
                    <a:pt x="1803873" y="42359"/>
                    <a:pt x="1803873" y="57648"/>
                  </a:cubicBezTo>
                  <a:lnTo>
                    <a:pt x="1803873" y="1591287"/>
                  </a:lnTo>
                  <a:cubicBezTo>
                    <a:pt x="1803873" y="1606577"/>
                    <a:pt x="1797800" y="1621240"/>
                    <a:pt x="1786989" y="1632051"/>
                  </a:cubicBezTo>
                  <a:cubicBezTo>
                    <a:pt x="1776177" y="1642862"/>
                    <a:pt x="1761514" y="1648936"/>
                    <a:pt x="1746225" y="1648936"/>
                  </a:cubicBezTo>
                  <a:lnTo>
                    <a:pt x="57648" y="1648936"/>
                  </a:lnTo>
                  <a:cubicBezTo>
                    <a:pt x="42359" y="1648936"/>
                    <a:pt x="27696" y="1642862"/>
                    <a:pt x="16885" y="1632051"/>
                  </a:cubicBezTo>
                  <a:cubicBezTo>
                    <a:pt x="6074" y="1621240"/>
                    <a:pt x="0" y="1606577"/>
                    <a:pt x="0" y="1591287"/>
                  </a:cubicBezTo>
                  <a:lnTo>
                    <a:pt x="0" y="57648"/>
                  </a:lnTo>
                  <a:cubicBezTo>
                    <a:pt x="0" y="42359"/>
                    <a:pt x="6074" y="27696"/>
                    <a:pt x="16885" y="16885"/>
                  </a:cubicBezTo>
                  <a:cubicBezTo>
                    <a:pt x="27696" y="6074"/>
                    <a:pt x="42359" y="0"/>
                    <a:pt x="57648" y="0"/>
                  </a:cubicBezTo>
                  <a:close/>
                </a:path>
              </a:pathLst>
            </a:custGeom>
            <a:solidFill>
              <a:srgbClr val="BA4852"/>
            </a:solidFill>
          </p:spPr>
        </p:sp>
        <p:sp>
          <p:nvSpPr>
            <p:cNvPr name="TextBox 6" id="6"/>
            <p:cNvSpPr txBox="true"/>
            <p:nvPr/>
          </p:nvSpPr>
          <p:spPr>
            <a:xfrm>
              <a:off x="0" y="-66675"/>
              <a:ext cx="1803873" cy="1715611"/>
            </a:xfrm>
            <a:prstGeom prst="rect">
              <a:avLst/>
            </a:prstGeom>
          </p:spPr>
          <p:txBody>
            <a:bodyPr anchor="t" rtlCol="false" tIns="50800" lIns="50800" bIns="50800" rIns="50800"/>
            <a:lstStyle/>
            <a:p>
              <a:pPr algn="ctr">
                <a:lnSpc>
                  <a:spcPts val="4059"/>
                </a:lnSpc>
              </a:pPr>
              <a:r>
                <a:rPr lang="en-US" sz="3122" b="true">
                  <a:solidFill>
                    <a:srgbClr val="FFFFFF"/>
                  </a:solidFill>
                  <a:latin typeface="Poppins Medium"/>
                  <a:ea typeface="Poppins Medium"/>
                  <a:cs typeface="Poppins Medium"/>
                  <a:sym typeface="Poppins Medium"/>
                </a:rPr>
                <a:t>AI Governance</a:t>
              </a:r>
            </a:p>
            <a:p>
              <a:pPr algn="l">
                <a:lnSpc>
                  <a:spcPts val="3019"/>
                </a:lnSpc>
              </a:pPr>
            </a:p>
            <a:p>
              <a:pPr algn="l" marL="501456" indent="-250728" lvl="1">
                <a:lnSpc>
                  <a:spcPts val="3019"/>
                </a:lnSpc>
                <a:buFont typeface="Arial"/>
                <a:buChar char="•"/>
              </a:pPr>
              <a:r>
                <a:rPr lang="en-US" sz="2322">
                  <a:solidFill>
                    <a:srgbClr val="FFFFFF"/>
                  </a:solidFill>
                  <a:latin typeface="Poppins"/>
                  <a:ea typeface="Poppins"/>
                  <a:cs typeface="Poppins"/>
                  <a:sym typeface="Poppins"/>
                </a:rPr>
                <a:t>Data Retrieval aligned with data protection and compliance policies, making sure only data required for the task is retrieved. Achieved by implementing strict access controls.</a:t>
              </a:r>
            </a:p>
            <a:p>
              <a:pPr algn="l">
                <a:lnSpc>
                  <a:spcPts val="1170"/>
                </a:lnSpc>
              </a:pPr>
            </a:p>
            <a:p>
              <a:pPr algn="l" marL="501456" indent="-250728" lvl="1">
                <a:lnSpc>
                  <a:spcPts val="3019"/>
                </a:lnSpc>
                <a:buFont typeface="Arial"/>
                <a:buChar char="•"/>
              </a:pPr>
              <a:r>
                <a:rPr lang="en-US" sz="2322">
                  <a:solidFill>
                    <a:srgbClr val="FFFFFF"/>
                  </a:solidFill>
                  <a:latin typeface="Poppins"/>
                  <a:ea typeface="Poppins"/>
                  <a:cs typeface="Poppins"/>
                  <a:sym typeface="Poppins"/>
                </a:rPr>
                <a:t>Glassbox models in AI chatbots and systems for increased transparency and trust in decision-making of the AI system</a:t>
              </a:r>
            </a:p>
            <a:p>
              <a:pPr algn="l">
                <a:lnSpc>
                  <a:spcPts val="1170"/>
                </a:lnSpc>
              </a:pPr>
            </a:p>
            <a:p>
              <a:pPr algn="l" marL="501456" indent="-250728" lvl="1">
                <a:lnSpc>
                  <a:spcPts val="3019"/>
                </a:lnSpc>
                <a:buFont typeface="Arial"/>
                <a:buChar char="•"/>
              </a:pPr>
              <a:r>
                <a:rPr lang="en-US" sz="2322">
                  <a:solidFill>
                    <a:srgbClr val="FFFFFF"/>
                  </a:solidFill>
                  <a:latin typeface="Poppins"/>
                  <a:ea typeface="Poppins"/>
                  <a:cs typeface="Poppins"/>
                  <a:sym typeface="Poppins"/>
                </a:rPr>
                <a:t>Automated Feedback Systems to gather user interactions and make the model better informed.</a:t>
              </a:r>
            </a:p>
          </p:txBody>
        </p:sp>
      </p:grpSp>
      <p:grpSp>
        <p:nvGrpSpPr>
          <p:cNvPr name="Group 7" id="7"/>
          <p:cNvGrpSpPr/>
          <p:nvPr/>
        </p:nvGrpSpPr>
        <p:grpSpPr>
          <a:xfrm rot="0">
            <a:off x="0" y="9555697"/>
            <a:ext cx="4099091" cy="731303"/>
            <a:chOff x="0" y="0"/>
            <a:chExt cx="5465455" cy="975071"/>
          </a:xfrm>
        </p:grpSpPr>
        <p:grpSp>
          <p:nvGrpSpPr>
            <p:cNvPr name="Group 8" id="8"/>
            <p:cNvGrpSpPr/>
            <p:nvPr/>
          </p:nvGrpSpPr>
          <p:grpSpPr>
            <a:xfrm rot="0">
              <a:off x="0" y="0"/>
              <a:ext cx="975071" cy="97507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0" t="-446" r="0" b="0"/>
                </a:stretch>
              </a:blipFill>
            </p:spPr>
          </p:sp>
        </p:grpSp>
        <p:sp>
          <p:nvSpPr>
            <p:cNvPr name="TextBox 10" id="10"/>
            <p:cNvSpPr txBox="true"/>
            <p:nvPr/>
          </p:nvSpPr>
          <p:spPr>
            <a:xfrm rot="0">
              <a:off x="1141360" y="48747"/>
              <a:ext cx="2860498" cy="925689"/>
            </a:xfrm>
            <a:prstGeom prst="rect">
              <a:avLst/>
            </a:prstGeom>
          </p:spPr>
          <p:txBody>
            <a:bodyPr anchor="t" rtlCol="false" tIns="0" lIns="0" bIns="0" rIns="0">
              <a:spAutoFit/>
            </a:bodyPr>
            <a:lstStyle/>
            <a:p>
              <a:pPr algn="l">
                <a:lnSpc>
                  <a:spcPts val="5594"/>
                </a:lnSpc>
                <a:spcBef>
                  <a:spcPct val="0"/>
                </a:spcBef>
              </a:pPr>
              <a:r>
                <a:rPr lang="en-US" b="true" sz="3996">
                  <a:solidFill>
                    <a:srgbClr val="FFFFFF"/>
                  </a:solidFill>
                  <a:latin typeface="Poppins Bold"/>
                  <a:ea typeface="Poppins Bold"/>
                  <a:cs typeface="Poppins Bold"/>
                  <a:sym typeface="Poppins Bold"/>
                </a:rPr>
                <a:t>No</a:t>
              </a:r>
            </a:p>
          </p:txBody>
        </p:sp>
        <p:sp>
          <p:nvSpPr>
            <p:cNvPr name="TextBox 11" id="11"/>
            <p:cNvSpPr txBox="true"/>
            <p:nvPr/>
          </p:nvSpPr>
          <p:spPr>
            <a:xfrm rot="0">
              <a:off x="2184479" y="48747"/>
              <a:ext cx="3280976" cy="925689"/>
            </a:xfrm>
            <a:prstGeom prst="rect">
              <a:avLst/>
            </a:prstGeom>
          </p:spPr>
          <p:txBody>
            <a:bodyPr anchor="t" rtlCol="false" tIns="0" lIns="0" bIns="0" rIns="0">
              <a:spAutoFit/>
            </a:bodyPr>
            <a:lstStyle/>
            <a:p>
              <a:pPr algn="l">
                <a:lnSpc>
                  <a:spcPts val="5594"/>
                </a:lnSpc>
                <a:spcBef>
                  <a:spcPct val="0"/>
                </a:spcBef>
              </a:pPr>
              <a:r>
                <a:rPr lang="en-US" b="true" sz="3996">
                  <a:solidFill>
                    <a:srgbClr val="FFFFFF"/>
                  </a:solidFill>
                  <a:latin typeface="Poppins Semi-Bold"/>
                  <a:ea typeface="Poppins Semi-Bold"/>
                  <a:cs typeface="Poppins Semi-Bold"/>
                  <a:sym typeface="Poppins Semi-Bold"/>
                </a:rPr>
                <a:t>Parking</a:t>
              </a:r>
            </a:p>
          </p:txBody>
        </p:sp>
      </p:grpSp>
      <p:sp>
        <p:nvSpPr>
          <p:cNvPr name="TextBox 12" id="1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14</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DCD7F1"/>
        </a:solidFill>
      </p:bgPr>
    </p:bg>
    <p:spTree>
      <p:nvGrpSpPr>
        <p:cNvPr id="1" name=""/>
        <p:cNvGrpSpPr/>
        <p:nvPr/>
      </p:nvGrpSpPr>
      <p:grpSpPr>
        <a:xfrm>
          <a:off x="0" y="0"/>
          <a:ext cx="0" cy="0"/>
          <a:chOff x="0" y="0"/>
          <a:chExt cx="0" cy="0"/>
        </a:xfrm>
      </p:grpSpPr>
      <p:grpSp>
        <p:nvGrpSpPr>
          <p:cNvPr name="Group 2" id="2"/>
          <p:cNvGrpSpPr/>
          <p:nvPr/>
        </p:nvGrpSpPr>
        <p:grpSpPr>
          <a:xfrm rot="0">
            <a:off x="-7875070" y="-6099645"/>
            <a:ext cx="27720573" cy="8642412"/>
            <a:chOff x="0" y="0"/>
            <a:chExt cx="7300892" cy="2276191"/>
          </a:xfrm>
        </p:grpSpPr>
        <p:sp>
          <p:nvSpPr>
            <p:cNvPr name="Freeform 3" id="3"/>
            <p:cNvSpPr/>
            <p:nvPr/>
          </p:nvSpPr>
          <p:spPr>
            <a:xfrm flipH="false" flipV="false" rot="0">
              <a:off x="0" y="0"/>
              <a:ext cx="7300892" cy="2276191"/>
            </a:xfrm>
            <a:custGeom>
              <a:avLst/>
              <a:gdLst/>
              <a:ahLst/>
              <a:cxnLst/>
              <a:rect r="r" b="b" t="t" l="l"/>
              <a:pathLst>
                <a:path h="2276191" w="7300892">
                  <a:moveTo>
                    <a:pt x="8658" y="0"/>
                  </a:moveTo>
                  <a:lnTo>
                    <a:pt x="7292234" y="0"/>
                  </a:lnTo>
                  <a:cubicBezTo>
                    <a:pt x="7297015" y="0"/>
                    <a:pt x="7300892" y="3876"/>
                    <a:pt x="7300892" y="8658"/>
                  </a:cubicBezTo>
                  <a:lnTo>
                    <a:pt x="7300892" y="2267533"/>
                  </a:lnTo>
                  <a:cubicBezTo>
                    <a:pt x="7300892" y="2269829"/>
                    <a:pt x="7299979" y="2272031"/>
                    <a:pt x="7298356" y="2273655"/>
                  </a:cubicBezTo>
                  <a:cubicBezTo>
                    <a:pt x="7296732" y="2275279"/>
                    <a:pt x="7294530" y="2276191"/>
                    <a:pt x="7292234" y="2276191"/>
                  </a:cubicBezTo>
                  <a:lnTo>
                    <a:pt x="8658" y="2276191"/>
                  </a:lnTo>
                  <a:cubicBezTo>
                    <a:pt x="3876" y="2276191"/>
                    <a:pt x="0" y="2272315"/>
                    <a:pt x="0" y="2267533"/>
                  </a:cubicBezTo>
                  <a:lnTo>
                    <a:pt x="0" y="8658"/>
                  </a:lnTo>
                  <a:cubicBezTo>
                    <a:pt x="0" y="3876"/>
                    <a:pt x="3876" y="0"/>
                    <a:pt x="8658" y="0"/>
                  </a:cubicBezTo>
                  <a:close/>
                </a:path>
              </a:pathLst>
            </a:custGeom>
            <a:solidFill>
              <a:srgbClr val="443880"/>
            </a:solidFill>
          </p:spPr>
        </p:sp>
        <p:sp>
          <p:nvSpPr>
            <p:cNvPr name="TextBox 4" id="4"/>
            <p:cNvSpPr txBox="true"/>
            <p:nvPr/>
          </p:nvSpPr>
          <p:spPr>
            <a:xfrm>
              <a:off x="0" y="-38100"/>
              <a:ext cx="7300892" cy="2314291"/>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2919423" y="2310553"/>
            <a:ext cx="12449155" cy="7487910"/>
          </a:xfrm>
          <a:custGeom>
            <a:avLst/>
            <a:gdLst/>
            <a:ahLst/>
            <a:cxnLst/>
            <a:rect r="r" b="b" t="t" l="l"/>
            <a:pathLst>
              <a:path h="7487910" w="12449155">
                <a:moveTo>
                  <a:pt x="0" y="0"/>
                </a:moveTo>
                <a:lnTo>
                  <a:pt x="12449154" y="0"/>
                </a:lnTo>
                <a:lnTo>
                  <a:pt x="12449154" y="7487910"/>
                </a:lnTo>
                <a:lnTo>
                  <a:pt x="0" y="7487910"/>
                </a:lnTo>
                <a:lnTo>
                  <a:pt x="0" y="0"/>
                </a:lnTo>
                <a:close/>
              </a:path>
            </a:pathLst>
          </a:custGeom>
          <a:blipFill>
            <a:blip r:embed="rId2"/>
            <a:stretch>
              <a:fillRect l="0" t="-292" r="0" b="-292"/>
            </a:stretch>
          </a:blipFill>
        </p:spPr>
      </p:sp>
      <p:sp>
        <p:nvSpPr>
          <p:cNvPr name="TextBox 6" id="6"/>
          <p:cNvSpPr txBox="true"/>
          <p:nvPr/>
        </p:nvSpPr>
        <p:spPr>
          <a:xfrm rot="0">
            <a:off x="439872" y="194503"/>
            <a:ext cx="17512112" cy="2112969"/>
          </a:xfrm>
          <a:prstGeom prst="rect">
            <a:avLst/>
          </a:prstGeom>
        </p:spPr>
        <p:txBody>
          <a:bodyPr anchor="t" rtlCol="false" tIns="0" lIns="0" bIns="0" rIns="0">
            <a:spAutoFit/>
          </a:bodyPr>
          <a:lstStyle/>
          <a:p>
            <a:pPr algn="l">
              <a:lnSpc>
                <a:spcPts val="8487"/>
              </a:lnSpc>
            </a:pPr>
            <a:r>
              <a:rPr lang="en-US" sz="6062" b="true">
                <a:solidFill>
                  <a:srgbClr val="FFFFFF"/>
                </a:solidFill>
                <a:latin typeface="Canva Sans Bold"/>
                <a:ea typeface="Canva Sans Bold"/>
                <a:cs typeface="Canva Sans Bold"/>
                <a:sym typeface="Canva Sans Bold"/>
              </a:rPr>
              <a:t>Track Current Orders &amp; Automated Delay Notification</a:t>
            </a:r>
          </a:p>
        </p:txBody>
      </p:sp>
      <p:grpSp>
        <p:nvGrpSpPr>
          <p:cNvPr name="Group 7" id="7"/>
          <p:cNvGrpSpPr/>
          <p:nvPr/>
        </p:nvGrpSpPr>
        <p:grpSpPr>
          <a:xfrm rot="0">
            <a:off x="0" y="9555697"/>
            <a:ext cx="4099091" cy="731303"/>
            <a:chOff x="0" y="0"/>
            <a:chExt cx="5465455" cy="975071"/>
          </a:xfrm>
        </p:grpSpPr>
        <p:grpSp>
          <p:nvGrpSpPr>
            <p:cNvPr name="Group 8" id="8"/>
            <p:cNvGrpSpPr/>
            <p:nvPr/>
          </p:nvGrpSpPr>
          <p:grpSpPr>
            <a:xfrm rot="0">
              <a:off x="0" y="0"/>
              <a:ext cx="975071" cy="97507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0" t="-446" r="0" b="0"/>
                </a:stretch>
              </a:blipFill>
            </p:spPr>
          </p:sp>
        </p:grpSp>
        <p:sp>
          <p:nvSpPr>
            <p:cNvPr name="TextBox 10" id="10"/>
            <p:cNvSpPr txBox="true"/>
            <p:nvPr/>
          </p:nvSpPr>
          <p:spPr>
            <a:xfrm rot="0">
              <a:off x="1141360" y="48747"/>
              <a:ext cx="2860498" cy="925689"/>
            </a:xfrm>
            <a:prstGeom prst="rect">
              <a:avLst/>
            </a:prstGeom>
          </p:spPr>
          <p:txBody>
            <a:bodyPr anchor="t" rtlCol="false" tIns="0" lIns="0" bIns="0" rIns="0">
              <a:spAutoFit/>
            </a:bodyPr>
            <a:lstStyle/>
            <a:p>
              <a:pPr algn="l">
                <a:lnSpc>
                  <a:spcPts val="5594"/>
                </a:lnSpc>
                <a:spcBef>
                  <a:spcPct val="0"/>
                </a:spcBef>
              </a:pPr>
              <a:r>
                <a:rPr lang="en-US" b="true" sz="3996">
                  <a:solidFill>
                    <a:srgbClr val="FFFFFF"/>
                  </a:solidFill>
                  <a:latin typeface="Poppins Bold"/>
                  <a:ea typeface="Poppins Bold"/>
                  <a:cs typeface="Poppins Bold"/>
                  <a:sym typeface="Poppins Bold"/>
                </a:rPr>
                <a:t>No</a:t>
              </a:r>
            </a:p>
          </p:txBody>
        </p:sp>
        <p:sp>
          <p:nvSpPr>
            <p:cNvPr name="TextBox 11" id="11"/>
            <p:cNvSpPr txBox="true"/>
            <p:nvPr/>
          </p:nvSpPr>
          <p:spPr>
            <a:xfrm rot="0">
              <a:off x="2184479" y="48747"/>
              <a:ext cx="3280976" cy="925689"/>
            </a:xfrm>
            <a:prstGeom prst="rect">
              <a:avLst/>
            </a:prstGeom>
          </p:spPr>
          <p:txBody>
            <a:bodyPr anchor="t" rtlCol="false" tIns="0" lIns="0" bIns="0" rIns="0">
              <a:spAutoFit/>
            </a:bodyPr>
            <a:lstStyle/>
            <a:p>
              <a:pPr algn="l">
                <a:lnSpc>
                  <a:spcPts val="5594"/>
                </a:lnSpc>
                <a:spcBef>
                  <a:spcPct val="0"/>
                </a:spcBef>
              </a:pPr>
              <a:r>
                <a:rPr lang="en-US" b="true" sz="3996">
                  <a:solidFill>
                    <a:srgbClr val="FFFFFF"/>
                  </a:solidFill>
                  <a:latin typeface="Poppins Semi-Bold"/>
                  <a:ea typeface="Poppins Semi-Bold"/>
                  <a:cs typeface="Poppins Semi-Bold"/>
                  <a:sym typeface="Poppins Semi-Bold"/>
                </a:rPr>
                <a:t>Parking</a:t>
              </a:r>
            </a:p>
          </p:txBody>
        </p:sp>
      </p:grpSp>
      <p:sp>
        <p:nvSpPr>
          <p:cNvPr name="TextBox 12" id="1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15</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DCD7F1"/>
        </a:solidFill>
      </p:bgPr>
    </p:bg>
    <p:spTree>
      <p:nvGrpSpPr>
        <p:cNvPr id="1" name=""/>
        <p:cNvGrpSpPr/>
        <p:nvPr/>
      </p:nvGrpSpPr>
      <p:grpSpPr>
        <a:xfrm>
          <a:off x="0" y="0"/>
          <a:ext cx="0" cy="0"/>
          <a:chOff x="0" y="0"/>
          <a:chExt cx="0" cy="0"/>
        </a:xfrm>
      </p:grpSpPr>
      <p:grpSp>
        <p:nvGrpSpPr>
          <p:cNvPr name="Group 2" id="2"/>
          <p:cNvGrpSpPr/>
          <p:nvPr/>
        </p:nvGrpSpPr>
        <p:grpSpPr>
          <a:xfrm rot="0">
            <a:off x="-8488076" y="-6809441"/>
            <a:ext cx="27720573" cy="8642412"/>
            <a:chOff x="0" y="0"/>
            <a:chExt cx="7300892" cy="2276191"/>
          </a:xfrm>
        </p:grpSpPr>
        <p:sp>
          <p:nvSpPr>
            <p:cNvPr name="Freeform 3" id="3"/>
            <p:cNvSpPr/>
            <p:nvPr/>
          </p:nvSpPr>
          <p:spPr>
            <a:xfrm flipH="false" flipV="false" rot="0">
              <a:off x="0" y="0"/>
              <a:ext cx="7300892" cy="2276191"/>
            </a:xfrm>
            <a:custGeom>
              <a:avLst/>
              <a:gdLst/>
              <a:ahLst/>
              <a:cxnLst/>
              <a:rect r="r" b="b" t="t" l="l"/>
              <a:pathLst>
                <a:path h="2276191" w="7300892">
                  <a:moveTo>
                    <a:pt x="8658" y="0"/>
                  </a:moveTo>
                  <a:lnTo>
                    <a:pt x="7292234" y="0"/>
                  </a:lnTo>
                  <a:cubicBezTo>
                    <a:pt x="7297015" y="0"/>
                    <a:pt x="7300892" y="3876"/>
                    <a:pt x="7300892" y="8658"/>
                  </a:cubicBezTo>
                  <a:lnTo>
                    <a:pt x="7300892" y="2267533"/>
                  </a:lnTo>
                  <a:cubicBezTo>
                    <a:pt x="7300892" y="2269829"/>
                    <a:pt x="7299979" y="2272031"/>
                    <a:pt x="7298356" y="2273655"/>
                  </a:cubicBezTo>
                  <a:cubicBezTo>
                    <a:pt x="7296732" y="2275279"/>
                    <a:pt x="7294530" y="2276191"/>
                    <a:pt x="7292234" y="2276191"/>
                  </a:cubicBezTo>
                  <a:lnTo>
                    <a:pt x="8658" y="2276191"/>
                  </a:lnTo>
                  <a:cubicBezTo>
                    <a:pt x="3876" y="2276191"/>
                    <a:pt x="0" y="2272315"/>
                    <a:pt x="0" y="2267533"/>
                  </a:cubicBezTo>
                  <a:lnTo>
                    <a:pt x="0" y="8658"/>
                  </a:lnTo>
                  <a:cubicBezTo>
                    <a:pt x="0" y="3876"/>
                    <a:pt x="3876" y="0"/>
                    <a:pt x="8658" y="0"/>
                  </a:cubicBezTo>
                  <a:close/>
                </a:path>
              </a:pathLst>
            </a:custGeom>
            <a:solidFill>
              <a:srgbClr val="443880"/>
            </a:solidFill>
          </p:spPr>
        </p:sp>
        <p:sp>
          <p:nvSpPr>
            <p:cNvPr name="TextBox 4" id="4"/>
            <p:cNvSpPr txBox="true"/>
            <p:nvPr/>
          </p:nvSpPr>
          <p:spPr>
            <a:xfrm>
              <a:off x="0" y="-38100"/>
              <a:ext cx="7300892" cy="2314291"/>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3292708" y="1606083"/>
            <a:ext cx="11702584" cy="4242187"/>
          </a:xfrm>
          <a:custGeom>
            <a:avLst/>
            <a:gdLst/>
            <a:ahLst/>
            <a:cxnLst/>
            <a:rect r="r" b="b" t="t" l="l"/>
            <a:pathLst>
              <a:path h="4242187" w="11702584">
                <a:moveTo>
                  <a:pt x="0" y="0"/>
                </a:moveTo>
                <a:lnTo>
                  <a:pt x="11702584" y="0"/>
                </a:lnTo>
                <a:lnTo>
                  <a:pt x="11702584" y="4242187"/>
                </a:lnTo>
                <a:lnTo>
                  <a:pt x="0" y="4242187"/>
                </a:lnTo>
                <a:lnTo>
                  <a:pt x="0" y="0"/>
                </a:lnTo>
                <a:close/>
              </a:path>
            </a:pathLst>
          </a:custGeom>
          <a:blipFill>
            <a:blip r:embed="rId2"/>
            <a:stretch>
              <a:fillRect l="0" t="0" r="0" b="0"/>
            </a:stretch>
          </a:blipFill>
        </p:spPr>
      </p:sp>
      <p:sp>
        <p:nvSpPr>
          <p:cNvPr name="TextBox 6" id="6"/>
          <p:cNvSpPr txBox="true"/>
          <p:nvPr/>
        </p:nvSpPr>
        <p:spPr>
          <a:xfrm rot="0">
            <a:off x="439872" y="194503"/>
            <a:ext cx="17512112" cy="1036644"/>
          </a:xfrm>
          <a:prstGeom prst="rect">
            <a:avLst/>
          </a:prstGeom>
        </p:spPr>
        <p:txBody>
          <a:bodyPr anchor="t" rtlCol="false" tIns="0" lIns="0" bIns="0" rIns="0">
            <a:spAutoFit/>
          </a:bodyPr>
          <a:lstStyle/>
          <a:p>
            <a:pPr algn="l">
              <a:lnSpc>
                <a:spcPts val="8487"/>
              </a:lnSpc>
            </a:pPr>
            <a:r>
              <a:rPr lang="en-US" sz="6062" b="true">
                <a:solidFill>
                  <a:srgbClr val="F8F8F8"/>
                </a:solidFill>
                <a:latin typeface="Canva Sans Bold"/>
                <a:ea typeface="Canva Sans Bold"/>
                <a:cs typeface="Canva Sans Bold"/>
                <a:sym typeface="Canva Sans Bold"/>
              </a:rPr>
              <a:t>Order Cancellation and Returns and Refunds</a:t>
            </a:r>
          </a:p>
        </p:txBody>
      </p:sp>
      <p:sp>
        <p:nvSpPr>
          <p:cNvPr name="Freeform 7" id="7"/>
          <p:cNvSpPr/>
          <p:nvPr/>
        </p:nvSpPr>
        <p:spPr>
          <a:xfrm flipH="false" flipV="false" rot="0">
            <a:off x="3292708" y="6518523"/>
            <a:ext cx="11702584" cy="3130441"/>
          </a:xfrm>
          <a:custGeom>
            <a:avLst/>
            <a:gdLst/>
            <a:ahLst/>
            <a:cxnLst/>
            <a:rect r="r" b="b" t="t" l="l"/>
            <a:pathLst>
              <a:path h="3130441" w="11702584">
                <a:moveTo>
                  <a:pt x="0" y="0"/>
                </a:moveTo>
                <a:lnTo>
                  <a:pt x="11702584" y="0"/>
                </a:lnTo>
                <a:lnTo>
                  <a:pt x="11702584" y="3130442"/>
                </a:lnTo>
                <a:lnTo>
                  <a:pt x="0" y="3130442"/>
                </a:lnTo>
                <a:lnTo>
                  <a:pt x="0" y="0"/>
                </a:lnTo>
                <a:close/>
              </a:path>
            </a:pathLst>
          </a:custGeom>
          <a:blipFill>
            <a:blip r:embed="rId3"/>
            <a:stretch>
              <a:fillRect l="0" t="0" r="0" b="0"/>
            </a:stretch>
          </a:blipFill>
        </p:spPr>
      </p:sp>
      <p:grpSp>
        <p:nvGrpSpPr>
          <p:cNvPr name="Group 8" id="8"/>
          <p:cNvGrpSpPr/>
          <p:nvPr/>
        </p:nvGrpSpPr>
        <p:grpSpPr>
          <a:xfrm rot="0">
            <a:off x="0" y="9555697"/>
            <a:ext cx="4099091" cy="731303"/>
            <a:chOff x="0" y="0"/>
            <a:chExt cx="5465455" cy="975071"/>
          </a:xfrm>
        </p:grpSpPr>
        <p:grpSp>
          <p:nvGrpSpPr>
            <p:cNvPr name="Group 9" id="9"/>
            <p:cNvGrpSpPr/>
            <p:nvPr/>
          </p:nvGrpSpPr>
          <p:grpSpPr>
            <a:xfrm rot="0">
              <a:off x="0" y="0"/>
              <a:ext cx="975071" cy="97507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0" t="-446" r="0" b="0"/>
                </a:stretch>
              </a:blipFill>
            </p:spPr>
          </p:sp>
        </p:grpSp>
        <p:sp>
          <p:nvSpPr>
            <p:cNvPr name="TextBox 11" id="11"/>
            <p:cNvSpPr txBox="true"/>
            <p:nvPr/>
          </p:nvSpPr>
          <p:spPr>
            <a:xfrm rot="0">
              <a:off x="1141360" y="48747"/>
              <a:ext cx="2860498" cy="925689"/>
            </a:xfrm>
            <a:prstGeom prst="rect">
              <a:avLst/>
            </a:prstGeom>
          </p:spPr>
          <p:txBody>
            <a:bodyPr anchor="t" rtlCol="false" tIns="0" lIns="0" bIns="0" rIns="0">
              <a:spAutoFit/>
            </a:bodyPr>
            <a:lstStyle/>
            <a:p>
              <a:pPr algn="l">
                <a:lnSpc>
                  <a:spcPts val="5594"/>
                </a:lnSpc>
                <a:spcBef>
                  <a:spcPct val="0"/>
                </a:spcBef>
              </a:pPr>
              <a:r>
                <a:rPr lang="en-US" b="true" sz="3996">
                  <a:solidFill>
                    <a:srgbClr val="FFFFFF"/>
                  </a:solidFill>
                  <a:latin typeface="Poppins Bold"/>
                  <a:ea typeface="Poppins Bold"/>
                  <a:cs typeface="Poppins Bold"/>
                  <a:sym typeface="Poppins Bold"/>
                </a:rPr>
                <a:t>No</a:t>
              </a:r>
            </a:p>
          </p:txBody>
        </p:sp>
        <p:sp>
          <p:nvSpPr>
            <p:cNvPr name="TextBox 12" id="12"/>
            <p:cNvSpPr txBox="true"/>
            <p:nvPr/>
          </p:nvSpPr>
          <p:spPr>
            <a:xfrm rot="0">
              <a:off x="2184479" y="48747"/>
              <a:ext cx="3280976" cy="925689"/>
            </a:xfrm>
            <a:prstGeom prst="rect">
              <a:avLst/>
            </a:prstGeom>
          </p:spPr>
          <p:txBody>
            <a:bodyPr anchor="t" rtlCol="false" tIns="0" lIns="0" bIns="0" rIns="0">
              <a:spAutoFit/>
            </a:bodyPr>
            <a:lstStyle/>
            <a:p>
              <a:pPr algn="l">
                <a:lnSpc>
                  <a:spcPts val="5594"/>
                </a:lnSpc>
                <a:spcBef>
                  <a:spcPct val="0"/>
                </a:spcBef>
              </a:pPr>
              <a:r>
                <a:rPr lang="en-US" b="true" sz="3996">
                  <a:solidFill>
                    <a:srgbClr val="FFFFFF"/>
                  </a:solidFill>
                  <a:latin typeface="Poppins Semi-Bold"/>
                  <a:ea typeface="Poppins Semi-Bold"/>
                  <a:cs typeface="Poppins Semi-Bold"/>
                  <a:sym typeface="Poppins Semi-Bold"/>
                </a:rPr>
                <a:t>Parking</a:t>
              </a:r>
            </a:p>
          </p:txBody>
        </p:sp>
      </p:grpSp>
      <p:sp>
        <p:nvSpPr>
          <p:cNvPr name="TextBox 13" id="1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16</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DCD7F1"/>
        </a:solidFill>
      </p:bgPr>
    </p:bg>
    <p:spTree>
      <p:nvGrpSpPr>
        <p:cNvPr id="1" name=""/>
        <p:cNvGrpSpPr/>
        <p:nvPr/>
      </p:nvGrpSpPr>
      <p:grpSpPr>
        <a:xfrm>
          <a:off x="0" y="0"/>
          <a:ext cx="0" cy="0"/>
          <a:chOff x="0" y="0"/>
          <a:chExt cx="0" cy="0"/>
        </a:xfrm>
      </p:grpSpPr>
      <p:sp>
        <p:nvSpPr>
          <p:cNvPr name="Freeform 2" id="2"/>
          <p:cNvSpPr/>
          <p:nvPr/>
        </p:nvSpPr>
        <p:spPr>
          <a:xfrm flipH="false" flipV="false" rot="0">
            <a:off x="288738" y="2145166"/>
            <a:ext cx="10675826" cy="6601219"/>
          </a:xfrm>
          <a:custGeom>
            <a:avLst/>
            <a:gdLst/>
            <a:ahLst/>
            <a:cxnLst/>
            <a:rect r="r" b="b" t="t" l="l"/>
            <a:pathLst>
              <a:path h="6601219" w="10675826">
                <a:moveTo>
                  <a:pt x="0" y="0"/>
                </a:moveTo>
                <a:lnTo>
                  <a:pt x="10675826" y="0"/>
                </a:lnTo>
                <a:lnTo>
                  <a:pt x="10675826" y="6601219"/>
                </a:lnTo>
                <a:lnTo>
                  <a:pt x="0" y="6601219"/>
                </a:lnTo>
                <a:lnTo>
                  <a:pt x="0" y="0"/>
                </a:lnTo>
                <a:close/>
              </a:path>
            </a:pathLst>
          </a:custGeom>
          <a:blipFill>
            <a:blip r:embed="rId2"/>
            <a:stretch>
              <a:fillRect l="0" t="0" r="0" b="0"/>
            </a:stretch>
          </a:blipFill>
        </p:spPr>
      </p:sp>
      <p:sp>
        <p:nvSpPr>
          <p:cNvPr name="TextBox 3" id="3"/>
          <p:cNvSpPr txBox="true"/>
          <p:nvPr/>
        </p:nvSpPr>
        <p:spPr>
          <a:xfrm rot="0">
            <a:off x="288738" y="210339"/>
            <a:ext cx="9684076" cy="1276177"/>
          </a:xfrm>
          <a:prstGeom prst="rect">
            <a:avLst/>
          </a:prstGeom>
        </p:spPr>
        <p:txBody>
          <a:bodyPr anchor="t" rtlCol="false" tIns="0" lIns="0" bIns="0" rIns="0">
            <a:spAutoFit/>
          </a:bodyPr>
          <a:lstStyle/>
          <a:p>
            <a:pPr algn="l">
              <a:lnSpc>
                <a:spcPts val="9075"/>
              </a:lnSpc>
            </a:pPr>
            <a:r>
              <a:rPr lang="en-US" sz="8561" b="true">
                <a:solidFill>
                  <a:srgbClr val="000000"/>
                </a:solidFill>
                <a:latin typeface="Poppins Semi-Bold"/>
                <a:ea typeface="Poppins Semi-Bold"/>
                <a:cs typeface="Poppins Semi-Bold"/>
                <a:sym typeface="Poppins Semi-Bold"/>
              </a:rPr>
              <a:t>Market Research</a:t>
            </a:r>
          </a:p>
        </p:txBody>
      </p:sp>
      <p:grpSp>
        <p:nvGrpSpPr>
          <p:cNvPr name="Group 4" id="4"/>
          <p:cNvGrpSpPr/>
          <p:nvPr/>
        </p:nvGrpSpPr>
        <p:grpSpPr>
          <a:xfrm rot="0">
            <a:off x="11232828" y="1956617"/>
            <a:ext cx="6853955" cy="6789769"/>
            <a:chOff x="0" y="0"/>
            <a:chExt cx="1805157" cy="1788252"/>
          </a:xfrm>
        </p:grpSpPr>
        <p:sp>
          <p:nvSpPr>
            <p:cNvPr name="Freeform 5" id="5"/>
            <p:cNvSpPr/>
            <p:nvPr/>
          </p:nvSpPr>
          <p:spPr>
            <a:xfrm flipH="false" flipV="false" rot="0">
              <a:off x="0" y="0"/>
              <a:ext cx="1805157" cy="1788252"/>
            </a:xfrm>
            <a:custGeom>
              <a:avLst/>
              <a:gdLst/>
              <a:ahLst/>
              <a:cxnLst/>
              <a:rect r="r" b="b" t="t" l="l"/>
              <a:pathLst>
                <a:path h="1788252" w="1805157">
                  <a:moveTo>
                    <a:pt x="35016" y="0"/>
                  </a:moveTo>
                  <a:lnTo>
                    <a:pt x="1770141" y="0"/>
                  </a:lnTo>
                  <a:cubicBezTo>
                    <a:pt x="1789480" y="0"/>
                    <a:pt x="1805157" y="15677"/>
                    <a:pt x="1805157" y="35016"/>
                  </a:cubicBezTo>
                  <a:lnTo>
                    <a:pt x="1805157" y="1753236"/>
                  </a:lnTo>
                  <a:cubicBezTo>
                    <a:pt x="1805157" y="1762523"/>
                    <a:pt x="1801468" y="1771429"/>
                    <a:pt x="1794901" y="1777996"/>
                  </a:cubicBezTo>
                  <a:cubicBezTo>
                    <a:pt x="1788334" y="1784563"/>
                    <a:pt x="1779428" y="1788252"/>
                    <a:pt x="1770141" y="1788252"/>
                  </a:cubicBezTo>
                  <a:lnTo>
                    <a:pt x="35016" y="1788252"/>
                  </a:lnTo>
                  <a:cubicBezTo>
                    <a:pt x="15677" y="1788252"/>
                    <a:pt x="0" y="1772575"/>
                    <a:pt x="0" y="1753236"/>
                  </a:cubicBezTo>
                  <a:lnTo>
                    <a:pt x="0" y="35016"/>
                  </a:lnTo>
                  <a:cubicBezTo>
                    <a:pt x="0" y="15677"/>
                    <a:pt x="15677" y="0"/>
                    <a:pt x="35016" y="0"/>
                  </a:cubicBezTo>
                  <a:close/>
                </a:path>
              </a:pathLst>
            </a:custGeom>
            <a:solidFill>
              <a:srgbClr val="443880"/>
            </a:solidFill>
          </p:spPr>
        </p:sp>
        <p:sp>
          <p:nvSpPr>
            <p:cNvPr name="TextBox 6" id="6"/>
            <p:cNvSpPr txBox="true"/>
            <p:nvPr/>
          </p:nvSpPr>
          <p:spPr>
            <a:xfrm>
              <a:off x="0" y="-38100"/>
              <a:ext cx="1805157" cy="1826352"/>
            </a:xfrm>
            <a:prstGeom prst="rect">
              <a:avLst/>
            </a:prstGeom>
          </p:spPr>
          <p:txBody>
            <a:bodyPr anchor="ctr" rtlCol="false" tIns="50800" lIns="50800" bIns="50800" rIns="50800"/>
            <a:lstStyle/>
            <a:p>
              <a:pPr algn="ctr">
                <a:lnSpc>
                  <a:spcPts val="2659"/>
                </a:lnSpc>
                <a:spcBef>
                  <a:spcPct val="0"/>
                </a:spcBef>
              </a:pPr>
            </a:p>
          </p:txBody>
        </p:sp>
      </p:grpSp>
      <p:sp>
        <p:nvSpPr>
          <p:cNvPr name="TextBox 7" id="7"/>
          <p:cNvSpPr txBox="true"/>
          <p:nvPr/>
        </p:nvSpPr>
        <p:spPr>
          <a:xfrm rot="0">
            <a:off x="11232828" y="2107066"/>
            <a:ext cx="6293286" cy="7520940"/>
          </a:xfrm>
          <a:prstGeom prst="rect">
            <a:avLst/>
          </a:prstGeom>
        </p:spPr>
        <p:txBody>
          <a:bodyPr anchor="t" rtlCol="false" tIns="0" lIns="0" bIns="0" rIns="0">
            <a:spAutoFit/>
          </a:bodyPr>
          <a:lstStyle/>
          <a:p>
            <a:pPr algn="l" marL="518157" indent="-259078" lvl="1">
              <a:lnSpc>
                <a:spcPts val="3359"/>
              </a:lnSpc>
              <a:buFont typeface="Arial"/>
              <a:buChar char="•"/>
            </a:pPr>
            <a:r>
              <a:rPr lang="en-US" b="true" sz="2399">
                <a:solidFill>
                  <a:srgbClr val="FFFFFF"/>
                </a:solidFill>
                <a:latin typeface="Canva Sans Bold"/>
                <a:ea typeface="Canva Sans Bold"/>
                <a:cs typeface="Canva Sans Bold"/>
                <a:sym typeface="Canva Sans Bold"/>
              </a:rPr>
              <a:t>Reduced Operational Costs</a:t>
            </a:r>
            <a:r>
              <a:rPr lang="en-US" sz="2399">
                <a:solidFill>
                  <a:srgbClr val="FFFFFF"/>
                </a:solidFill>
                <a:latin typeface="Canva Sans"/>
                <a:ea typeface="Canva Sans"/>
                <a:cs typeface="Canva Sans"/>
                <a:sym typeface="Canva Sans"/>
              </a:rPr>
              <a:t>: </a:t>
            </a:r>
            <a:r>
              <a:rPr lang="en-US" sz="2399">
                <a:solidFill>
                  <a:srgbClr val="FFFFFF"/>
                </a:solidFill>
                <a:latin typeface="Canva Sans"/>
                <a:ea typeface="Canva Sans"/>
                <a:cs typeface="Canva Sans"/>
                <a:sym typeface="Canva Sans"/>
              </a:rPr>
              <a:t>AI-driven chatbots and automation reduce labor costs by up to 30%. </a:t>
            </a:r>
            <a:r>
              <a:rPr lang="en-US" sz="2399" u="sng">
                <a:solidFill>
                  <a:srgbClr val="FFFFFF"/>
                </a:solidFill>
                <a:latin typeface="Canva Sans"/>
                <a:ea typeface="Canva Sans"/>
                <a:cs typeface="Canva Sans"/>
                <a:sym typeface="Canva Sans"/>
              </a:rPr>
              <a:t>Gartner</a:t>
            </a:r>
          </a:p>
          <a:p>
            <a:pPr algn="l">
              <a:lnSpc>
                <a:spcPts val="3359"/>
              </a:lnSpc>
            </a:pPr>
          </a:p>
          <a:p>
            <a:pPr algn="l" marL="518157" indent="-259078" lvl="1">
              <a:lnSpc>
                <a:spcPts val="3359"/>
              </a:lnSpc>
              <a:buFont typeface="Arial"/>
              <a:buChar char="•"/>
            </a:pPr>
            <a:r>
              <a:rPr lang="en-US" b="true" sz="2399">
                <a:solidFill>
                  <a:srgbClr val="FFFFFF"/>
                </a:solidFill>
                <a:latin typeface="Canva Sans Bold"/>
                <a:ea typeface="Canva Sans Bold"/>
                <a:cs typeface="Canva Sans Bold"/>
                <a:sym typeface="Canva Sans Bold"/>
              </a:rPr>
              <a:t>Increased Sales Through Personalization: </a:t>
            </a:r>
            <a:r>
              <a:rPr lang="en-US" sz="2399">
                <a:solidFill>
                  <a:srgbClr val="FFFFFF"/>
                </a:solidFill>
                <a:latin typeface="Canva Sans"/>
                <a:ea typeface="Canva Sans"/>
                <a:cs typeface="Canva Sans"/>
                <a:sym typeface="Canva Sans"/>
              </a:rPr>
              <a:t>AI-powered recommendations boost conversion rates by 15-35%, driving higher sales and customer retention. </a:t>
            </a:r>
            <a:r>
              <a:rPr lang="en-US" sz="2399" u="sng">
                <a:solidFill>
                  <a:srgbClr val="FFFFFF"/>
                </a:solidFill>
                <a:latin typeface="Canva Sans"/>
                <a:ea typeface="Canva Sans"/>
                <a:cs typeface="Canva Sans"/>
                <a:sym typeface="Canva Sans"/>
                <a:hlinkClick r:id="rId3" tooltip="https://www.mckinsey.com"/>
              </a:rPr>
              <a:t>McKinsey</a:t>
            </a:r>
          </a:p>
          <a:p>
            <a:pPr algn="l">
              <a:lnSpc>
                <a:spcPts val="3359"/>
              </a:lnSpc>
            </a:pPr>
          </a:p>
          <a:p>
            <a:pPr algn="l" marL="518157" indent="-259078" lvl="1">
              <a:lnSpc>
                <a:spcPts val="3359"/>
              </a:lnSpc>
              <a:buFont typeface="Arial"/>
              <a:buChar char="•"/>
            </a:pPr>
            <a:r>
              <a:rPr lang="en-US" b="true" sz="2399">
                <a:solidFill>
                  <a:srgbClr val="FFFFFF"/>
                </a:solidFill>
                <a:latin typeface="Canva Sans Bold"/>
                <a:ea typeface="Canva Sans Bold"/>
                <a:cs typeface="Canva Sans Bold"/>
                <a:sym typeface="Canva Sans Bold"/>
              </a:rPr>
              <a:t>Optimized Inventory Management:</a:t>
            </a:r>
            <a:r>
              <a:rPr lang="en-US" sz="2399">
                <a:solidFill>
                  <a:srgbClr val="FFFFFF"/>
                </a:solidFill>
                <a:latin typeface="Canva Sans"/>
                <a:ea typeface="Canva Sans"/>
                <a:cs typeface="Canva Sans"/>
                <a:sym typeface="Canva Sans"/>
              </a:rPr>
              <a:t> AI-based demand forecasting reduces overstock costs by 20-50% and minimizes stockouts, ensuring efficient inventory. </a:t>
            </a:r>
            <a:r>
              <a:rPr lang="en-US" sz="2399" u="sng">
                <a:solidFill>
                  <a:srgbClr val="FFFFFF"/>
                </a:solidFill>
                <a:latin typeface="Canva Sans"/>
                <a:ea typeface="Canva Sans"/>
                <a:cs typeface="Canva Sans"/>
                <a:sym typeface="Canva Sans"/>
                <a:hlinkClick r:id="rId4" tooltip="https://www.bcg.com"/>
              </a:rPr>
              <a:t>Boston Consulting Group</a:t>
            </a:r>
          </a:p>
          <a:p>
            <a:pPr algn="l">
              <a:lnSpc>
                <a:spcPts val="3359"/>
              </a:lnSpc>
            </a:pPr>
          </a:p>
          <a:p>
            <a:pPr algn="l">
              <a:lnSpc>
                <a:spcPts val="3359"/>
              </a:lnSpc>
            </a:pPr>
          </a:p>
          <a:p>
            <a:pPr algn="l">
              <a:lnSpc>
                <a:spcPts val="3359"/>
              </a:lnSpc>
            </a:pPr>
          </a:p>
        </p:txBody>
      </p:sp>
      <p:grpSp>
        <p:nvGrpSpPr>
          <p:cNvPr name="Group 8" id="8"/>
          <p:cNvGrpSpPr/>
          <p:nvPr/>
        </p:nvGrpSpPr>
        <p:grpSpPr>
          <a:xfrm rot="0">
            <a:off x="0" y="9555697"/>
            <a:ext cx="4099091" cy="731303"/>
            <a:chOff x="0" y="0"/>
            <a:chExt cx="5465455" cy="975071"/>
          </a:xfrm>
        </p:grpSpPr>
        <p:grpSp>
          <p:nvGrpSpPr>
            <p:cNvPr name="Group 9" id="9"/>
            <p:cNvGrpSpPr/>
            <p:nvPr/>
          </p:nvGrpSpPr>
          <p:grpSpPr>
            <a:xfrm rot="0">
              <a:off x="0" y="0"/>
              <a:ext cx="975071" cy="97507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0" t="-446" r="0" b="0"/>
                </a:stretch>
              </a:blipFill>
            </p:spPr>
          </p:sp>
        </p:grpSp>
        <p:sp>
          <p:nvSpPr>
            <p:cNvPr name="TextBox 11" id="11"/>
            <p:cNvSpPr txBox="true"/>
            <p:nvPr/>
          </p:nvSpPr>
          <p:spPr>
            <a:xfrm rot="0">
              <a:off x="1141360" y="48747"/>
              <a:ext cx="2860498" cy="925689"/>
            </a:xfrm>
            <a:prstGeom prst="rect">
              <a:avLst/>
            </a:prstGeom>
          </p:spPr>
          <p:txBody>
            <a:bodyPr anchor="t" rtlCol="false" tIns="0" lIns="0" bIns="0" rIns="0">
              <a:spAutoFit/>
            </a:bodyPr>
            <a:lstStyle/>
            <a:p>
              <a:pPr algn="l">
                <a:lnSpc>
                  <a:spcPts val="5594"/>
                </a:lnSpc>
                <a:spcBef>
                  <a:spcPct val="0"/>
                </a:spcBef>
              </a:pPr>
              <a:r>
                <a:rPr lang="en-US" b="true" sz="3996">
                  <a:solidFill>
                    <a:srgbClr val="FFFFFF"/>
                  </a:solidFill>
                  <a:latin typeface="Poppins Bold"/>
                  <a:ea typeface="Poppins Bold"/>
                  <a:cs typeface="Poppins Bold"/>
                  <a:sym typeface="Poppins Bold"/>
                </a:rPr>
                <a:t>No</a:t>
              </a:r>
            </a:p>
          </p:txBody>
        </p:sp>
        <p:sp>
          <p:nvSpPr>
            <p:cNvPr name="TextBox 12" id="12"/>
            <p:cNvSpPr txBox="true"/>
            <p:nvPr/>
          </p:nvSpPr>
          <p:spPr>
            <a:xfrm rot="0">
              <a:off x="2184479" y="48747"/>
              <a:ext cx="3280976" cy="925689"/>
            </a:xfrm>
            <a:prstGeom prst="rect">
              <a:avLst/>
            </a:prstGeom>
          </p:spPr>
          <p:txBody>
            <a:bodyPr anchor="t" rtlCol="false" tIns="0" lIns="0" bIns="0" rIns="0">
              <a:spAutoFit/>
            </a:bodyPr>
            <a:lstStyle/>
            <a:p>
              <a:pPr algn="l">
                <a:lnSpc>
                  <a:spcPts val="5594"/>
                </a:lnSpc>
                <a:spcBef>
                  <a:spcPct val="0"/>
                </a:spcBef>
              </a:pPr>
              <a:r>
                <a:rPr lang="en-US" b="true" sz="3996">
                  <a:solidFill>
                    <a:srgbClr val="FFFFFF"/>
                  </a:solidFill>
                  <a:latin typeface="Poppins Semi-Bold"/>
                  <a:ea typeface="Poppins Semi-Bold"/>
                  <a:cs typeface="Poppins Semi-Bold"/>
                  <a:sym typeface="Poppins Semi-Bold"/>
                </a:rPr>
                <a:t>Parking</a:t>
              </a:r>
            </a:p>
          </p:txBody>
        </p:sp>
      </p:grpSp>
      <p:sp>
        <p:nvSpPr>
          <p:cNvPr name="TextBox 13" id="1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17</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DCD7F1"/>
        </a:solidFill>
      </p:bgPr>
    </p:bg>
    <p:spTree>
      <p:nvGrpSpPr>
        <p:cNvPr id="1" name=""/>
        <p:cNvGrpSpPr/>
        <p:nvPr/>
      </p:nvGrpSpPr>
      <p:grpSpPr>
        <a:xfrm>
          <a:off x="0" y="0"/>
          <a:ext cx="0" cy="0"/>
          <a:chOff x="0" y="0"/>
          <a:chExt cx="0" cy="0"/>
        </a:xfrm>
      </p:grpSpPr>
      <p:grpSp>
        <p:nvGrpSpPr>
          <p:cNvPr name="Group 2" id="2"/>
          <p:cNvGrpSpPr/>
          <p:nvPr/>
        </p:nvGrpSpPr>
        <p:grpSpPr>
          <a:xfrm rot="0">
            <a:off x="336016" y="1028700"/>
            <a:ext cx="17745372" cy="1263142"/>
            <a:chOff x="0" y="0"/>
            <a:chExt cx="4673678" cy="332679"/>
          </a:xfrm>
        </p:grpSpPr>
        <p:sp>
          <p:nvSpPr>
            <p:cNvPr name="Freeform 3" id="3"/>
            <p:cNvSpPr/>
            <p:nvPr/>
          </p:nvSpPr>
          <p:spPr>
            <a:xfrm flipH="false" flipV="false" rot="0">
              <a:off x="0" y="0"/>
              <a:ext cx="4673678" cy="332679"/>
            </a:xfrm>
            <a:custGeom>
              <a:avLst/>
              <a:gdLst/>
              <a:ahLst/>
              <a:cxnLst/>
              <a:rect r="r" b="b" t="t" l="l"/>
              <a:pathLst>
                <a:path h="332679" w="4673678">
                  <a:moveTo>
                    <a:pt x="22250" y="0"/>
                  </a:moveTo>
                  <a:lnTo>
                    <a:pt x="4651428" y="0"/>
                  </a:lnTo>
                  <a:cubicBezTo>
                    <a:pt x="4663716" y="0"/>
                    <a:pt x="4673678" y="9962"/>
                    <a:pt x="4673678" y="22250"/>
                  </a:cubicBezTo>
                  <a:lnTo>
                    <a:pt x="4673678" y="310429"/>
                  </a:lnTo>
                  <a:cubicBezTo>
                    <a:pt x="4673678" y="322718"/>
                    <a:pt x="4663716" y="332679"/>
                    <a:pt x="4651428" y="332679"/>
                  </a:cubicBezTo>
                  <a:lnTo>
                    <a:pt x="22250" y="332679"/>
                  </a:lnTo>
                  <a:cubicBezTo>
                    <a:pt x="9962" y="332679"/>
                    <a:pt x="0" y="322718"/>
                    <a:pt x="0" y="310429"/>
                  </a:cubicBezTo>
                  <a:lnTo>
                    <a:pt x="0" y="22250"/>
                  </a:lnTo>
                  <a:cubicBezTo>
                    <a:pt x="0" y="9962"/>
                    <a:pt x="9962" y="0"/>
                    <a:pt x="22250" y="0"/>
                  </a:cubicBezTo>
                  <a:close/>
                </a:path>
              </a:pathLst>
            </a:custGeom>
            <a:solidFill>
              <a:srgbClr val="7061BD"/>
            </a:solidFill>
          </p:spPr>
        </p:sp>
        <p:sp>
          <p:nvSpPr>
            <p:cNvPr name="TextBox 4" id="4"/>
            <p:cNvSpPr txBox="true"/>
            <p:nvPr/>
          </p:nvSpPr>
          <p:spPr>
            <a:xfrm>
              <a:off x="0" y="76200"/>
              <a:ext cx="4673678" cy="256479"/>
            </a:xfrm>
            <a:prstGeom prst="rect">
              <a:avLst/>
            </a:prstGeom>
          </p:spPr>
          <p:txBody>
            <a:bodyPr anchor="t" rtlCol="false" tIns="50800" lIns="50800" bIns="50800" rIns="50800"/>
            <a:lstStyle/>
            <a:p>
              <a:pPr algn="l">
                <a:lnSpc>
                  <a:spcPts val="1415"/>
                </a:lnSpc>
              </a:pPr>
              <a:r>
                <a:rPr lang="en-US" sz="2022" b="true">
                  <a:solidFill>
                    <a:srgbClr val="FFFFFF"/>
                  </a:solidFill>
                  <a:latin typeface="Poppins Medium"/>
                  <a:ea typeface="Poppins Medium"/>
                  <a:cs typeface="Poppins Medium"/>
                  <a:sym typeface="Poppins Medium"/>
                </a:rPr>
                <a:t>  </a:t>
              </a:r>
              <a:r>
                <a:rPr lang="en-US" sz="2022" u="sng" b="true">
                  <a:solidFill>
                    <a:srgbClr val="E9C46A"/>
                  </a:solidFill>
                  <a:latin typeface="Poppins Medium"/>
                  <a:ea typeface="Poppins Medium"/>
                  <a:cs typeface="Poppins Medium"/>
                  <a:sym typeface="Poppins Medium"/>
                </a:rPr>
                <a:t>Target Customer</a:t>
              </a:r>
              <a:r>
                <a:rPr lang="en-US" sz="2022" b="true">
                  <a:solidFill>
                    <a:srgbClr val="E9C46A"/>
                  </a:solidFill>
                  <a:latin typeface="Poppins Medium"/>
                  <a:ea typeface="Poppins Medium"/>
                  <a:cs typeface="Poppins Medium"/>
                  <a:sym typeface="Poppins Medium"/>
                </a:rPr>
                <a:t>:</a:t>
              </a:r>
              <a:r>
                <a:rPr lang="en-US" sz="2022" b="true">
                  <a:solidFill>
                    <a:srgbClr val="FFFFFF"/>
                  </a:solidFill>
                  <a:latin typeface="Poppins Medium"/>
                  <a:ea typeface="Poppins Medium"/>
                  <a:cs typeface="Poppins Medium"/>
                  <a:sym typeface="Poppins Medium"/>
                </a:rPr>
                <a:t> </a:t>
              </a:r>
            </a:p>
            <a:p>
              <a:pPr algn="l">
                <a:lnSpc>
                  <a:spcPts val="2629"/>
                </a:lnSpc>
              </a:pPr>
            </a:p>
            <a:p>
              <a:pPr algn="l" marL="436687" indent="-218344" lvl="1">
                <a:lnSpc>
                  <a:spcPts val="2629"/>
                </a:lnSpc>
                <a:buFont typeface="Arial"/>
                <a:buChar char="•"/>
              </a:pPr>
              <a:r>
                <a:rPr lang="en-US" sz="2022">
                  <a:solidFill>
                    <a:srgbClr val="FFFFFF"/>
                  </a:solidFill>
                  <a:latin typeface="Poppins"/>
                  <a:ea typeface="Poppins"/>
                  <a:cs typeface="Poppins"/>
                  <a:sym typeface="Poppins"/>
                </a:rPr>
                <a:t>Current customers on the ecommerce platform</a:t>
              </a:r>
            </a:p>
          </p:txBody>
        </p:sp>
      </p:grpSp>
      <p:sp>
        <p:nvSpPr>
          <p:cNvPr name="TextBox 5" id="5"/>
          <p:cNvSpPr txBox="true"/>
          <p:nvPr/>
        </p:nvSpPr>
        <p:spPr>
          <a:xfrm rot="0">
            <a:off x="775888" y="-114300"/>
            <a:ext cx="17512112" cy="1038184"/>
          </a:xfrm>
          <a:prstGeom prst="rect">
            <a:avLst/>
          </a:prstGeom>
        </p:spPr>
        <p:txBody>
          <a:bodyPr anchor="t" rtlCol="false" tIns="0" lIns="0" bIns="0" rIns="0">
            <a:spAutoFit/>
          </a:bodyPr>
          <a:lstStyle/>
          <a:p>
            <a:pPr algn="l">
              <a:lnSpc>
                <a:spcPts val="8487"/>
              </a:lnSpc>
            </a:pPr>
            <a:r>
              <a:rPr lang="en-US" sz="6062" b="true">
                <a:solidFill>
                  <a:srgbClr val="231F20"/>
                </a:solidFill>
                <a:latin typeface="Canva Sans Bold"/>
                <a:ea typeface="Canva Sans Bold"/>
                <a:cs typeface="Canva Sans Bold"/>
                <a:sym typeface="Canva Sans Bold"/>
              </a:rPr>
              <a:t>Value Proposition</a:t>
            </a:r>
          </a:p>
        </p:txBody>
      </p:sp>
      <p:grpSp>
        <p:nvGrpSpPr>
          <p:cNvPr name="Group 6" id="6"/>
          <p:cNvGrpSpPr/>
          <p:nvPr/>
        </p:nvGrpSpPr>
        <p:grpSpPr>
          <a:xfrm rot="0">
            <a:off x="336016" y="2396617"/>
            <a:ext cx="17745372" cy="3006598"/>
            <a:chOff x="0" y="0"/>
            <a:chExt cx="4673678" cy="791861"/>
          </a:xfrm>
        </p:grpSpPr>
        <p:sp>
          <p:nvSpPr>
            <p:cNvPr name="Freeform 7" id="7"/>
            <p:cNvSpPr/>
            <p:nvPr/>
          </p:nvSpPr>
          <p:spPr>
            <a:xfrm flipH="false" flipV="false" rot="0">
              <a:off x="0" y="0"/>
              <a:ext cx="4673678" cy="791861"/>
            </a:xfrm>
            <a:custGeom>
              <a:avLst/>
              <a:gdLst/>
              <a:ahLst/>
              <a:cxnLst/>
              <a:rect r="r" b="b" t="t" l="l"/>
              <a:pathLst>
                <a:path h="791861" w="4673678">
                  <a:moveTo>
                    <a:pt x="22250" y="0"/>
                  </a:moveTo>
                  <a:lnTo>
                    <a:pt x="4651428" y="0"/>
                  </a:lnTo>
                  <a:cubicBezTo>
                    <a:pt x="4663716" y="0"/>
                    <a:pt x="4673678" y="9962"/>
                    <a:pt x="4673678" y="22250"/>
                  </a:cubicBezTo>
                  <a:lnTo>
                    <a:pt x="4673678" y="769611"/>
                  </a:lnTo>
                  <a:cubicBezTo>
                    <a:pt x="4673678" y="781900"/>
                    <a:pt x="4663716" y="791861"/>
                    <a:pt x="4651428" y="791861"/>
                  </a:cubicBezTo>
                  <a:lnTo>
                    <a:pt x="22250" y="791861"/>
                  </a:lnTo>
                  <a:cubicBezTo>
                    <a:pt x="9962" y="791861"/>
                    <a:pt x="0" y="781900"/>
                    <a:pt x="0" y="769611"/>
                  </a:cubicBezTo>
                  <a:lnTo>
                    <a:pt x="0" y="22250"/>
                  </a:lnTo>
                  <a:cubicBezTo>
                    <a:pt x="0" y="9962"/>
                    <a:pt x="9962" y="0"/>
                    <a:pt x="22250" y="0"/>
                  </a:cubicBezTo>
                  <a:close/>
                </a:path>
              </a:pathLst>
            </a:custGeom>
            <a:solidFill>
              <a:srgbClr val="7061BD"/>
            </a:solidFill>
          </p:spPr>
        </p:sp>
        <p:sp>
          <p:nvSpPr>
            <p:cNvPr name="TextBox 8" id="8"/>
            <p:cNvSpPr txBox="true"/>
            <p:nvPr/>
          </p:nvSpPr>
          <p:spPr>
            <a:xfrm>
              <a:off x="0" y="66675"/>
              <a:ext cx="4673678" cy="725186"/>
            </a:xfrm>
            <a:prstGeom prst="rect">
              <a:avLst/>
            </a:prstGeom>
          </p:spPr>
          <p:txBody>
            <a:bodyPr anchor="t" rtlCol="false" tIns="50800" lIns="50800" bIns="50800" rIns="50800"/>
            <a:lstStyle/>
            <a:p>
              <a:pPr algn="l">
                <a:lnSpc>
                  <a:spcPts val="1400"/>
                </a:lnSpc>
              </a:pPr>
              <a:r>
                <a:rPr lang="en-US" sz="2000" b="true">
                  <a:solidFill>
                    <a:srgbClr val="FFFFFF"/>
                  </a:solidFill>
                  <a:latin typeface="Poppins Medium"/>
                  <a:ea typeface="Poppins Medium"/>
                  <a:cs typeface="Poppins Medium"/>
                  <a:sym typeface="Poppins Medium"/>
                </a:rPr>
                <a:t>   </a:t>
              </a:r>
              <a:r>
                <a:rPr lang="en-US" sz="2000" u="sng" b="true">
                  <a:solidFill>
                    <a:srgbClr val="E9C46A"/>
                  </a:solidFill>
                  <a:latin typeface="Poppins Medium"/>
                  <a:ea typeface="Poppins Medium"/>
                  <a:cs typeface="Poppins Medium"/>
                  <a:sym typeface="Poppins Medium"/>
                </a:rPr>
                <a:t>Pain Points</a:t>
              </a:r>
              <a:r>
                <a:rPr lang="en-US" sz="2000" b="true">
                  <a:solidFill>
                    <a:srgbClr val="E9C46A"/>
                  </a:solidFill>
                  <a:latin typeface="Poppins Medium"/>
                  <a:ea typeface="Poppins Medium"/>
                  <a:cs typeface="Poppins Medium"/>
                  <a:sym typeface="Poppins Medium"/>
                </a:rPr>
                <a:t>:</a:t>
              </a:r>
              <a:r>
                <a:rPr lang="en-US" sz="2000" b="true">
                  <a:solidFill>
                    <a:srgbClr val="FFFFFF"/>
                  </a:solidFill>
                  <a:latin typeface="Poppins Medium"/>
                  <a:ea typeface="Poppins Medium"/>
                  <a:cs typeface="Poppins Medium"/>
                  <a:sym typeface="Poppins Medium"/>
                </a:rPr>
                <a:t> </a:t>
              </a:r>
            </a:p>
            <a:p>
              <a:pPr algn="l">
                <a:lnSpc>
                  <a:spcPts val="2600"/>
                </a:lnSpc>
              </a:pPr>
            </a:p>
            <a:p>
              <a:pPr algn="l" marL="431801" indent="-215900" lvl="1">
                <a:lnSpc>
                  <a:spcPts val="2600"/>
                </a:lnSpc>
                <a:buFont typeface="Arial"/>
                <a:buChar char="•"/>
              </a:pPr>
              <a:r>
                <a:rPr lang="en-US" sz="2000">
                  <a:solidFill>
                    <a:srgbClr val="FFFFFF"/>
                  </a:solidFill>
                  <a:latin typeface="Poppins"/>
                  <a:ea typeface="Poppins"/>
                  <a:cs typeface="Poppins"/>
                  <a:sym typeface="Poppins"/>
                </a:rPr>
                <a:t>Lack of personalized customer support leading to reduced loyalty of customers on the platform</a:t>
              </a:r>
            </a:p>
            <a:p>
              <a:pPr algn="l">
                <a:lnSpc>
                  <a:spcPts val="1170"/>
                </a:lnSpc>
              </a:pPr>
            </a:p>
            <a:p>
              <a:pPr algn="l" marL="431801" indent="-215900" lvl="1">
                <a:lnSpc>
                  <a:spcPts val="2600"/>
                </a:lnSpc>
                <a:buFont typeface="Arial"/>
                <a:buChar char="•"/>
              </a:pPr>
              <a:r>
                <a:rPr lang="en-US" sz="2000">
                  <a:solidFill>
                    <a:srgbClr val="FFFFFF"/>
                  </a:solidFill>
                  <a:latin typeface="Poppins"/>
                  <a:ea typeface="Poppins"/>
                  <a:cs typeface="Poppins"/>
                  <a:sym typeface="Poppins"/>
                </a:rPr>
                <a:t>Lack of efficient product installation support leading to negative experiences</a:t>
              </a:r>
            </a:p>
            <a:p>
              <a:pPr algn="l">
                <a:lnSpc>
                  <a:spcPts val="1170"/>
                </a:lnSpc>
              </a:pPr>
            </a:p>
            <a:p>
              <a:pPr algn="l" marL="431801" indent="-215900" lvl="1">
                <a:lnSpc>
                  <a:spcPts val="2600"/>
                </a:lnSpc>
                <a:buFont typeface="Arial"/>
                <a:buChar char="•"/>
              </a:pPr>
              <a:r>
                <a:rPr lang="en-US" sz="2000">
                  <a:solidFill>
                    <a:srgbClr val="FFFFFF"/>
                  </a:solidFill>
                  <a:latin typeface="Poppins"/>
                  <a:ea typeface="Poppins"/>
                  <a:cs typeface="Poppins"/>
                  <a:sym typeface="Poppins"/>
                </a:rPr>
                <a:t>Lack of efficient search personalization at the user’s preference leading to time-consuming browsing experience</a:t>
              </a:r>
            </a:p>
            <a:p>
              <a:pPr algn="l">
                <a:lnSpc>
                  <a:spcPts val="1170"/>
                </a:lnSpc>
              </a:pPr>
            </a:p>
            <a:p>
              <a:pPr algn="l" marL="431801" indent="-215900" lvl="1">
                <a:lnSpc>
                  <a:spcPts val="2600"/>
                </a:lnSpc>
                <a:buFont typeface="Arial"/>
                <a:buChar char="•"/>
              </a:pPr>
              <a:r>
                <a:rPr lang="en-US" sz="2000">
                  <a:solidFill>
                    <a:srgbClr val="FFFFFF"/>
                  </a:solidFill>
                  <a:latin typeface="Poppins"/>
                  <a:ea typeface="Poppins"/>
                  <a:cs typeface="Poppins"/>
                  <a:sym typeface="Poppins"/>
                </a:rPr>
                <a:t>Lack of efficient order tracking and management systems, leading to frustration and dissatisfaction</a:t>
              </a:r>
            </a:p>
            <a:p>
              <a:pPr algn="l">
                <a:lnSpc>
                  <a:spcPts val="1170"/>
                </a:lnSpc>
              </a:pPr>
            </a:p>
            <a:p>
              <a:pPr algn="l" marL="431801" indent="-215900" lvl="1">
                <a:lnSpc>
                  <a:spcPts val="2600"/>
                </a:lnSpc>
                <a:buFont typeface="Arial"/>
                <a:buChar char="•"/>
              </a:pPr>
              <a:r>
                <a:rPr lang="en-US" sz="2000">
                  <a:solidFill>
                    <a:srgbClr val="FFFFFF"/>
                  </a:solidFill>
                  <a:latin typeface="Poppins"/>
                  <a:ea typeface="Poppins"/>
                  <a:cs typeface="Poppins"/>
                  <a:sym typeface="Poppins"/>
                </a:rPr>
                <a:t>Lack of a one-stop tool to address customer queries</a:t>
              </a:r>
            </a:p>
          </p:txBody>
        </p:sp>
      </p:grpSp>
      <p:grpSp>
        <p:nvGrpSpPr>
          <p:cNvPr name="Group 9" id="9"/>
          <p:cNvGrpSpPr/>
          <p:nvPr/>
        </p:nvGrpSpPr>
        <p:grpSpPr>
          <a:xfrm rot="0">
            <a:off x="336016" y="5507990"/>
            <a:ext cx="11932362" cy="4016248"/>
            <a:chOff x="0" y="0"/>
            <a:chExt cx="3142680" cy="1057777"/>
          </a:xfrm>
        </p:grpSpPr>
        <p:sp>
          <p:nvSpPr>
            <p:cNvPr name="Freeform 10" id="10"/>
            <p:cNvSpPr/>
            <p:nvPr/>
          </p:nvSpPr>
          <p:spPr>
            <a:xfrm flipH="false" flipV="false" rot="0">
              <a:off x="0" y="0"/>
              <a:ext cx="3142679" cy="1057777"/>
            </a:xfrm>
            <a:custGeom>
              <a:avLst/>
              <a:gdLst/>
              <a:ahLst/>
              <a:cxnLst/>
              <a:rect r="r" b="b" t="t" l="l"/>
              <a:pathLst>
                <a:path h="1057777" w="3142679">
                  <a:moveTo>
                    <a:pt x="33090" y="0"/>
                  </a:moveTo>
                  <a:lnTo>
                    <a:pt x="3109590" y="0"/>
                  </a:lnTo>
                  <a:cubicBezTo>
                    <a:pt x="3118366" y="0"/>
                    <a:pt x="3126782" y="3486"/>
                    <a:pt x="3132988" y="9692"/>
                  </a:cubicBezTo>
                  <a:cubicBezTo>
                    <a:pt x="3139193" y="15897"/>
                    <a:pt x="3142679" y="24314"/>
                    <a:pt x="3142679" y="33090"/>
                  </a:cubicBezTo>
                  <a:lnTo>
                    <a:pt x="3142679" y="1024688"/>
                  </a:lnTo>
                  <a:cubicBezTo>
                    <a:pt x="3142679" y="1042963"/>
                    <a:pt x="3127865" y="1057777"/>
                    <a:pt x="3109590" y="1057777"/>
                  </a:cubicBezTo>
                  <a:lnTo>
                    <a:pt x="33090" y="1057777"/>
                  </a:lnTo>
                  <a:cubicBezTo>
                    <a:pt x="14815" y="1057777"/>
                    <a:pt x="0" y="1042963"/>
                    <a:pt x="0" y="1024688"/>
                  </a:cubicBezTo>
                  <a:lnTo>
                    <a:pt x="0" y="33090"/>
                  </a:lnTo>
                  <a:cubicBezTo>
                    <a:pt x="0" y="14815"/>
                    <a:pt x="14815" y="0"/>
                    <a:pt x="33090" y="0"/>
                  </a:cubicBezTo>
                  <a:close/>
                </a:path>
              </a:pathLst>
            </a:custGeom>
            <a:solidFill>
              <a:srgbClr val="7061BD"/>
            </a:solidFill>
          </p:spPr>
        </p:sp>
        <p:sp>
          <p:nvSpPr>
            <p:cNvPr name="TextBox 11" id="11"/>
            <p:cNvSpPr txBox="true"/>
            <p:nvPr/>
          </p:nvSpPr>
          <p:spPr>
            <a:xfrm>
              <a:off x="0" y="66675"/>
              <a:ext cx="3142680" cy="991102"/>
            </a:xfrm>
            <a:prstGeom prst="rect">
              <a:avLst/>
            </a:prstGeom>
          </p:spPr>
          <p:txBody>
            <a:bodyPr anchor="t" rtlCol="false" tIns="50800" lIns="50800" bIns="50800" rIns="50800"/>
            <a:lstStyle/>
            <a:p>
              <a:pPr algn="l">
                <a:lnSpc>
                  <a:spcPts val="1400"/>
                </a:lnSpc>
              </a:pPr>
              <a:r>
                <a:rPr lang="en-US" sz="2000" b="true">
                  <a:solidFill>
                    <a:srgbClr val="FFFFFF"/>
                  </a:solidFill>
                  <a:latin typeface="Poppins Medium"/>
                  <a:ea typeface="Poppins Medium"/>
                  <a:cs typeface="Poppins Medium"/>
                  <a:sym typeface="Poppins Medium"/>
                </a:rPr>
                <a:t>   </a:t>
              </a:r>
              <a:r>
                <a:rPr lang="en-US" sz="2000" u="sng" b="true">
                  <a:solidFill>
                    <a:srgbClr val="E9C46A"/>
                  </a:solidFill>
                  <a:latin typeface="Poppins Medium"/>
                  <a:ea typeface="Poppins Medium"/>
                  <a:cs typeface="Poppins Medium"/>
                  <a:sym typeface="Poppins Medium"/>
                </a:rPr>
                <a:t>Features</a:t>
              </a:r>
              <a:r>
                <a:rPr lang="en-US" sz="2000" b="true">
                  <a:solidFill>
                    <a:srgbClr val="E9C46A"/>
                  </a:solidFill>
                  <a:latin typeface="Poppins Medium"/>
                  <a:ea typeface="Poppins Medium"/>
                  <a:cs typeface="Poppins Medium"/>
                  <a:sym typeface="Poppins Medium"/>
                </a:rPr>
                <a:t>:</a:t>
              </a:r>
              <a:r>
                <a:rPr lang="en-US" sz="2000" b="true">
                  <a:solidFill>
                    <a:srgbClr val="FFFFFF"/>
                  </a:solidFill>
                  <a:latin typeface="Poppins Medium"/>
                  <a:ea typeface="Poppins Medium"/>
                  <a:cs typeface="Poppins Medium"/>
                  <a:sym typeface="Poppins Medium"/>
                </a:rPr>
                <a:t> </a:t>
              </a:r>
            </a:p>
            <a:p>
              <a:pPr algn="l">
                <a:lnSpc>
                  <a:spcPts val="2600"/>
                </a:lnSpc>
              </a:pPr>
            </a:p>
            <a:p>
              <a:pPr algn="l" marL="431801" indent="-215900" lvl="1">
                <a:lnSpc>
                  <a:spcPts val="2600"/>
                </a:lnSpc>
                <a:buFont typeface="Arial"/>
                <a:buChar char="•"/>
              </a:pPr>
              <a:r>
                <a:rPr lang="en-US" sz="2000">
                  <a:solidFill>
                    <a:srgbClr val="FFFFFF"/>
                  </a:solidFill>
                  <a:latin typeface="Poppins"/>
                  <a:ea typeface="Poppins"/>
                  <a:cs typeface="Poppins"/>
                  <a:sym typeface="Poppins"/>
                </a:rPr>
                <a:t>Integrated AI Chatbot with sentiment analysis to provide personalized customer support</a:t>
              </a:r>
            </a:p>
            <a:p>
              <a:pPr algn="l">
                <a:lnSpc>
                  <a:spcPts val="1170"/>
                </a:lnSpc>
              </a:pPr>
            </a:p>
            <a:p>
              <a:pPr algn="l" marL="431801" indent="-215900" lvl="1">
                <a:lnSpc>
                  <a:spcPts val="2600"/>
                </a:lnSpc>
                <a:buFont typeface="Arial"/>
                <a:buChar char="•"/>
              </a:pPr>
              <a:r>
                <a:rPr lang="en-US" sz="2000">
                  <a:solidFill>
                    <a:srgbClr val="FFFFFF"/>
                  </a:solidFill>
                  <a:latin typeface="Poppins"/>
                  <a:ea typeface="Poppins"/>
                  <a:cs typeface="Poppins"/>
                  <a:sym typeface="Poppins"/>
                </a:rPr>
                <a:t>Efficient AI driven Agentic RAG + LLM models to assist customers in efficient product installation support</a:t>
              </a:r>
            </a:p>
            <a:p>
              <a:pPr algn="l">
                <a:lnSpc>
                  <a:spcPts val="1170"/>
                </a:lnSpc>
              </a:pPr>
            </a:p>
            <a:p>
              <a:pPr algn="l" marL="431801" indent="-215900" lvl="1">
                <a:lnSpc>
                  <a:spcPts val="2600"/>
                </a:lnSpc>
                <a:buFont typeface="Arial"/>
                <a:buChar char="•"/>
              </a:pPr>
              <a:r>
                <a:rPr lang="en-US" sz="2000">
                  <a:solidFill>
                    <a:srgbClr val="FFFFFF"/>
                  </a:solidFill>
                  <a:latin typeface="Poppins"/>
                  <a:ea typeface="Poppins"/>
                  <a:cs typeface="Poppins"/>
                  <a:sym typeface="Poppins"/>
                </a:rPr>
                <a:t>Personalized search experience using AI, AI Governance, and flexibility of control over data</a:t>
              </a:r>
            </a:p>
            <a:p>
              <a:pPr algn="l">
                <a:lnSpc>
                  <a:spcPts val="1170"/>
                </a:lnSpc>
              </a:pPr>
            </a:p>
            <a:p>
              <a:pPr algn="l" marL="431801" indent="-215900" lvl="1">
                <a:lnSpc>
                  <a:spcPts val="2600"/>
                </a:lnSpc>
                <a:buFont typeface="Arial"/>
                <a:buChar char="•"/>
              </a:pPr>
              <a:r>
                <a:rPr lang="en-US" sz="2000">
                  <a:solidFill>
                    <a:srgbClr val="FFFFFF"/>
                  </a:solidFill>
                  <a:latin typeface="Poppins"/>
                  <a:ea typeface="Poppins"/>
                  <a:cs typeface="Poppins"/>
                  <a:sym typeface="Poppins"/>
                </a:rPr>
                <a:t>Real-time order tracking and automatic delay order notification to the customers. Proactive recommendations and support for returns, refunds, and order cancellations.</a:t>
              </a:r>
            </a:p>
            <a:p>
              <a:pPr algn="l" marL="431801" indent="-215900" lvl="1">
                <a:lnSpc>
                  <a:spcPts val="2600"/>
                </a:lnSpc>
                <a:buFont typeface="Arial"/>
                <a:buChar char="•"/>
              </a:pPr>
              <a:r>
                <a:rPr lang="en-US" sz="2000">
                  <a:solidFill>
                    <a:srgbClr val="FFFFFF"/>
                  </a:solidFill>
                  <a:latin typeface="Poppins"/>
                  <a:ea typeface="Poppins"/>
                  <a:cs typeface="Poppins"/>
                  <a:sym typeface="Poppins"/>
                </a:rPr>
                <a:t>Maintenance of AI Governance to retrieve and use only data required for the completion of the task</a:t>
              </a:r>
            </a:p>
          </p:txBody>
        </p:sp>
      </p:grpSp>
      <p:grpSp>
        <p:nvGrpSpPr>
          <p:cNvPr name="Group 12" id="12"/>
          <p:cNvGrpSpPr/>
          <p:nvPr/>
        </p:nvGrpSpPr>
        <p:grpSpPr>
          <a:xfrm rot="0">
            <a:off x="12531824" y="5507990"/>
            <a:ext cx="5549565" cy="4016248"/>
            <a:chOff x="0" y="0"/>
            <a:chExt cx="1461614" cy="1057777"/>
          </a:xfrm>
        </p:grpSpPr>
        <p:sp>
          <p:nvSpPr>
            <p:cNvPr name="Freeform 13" id="13"/>
            <p:cNvSpPr/>
            <p:nvPr/>
          </p:nvSpPr>
          <p:spPr>
            <a:xfrm flipH="false" flipV="false" rot="0">
              <a:off x="0" y="0"/>
              <a:ext cx="1461614" cy="1057777"/>
            </a:xfrm>
            <a:custGeom>
              <a:avLst/>
              <a:gdLst/>
              <a:ahLst/>
              <a:cxnLst/>
              <a:rect r="r" b="b" t="t" l="l"/>
              <a:pathLst>
                <a:path h="1057777" w="1461614">
                  <a:moveTo>
                    <a:pt x="71148" y="0"/>
                  </a:moveTo>
                  <a:lnTo>
                    <a:pt x="1390466" y="0"/>
                  </a:lnTo>
                  <a:cubicBezTo>
                    <a:pt x="1429760" y="0"/>
                    <a:pt x="1461614" y="31854"/>
                    <a:pt x="1461614" y="71148"/>
                  </a:cubicBezTo>
                  <a:lnTo>
                    <a:pt x="1461614" y="986630"/>
                  </a:lnTo>
                  <a:cubicBezTo>
                    <a:pt x="1461614" y="1025923"/>
                    <a:pt x="1429760" y="1057777"/>
                    <a:pt x="1390466" y="1057777"/>
                  </a:cubicBezTo>
                  <a:lnTo>
                    <a:pt x="71148" y="1057777"/>
                  </a:lnTo>
                  <a:cubicBezTo>
                    <a:pt x="31854" y="1057777"/>
                    <a:pt x="0" y="1025923"/>
                    <a:pt x="0" y="986630"/>
                  </a:cubicBezTo>
                  <a:lnTo>
                    <a:pt x="0" y="71148"/>
                  </a:lnTo>
                  <a:cubicBezTo>
                    <a:pt x="0" y="31854"/>
                    <a:pt x="31854" y="0"/>
                    <a:pt x="71148" y="0"/>
                  </a:cubicBezTo>
                  <a:close/>
                </a:path>
              </a:pathLst>
            </a:custGeom>
            <a:solidFill>
              <a:srgbClr val="7061BD"/>
            </a:solidFill>
          </p:spPr>
        </p:sp>
        <p:sp>
          <p:nvSpPr>
            <p:cNvPr name="TextBox 14" id="14"/>
            <p:cNvSpPr txBox="true"/>
            <p:nvPr/>
          </p:nvSpPr>
          <p:spPr>
            <a:xfrm>
              <a:off x="0" y="66675"/>
              <a:ext cx="1461614" cy="991102"/>
            </a:xfrm>
            <a:prstGeom prst="rect">
              <a:avLst/>
            </a:prstGeom>
          </p:spPr>
          <p:txBody>
            <a:bodyPr anchor="t" rtlCol="false" tIns="50800" lIns="50800" bIns="50800" rIns="50800"/>
            <a:lstStyle/>
            <a:p>
              <a:pPr algn="l">
                <a:lnSpc>
                  <a:spcPts val="1400"/>
                </a:lnSpc>
              </a:pPr>
              <a:r>
                <a:rPr lang="en-US" sz="2000" b="true">
                  <a:solidFill>
                    <a:srgbClr val="FFFFFF"/>
                  </a:solidFill>
                  <a:latin typeface="Poppins Medium"/>
                  <a:ea typeface="Poppins Medium"/>
                  <a:cs typeface="Poppins Medium"/>
                  <a:sym typeface="Poppins Medium"/>
                </a:rPr>
                <a:t>  </a:t>
              </a:r>
              <a:r>
                <a:rPr lang="en-US" sz="2000" b="true">
                  <a:solidFill>
                    <a:srgbClr val="F4A262"/>
                  </a:solidFill>
                  <a:latin typeface="Poppins Medium"/>
                  <a:ea typeface="Poppins Medium"/>
                  <a:cs typeface="Poppins Medium"/>
                  <a:sym typeface="Poppins Medium"/>
                </a:rPr>
                <a:t> </a:t>
              </a:r>
              <a:r>
                <a:rPr lang="en-US" sz="2000" u="sng" b="true">
                  <a:solidFill>
                    <a:srgbClr val="F4A261"/>
                  </a:solidFill>
                  <a:latin typeface="Poppins Medium"/>
                  <a:ea typeface="Poppins Medium"/>
                  <a:cs typeface="Poppins Medium"/>
                  <a:sym typeface="Poppins Medium"/>
                </a:rPr>
                <a:t>Market</a:t>
              </a:r>
              <a:r>
                <a:rPr lang="en-US" sz="2000" b="true">
                  <a:solidFill>
                    <a:srgbClr val="E9C46A"/>
                  </a:solidFill>
                  <a:latin typeface="Poppins Medium"/>
                  <a:ea typeface="Poppins Medium"/>
                  <a:cs typeface="Poppins Medium"/>
                  <a:sym typeface="Poppins Medium"/>
                </a:rPr>
                <a:t>:</a:t>
              </a:r>
              <a:r>
                <a:rPr lang="en-US" sz="2000" b="true">
                  <a:solidFill>
                    <a:srgbClr val="FFFFFF"/>
                  </a:solidFill>
                  <a:latin typeface="Poppins Medium"/>
                  <a:ea typeface="Poppins Medium"/>
                  <a:cs typeface="Poppins Medium"/>
                  <a:sym typeface="Poppins Medium"/>
                </a:rPr>
                <a:t> </a:t>
              </a:r>
            </a:p>
            <a:p>
              <a:pPr algn="l">
                <a:lnSpc>
                  <a:spcPts val="2600"/>
                </a:lnSpc>
              </a:pPr>
            </a:p>
            <a:p>
              <a:pPr algn="l">
                <a:lnSpc>
                  <a:spcPts val="2600"/>
                </a:lnSpc>
              </a:pPr>
              <a:r>
                <a:rPr lang="en-US" sz="2000" b="true">
                  <a:solidFill>
                    <a:srgbClr val="FFFFFF"/>
                  </a:solidFill>
                  <a:latin typeface="Poppins Bold"/>
                  <a:ea typeface="Poppins Bold"/>
                  <a:cs typeface="Poppins Bold"/>
                  <a:sym typeface="Poppins Bold"/>
                </a:rPr>
                <a:t>1) </a:t>
              </a:r>
              <a:r>
                <a:rPr lang="en-US" sz="2000" u="sng" b="true">
                  <a:solidFill>
                    <a:srgbClr val="FFFFFF"/>
                  </a:solidFill>
                  <a:latin typeface="Poppins Bold"/>
                  <a:ea typeface="Poppins Bold"/>
                  <a:cs typeface="Poppins Bold"/>
                  <a:sym typeface="Poppins Bold"/>
                </a:rPr>
                <a:t>Global ecommerce market</a:t>
              </a:r>
              <a:r>
                <a:rPr lang="en-US" sz="2000" b="true">
                  <a:solidFill>
                    <a:srgbClr val="FFFFFF"/>
                  </a:solidFill>
                  <a:latin typeface="Poppins Bold"/>
                  <a:ea typeface="Poppins Bold"/>
                  <a:cs typeface="Poppins Bold"/>
                  <a:sym typeface="Poppins Bold"/>
                </a:rPr>
                <a:t>: </a:t>
              </a:r>
            </a:p>
            <a:p>
              <a:pPr algn="l">
                <a:lnSpc>
                  <a:spcPts val="2600"/>
                </a:lnSpc>
              </a:pPr>
              <a:r>
                <a:rPr lang="en-US" sz="2000">
                  <a:solidFill>
                    <a:srgbClr val="FFFFFF"/>
                  </a:solidFill>
                  <a:latin typeface="Poppins"/>
                  <a:ea typeface="Poppins"/>
                  <a:cs typeface="Poppins"/>
                  <a:sym typeface="Poppins"/>
                </a:rPr>
                <a:t>$6 trillion market, expected to reach $8 trillion by 2026 with a growth-rate (CAGR) of 10-15%</a:t>
              </a:r>
            </a:p>
            <a:p>
              <a:pPr algn="l">
                <a:lnSpc>
                  <a:spcPts val="1170"/>
                </a:lnSpc>
              </a:pPr>
            </a:p>
            <a:p>
              <a:pPr algn="l">
                <a:lnSpc>
                  <a:spcPts val="2600"/>
                </a:lnSpc>
              </a:pPr>
              <a:r>
                <a:rPr lang="en-US" sz="2000" b="true">
                  <a:solidFill>
                    <a:srgbClr val="FFFFFF"/>
                  </a:solidFill>
                  <a:latin typeface="Poppins Bold"/>
                  <a:ea typeface="Poppins Bold"/>
                  <a:cs typeface="Poppins Bold"/>
                  <a:sym typeface="Poppins Bold"/>
                </a:rPr>
                <a:t>2) </a:t>
              </a:r>
              <a:r>
                <a:rPr lang="en-US" sz="2000" u="sng" b="true">
                  <a:solidFill>
                    <a:srgbClr val="FFFFFF"/>
                  </a:solidFill>
                  <a:latin typeface="Poppins Bold"/>
                  <a:ea typeface="Poppins Bold"/>
                  <a:cs typeface="Poppins Bold"/>
                  <a:sym typeface="Poppins Bold"/>
                </a:rPr>
                <a:t>US eCommerce market</a:t>
              </a:r>
              <a:r>
                <a:rPr lang="en-US" sz="2000" b="true">
                  <a:solidFill>
                    <a:srgbClr val="FFFFFF"/>
                  </a:solidFill>
                  <a:latin typeface="Poppins Bold"/>
                  <a:ea typeface="Poppins Bold"/>
                  <a:cs typeface="Poppins Bold"/>
                  <a:sym typeface="Poppins Bold"/>
                </a:rPr>
                <a:t>:</a:t>
              </a:r>
            </a:p>
            <a:p>
              <a:pPr algn="l">
                <a:lnSpc>
                  <a:spcPts val="2600"/>
                </a:lnSpc>
              </a:pPr>
              <a:r>
                <a:rPr lang="en-US" sz="2000">
                  <a:solidFill>
                    <a:srgbClr val="FFFFFF"/>
                  </a:solidFill>
                  <a:latin typeface="Poppins"/>
                  <a:ea typeface="Poppins"/>
                  <a:cs typeface="Poppins"/>
                  <a:sym typeface="Poppins"/>
                </a:rPr>
                <a:t>$1.26 trillion market, expected to reach $1.55 trillion by 2026 at a CAGR of 10-12%</a:t>
              </a:r>
            </a:p>
            <a:p>
              <a:pPr algn="l">
                <a:lnSpc>
                  <a:spcPts val="1170"/>
                </a:lnSpc>
              </a:pPr>
            </a:p>
            <a:p>
              <a:pPr algn="l">
                <a:lnSpc>
                  <a:spcPts val="2600"/>
                </a:lnSpc>
              </a:pPr>
              <a:r>
                <a:rPr lang="en-US" sz="2000" b="true">
                  <a:solidFill>
                    <a:srgbClr val="FFFFFF"/>
                  </a:solidFill>
                  <a:latin typeface="Poppins Bold"/>
                  <a:ea typeface="Poppins Bold"/>
                  <a:cs typeface="Poppins Bold"/>
                  <a:sym typeface="Poppins Bold"/>
                </a:rPr>
                <a:t>2) US </a:t>
              </a:r>
              <a:r>
                <a:rPr lang="en-US" sz="2000" u="sng" b="true">
                  <a:solidFill>
                    <a:srgbClr val="FFFFFF"/>
                  </a:solidFill>
                  <a:latin typeface="Poppins Bold"/>
                  <a:ea typeface="Poppins Bold"/>
                  <a:cs typeface="Poppins Bold"/>
                  <a:sym typeface="Poppins Bold"/>
                </a:rPr>
                <a:t>eCommerce Chatbot Market</a:t>
              </a:r>
              <a:r>
                <a:rPr lang="en-US" sz="2000" b="true">
                  <a:solidFill>
                    <a:srgbClr val="FFFFFF"/>
                  </a:solidFill>
                  <a:latin typeface="Poppins Bold"/>
                  <a:ea typeface="Poppins Bold"/>
                  <a:cs typeface="Poppins Bold"/>
                  <a:sym typeface="Poppins Bold"/>
                </a:rPr>
                <a:t>:</a:t>
              </a:r>
            </a:p>
            <a:p>
              <a:pPr algn="l">
                <a:lnSpc>
                  <a:spcPts val="2600"/>
                </a:lnSpc>
              </a:pPr>
              <a:r>
                <a:rPr lang="en-US" sz="2000" b="true">
                  <a:solidFill>
                    <a:srgbClr val="FFFFFF"/>
                  </a:solidFill>
                  <a:latin typeface="Poppins Bold"/>
                  <a:ea typeface="Poppins Bold"/>
                  <a:cs typeface="Poppins Bold"/>
                  <a:sym typeface="Poppins Bold"/>
                </a:rPr>
                <a:t>   </a:t>
              </a:r>
              <a:r>
                <a:rPr lang="en-US" sz="2000">
                  <a:solidFill>
                    <a:srgbClr val="FFFFFF"/>
                  </a:solidFill>
                  <a:latin typeface="Poppins"/>
                  <a:ea typeface="Poppins"/>
                  <a:cs typeface="Poppins"/>
                  <a:sym typeface="Poppins"/>
                </a:rPr>
                <a:t>Approx. $4 billion by 2026</a:t>
              </a:r>
            </a:p>
          </p:txBody>
        </p:sp>
      </p:grpSp>
      <p:grpSp>
        <p:nvGrpSpPr>
          <p:cNvPr name="Group 15" id="15"/>
          <p:cNvGrpSpPr/>
          <p:nvPr/>
        </p:nvGrpSpPr>
        <p:grpSpPr>
          <a:xfrm rot="0">
            <a:off x="0" y="9555697"/>
            <a:ext cx="4099091" cy="731303"/>
            <a:chOff x="0" y="0"/>
            <a:chExt cx="5465455" cy="975071"/>
          </a:xfrm>
        </p:grpSpPr>
        <p:grpSp>
          <p:nvGrpSpPr>
            <p:cNvPr name="Group 16" id="16"/>
            <p:cNvGrpSpPr/>
            <p:nvPr/>
          </p:nvGrpSpPr>
          <p:grpSpPr>
            <a:xfrm rot="0">
              <a:off x="0" y="0"/>
              <a:ext cx="975071" cy="975071"/>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0" t="-446" r="0" b="0"/>
                </a:stretch>
              </a:blipFill>
            </p:spPr>
          </p:sp>
        </p:grpSp>
        <p:sp>
          <p:nvSpPr>
            <p:cNvPr name="TextBox 18" id="18"/>
            <p:cNvSpPr txBox="true"/>
            <p:nvPr/>
          </p:nvSpPr>
          <p:spPr>
            <a:xfrm rot="0">
              <a:off x="1141360" y="48747"/>
              <a:ext cx="2860498" cy="925689"/>
            </a:xfrm>
            <a:prstGeom prst="rect">
              <a:avLst/>
            </a:prstGeom>
          </p:spPr>
          <p:txBody>
            <a:bodyPr anchor="t" rtlCol="false" tIns="0" lIns="0" bIns="0" rIns="0">
              <a:spAutoFit/>
            </a:bodyPr>
            <a:lstStyle/>
            <a:p>
              <a:pPr algn="l">
                <a:lnSpc>
                  <a:spcPts val="5594"/>
                </a:lnSpc>
                <a:spcBef>
                  <a:spcPct val="0"/>
                </a:spcBef>
              </a:pPr>
              <a:r>
                <a:rPr lang="en-US" b="true" sz="3996">
                  <a:solidFill>
                    <a:srgbClr val="FFFFFF"/>
                  </a:solidFill>
                  <a:latin typeface="Poppins Bold"/>
                  <a:ea typeface="Poppins Bold"/>
                  <a:cs typeface="Poppins Bold"/>
                  <a:sym typeface="Poppins Bold"/>
                </a:rPr>
                <a:t>No</a:t>
              </a:r>
            </a:p>
          </p:txBody>
        </p:sp>
        <p:sp>
          <p:nvSpPr>
            <p:cNvPr name="TextBox 19" id="19"/>
            <p:cNvSpPr txBox="true"/>
            <p:nvPr/>
          </p:nvSpPr>
          <p:spPr>
            <a:xfrm rot="0">
              <a:off x="2184479" y="48747"/>
              <a:ext cx="3280976" cy="925689"/>
            </a:xfrm>
            <a:prstGeom prst="rect">
              <a:avLst/>
            </a:prstGeom>
          </p:spPr>
          <p:txBody>
            <a:bodyPr anchor="t" rtlCol="false" tIns="0" lIns="0" bIns="0" rIns="0">
              <a:spAutoFit/>
            </a:bodyPr>
            <a:lstStyle/>
            <a:p>
              <a:pPr algn="l">
                <a:lnSpc>
                  <a:spcPts val="5594"/>
                </a:lnSpc>
                <a:spcBef>
                  <a:spcPct val="0"/>
                </a:spcBef>
              </a:pPr>
              <a:r>
                <a:rPr lang="en-US" b="true" sz="3996">
                  <a:solidFill>
                    <a:srgbClr val="FFFFFF"/>
                  </a:solidFill>
                  <a:latin typeface="Poppins Semi-Bold"/>
                  <a:ea typeface="Poppins Semi-Bold"/>
                  <a:cs typeface="Poppins Semi-Bold"/>
                  <a:sym typeface="Poppins Semi-Bold"/>
                </a:rPr>
                <a:t>Parking</a:t>
              </a:r>
            </a:p>
          </p:txBody>
        </p:sp>
      </p:grpSp>
      <p:sp>
        <p:nvSpPr>
          <p:cNvPr name="TextBox 20" id="20"/>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18</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8B7BDB"/>
        </a:solidFill>
      </p:bgPr>
    </p:bg>
    <p:spTree>
      <p:nvGrpSpPr>
        <p:cNvPr id="1" name=""/>
        <p:cNvGrpSpPr/>
        <p:nvPr/>
      </p:nvGrpSpPr>
      <p:grpSpPr>
        <a:xfrm>
          <a:off x="0" y="0"/>
          <a:ext cx="0" cy="0"/>
          <a:chOff x="0" y="0"/>
          <a:chExt cx="0" cy="0"/>
        </a:xfrm>
      </p:grpSpPr>
      <p:sp>
        <p:nvSpPr>
          <p:cNvPr name="Freeform 2" id="2"/>
          <p:cNvSpPr/>
          <p:nvPr/>
        </p:nvSpPr>
        <p:spPr>
          <a:xfrm flipH="false" flipV="false" rot="0">
            <a:off x="17013239" y="3323952"/>
            <a:ext cx="492121" cy="896804"/>
          </a:xfrm>
          <a:custGeom>
            <a:avLst/>
            <a:gdLst/>
            <a:ahLst/>
            <a:cxnLst/>
            <a:rect r="r" b="b" t="t" l="l"/>
            <a:pathLst>
              <a:path h="896804" w="492121">
                <a:moveTo>
                  <a:pt x="0" y="0"/>
                </a:moveTo>
                <a:lnTo>
                  <a:pt x="492122" y="0"/>
                </a:lnTo>
                <a:lnTo>
                  <a:pt x="492122" y="896805"/>
                </a:lnTo>
                <a:lnTo>
                  <a:pt x="0" y="8968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5400000">
            <a:off x="6439194" y="-7687515"/>
            <a:ext cx="7039414" cy="20668930"/>
            <a:chOff x="0" y="0"/>
            <a:chExt cx="1854002" cy="5443669"/>
          </a:xfrm>
        </p:grpSpPr>
        <p:sp>
          <p:nvSpPr>
            <p:cNvPr name="Freeform 4" id="4"/>
            <p:cNvSpPr/>
            <p:nvPr/>
          </p:nvSpPr>
          <p:spPr>
            <a:xfrm flipH="false" flipV="false" rot="0">
              <a:off x="0" y="0"/>
              <a:ext cx="1854002" cy="5443669"/>
            </a:xfrm>
            <a:custGeom>
              <a:avLst/>
              <a:gdLst/>
              <a:ahLst/>
              <a:cxnLst/>
              <a:rect r="r" b="b" t="t" l="l"/>
              <a:pathLst>
                <a:path h="5443669" w="1854002">
                  <a:moveTo>
                    <a:pt x="34094" y="0"/>
                  </a:moveTo>
                  <a:lnTo>
                    <a:pt x="1819908" y="0"/>
                  </a:lnTo>
                  <a:cubicBezTo>
                    <a:pt x="1828951" y="0"/>
                    <a:pt x="1837623" y="3592"/>
                    <a:pt x="1844016" y="9986"/>
                  </a:cubicBezTo>
                  <a:cubicBezTo>
                    <a:pt x="1850410" y="16380"/>
                    <a:pt x="1854002" y="25051"/>
                    <a:pt x="1854002" y="34094"/>
                  </a:cubicBezTo>
                  <a:lnTo>
                    <a:pt x="1854002" y="5409575"/>
                  </a:lnTo>
                  <a:cubicBezTo>
                    <a:pt x="1854002" y="5428405"/>
                    <a:pt x="1838738" y="5443669"/>
                    <a:pt x="1819908" y="5443669"/>
                  </a:cubicBezTo>
                  <a:lnTo>
                    <a:pt x="34094" y="5443669"/>
                  </a:lnTo>
                  <a:cubicBezTo>
                    <a:pt x="15264" y="5443669"/>
                    <a:pt x="0" y="5428405"/>
                    <a:pt x="0" y="5409575"/>
                  </a:cubicBezTo>
                  <a:lnTo>
                    <a:pt x="0" y="34094"/>
                  </a:lnTo>
                  <a:cubicBezTo>
                    <a:pt x="0" y="15264"/>
                    <a:pt x="15264" y="0"/>
                    <a:pt x="34094" y="0"/>
                  </a:cubicBezTo>
                  <a:close/>
                </a:path>
              </a:pathLst>
            </a:custGeom>
            <a:solidFill>
              <a:srgbClr val="443880"/>
            </a:solidFill>
          </p:spPr>
        </p:sp>
        <p:sp>
          <p:nvSpPr>
            <p:cNvPr name="TextBox 5" id="5"/>
            <p:cNvSpPr txBox="true"/>
            <p:nvPr/>
          </p:nvSpPr>
          <p:spPr>
            <a:xfrm>
              <a:off x="0" y="-38100"/>
              <a:ext cx="1854002" cy="5481769"/>
            </a:xfrm>
            <a:prstGeom prst="rect">
              <a:avLst/>
            </a:prstGeom>
          </p:spPr>
          <p:txBody>
            <a:bodyPr anchor="ctr" rtlCol="false" tIns="50800" lIns="50800" bIns="50800" rIns="50800"/>
            <a:lstStyle/>
            <a:p>
              <a:pPr algn="ctr">
                <a:lnSpc>
                  <a:spcPts val="2659"/>
                </a:lnSpc>
                <a:spcBef>
                  <a:spcPct val="0"/>
                </a:spcBef>
              </a:pPr>
            </a:p>
          </p:txBody>
        </p:sp>
      </p:grpSp>
      <p:graphicFrame>
        <p:nvGraphicFramePr>
          <p:cNvPr name="Table 6" id="6"/>
          <p:cNvGraphicFramePr>
            <a:graphicFrameLocks noGrp="true"/>
          </p:cNvGraphicFramePr>
          <p:nvPr/>
        </p:nvGraphicFramePr>
        <p:xfrm>
          <a:off x="624366" y="1034606"/>
          <a:ext cx="17277121" cy="8620125"/>
        </p:xfrm>
        <a:graphic>
          <a:graphicData uri="http://schemas.openxmlformats.org/drawingml/2006/table">
            <a:tbl>
              <a:tblPr/>
              <a:tblGrid>
                <a:gridCol w="2876408"/>
                <a:gridCol w="2876408"/>
                <a:gridCol w="2876408"/>
                <a:gridCol w="2876408"/>
                <a:gridCol w="2876408"/>
                <a:gridCol w="2895083"/>
              </a:tblGrid>
              <a:tr h="1032121">
                <a:tc>
                  <a:txBody>
                    <a:bodyPr anchor="t" rtlCol="false"/>
                    <a:lstStyle/>
                    <a:p>
                      <a:pPr algn="l">
                        <a:lnSpc>
                          <a:spcPts val="2939"/>
                        </a:lnSpc>
                        <a:defRPr/>
                      </a:pPr>
                      <a:r>
                        <a:rPr lang="en-US" sz="2099" b="true">
                          <a:solidFill>
                            <a:srgbClr val="F8F8F8"/>
                          </a:solidFill>
                          <a:latin typeface="Overpass Ultra-Bold"/>
                          <a:ea typeface="Overpass Ultra-Bold"/>
                          <a:cs typeface="Overpass Ultra-Bold"/>
                          <a:sym typeface="Overpass Ultra-Bold"/>
                        </a:rPr>
                        <a:t>Quarter</a:t>
                      </a:r>
                      <a:endParaRPr lang="en-US" sz="1100"/>
                    </a:p>
                  </a:txBody>
                  <a:tcPr marL="95250" marR="95250" marT="95250" marB="9525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FF5757"/>
                    </a:solidFill>
                  </a:tcPr>
                </a:tc>
                <a:tc>
                  <a:txBody>
                    <a:bodyPr anchor="t" rtlCol="false"/>
                    <a:lstStyle/>
                    <a:p>
                      <a:pPr algn="l">
                        <a:lnSpc>
                          <a:spcPts val="2939"/>
                        </a:lnSpc>
                        <a:defRPr/>
                      </a:pPr>
                      <a:r>
                        <a:rPr lang="en-US" sz="2099" b="true">
                          <a:solidFill>
                            <a:srgbClr val="F8F8F8"/>
                          </a:solidFill>
                          <a:latin typeface="Overpass Ultra-Bold"/>
                          <a:ea typeface="Overpass Ultra-Bold"/>
                          <a:cs typeface="Overpass Ultra-Bold"/>
                          <a:sym typeface="Overpass Ultra-Bold"/>
                        </a:rPr>
                        <a:t>Objective</a:t>
                      </a:r>
                      <a:endParaRPr lang="en-US" sz="1100"/>
                    </a:p>
                  </a:txBody>
                  <a:tcPr marL="95250" marR="95250" marT="95250" marB="9525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FF5757"/>
                    </a:solidFill>
                  </a:tcPr>
                </a:tc>
                <a:tc>
                  <a:txBody>
                    <a:bodyPr anchor="t" rtlCol="false"/>
                    <a:lstStyle/>
                    <a:p>
                      <a:pPr algn="l">
                        <a:lnSpc>
                          <a:spcPts val="2939"/>
                        </a:lnSpc>
                        <a:defRPr/>
                      </a:pPr>
                      <a:r>
                        <a:rPr lang="en-US" sz="2099" b="true">
                          <a:solidFill>
                            <a:srgbClr val="F8F8F8"/>
                          </a:solidFill>
                          <a:latin typeface="Overpass Ultra-Bold"/>
                          <a:ea typeface="Overpass Ultra-Bold"/>
                          <a:cs typeface="Overpass Ultra-Bold"/>
                          <a:sym typeface="Overpass Ultra-Bold"/>
                        </a:rPr>
                        <a:t>Key Features</a:t>
                      </a:r>
                      <a:endParaRPr lang="en-US" sz="1100"/>
                    </a:p>
                  </a:txBody>
                  <a:tcPr marL="95250" marR="95250" marT="95250" marB="9525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FF5757"/>
                    </a:solidFill>
                  </a:tcPr>
                </a:tc>
                <a:tc>
                  <a:txBody>
                    <a:bodyPr anchor="t" rtlCol="false"/>
                    <a:lstStyle/>
                    <a:p>
                      <a:pPr algn="l">
                        <a:lnSpc>
                          <a:spcPts val="2939"/>
                        </a:lnSpc>
                        <a:defRPr/>
                      </a:pPr>
                      <a:r>
                        <a:rPr lang="en-US" sz="2099" b="true">
                          <a:solidFill>
                            <a:srgbClr val="F8F8F8"/>
                          </a:solidFill>
                          <a:latin typeface="Overpass Ultra-Bold"/>
                          <a:ea typeface="Overpass Ultra-Bold"/>
                          <a:cs typeface="Overpass Ultra-Bold"/>
                          <a:sym typeface="Overpass Ultra-Bold"/>
                        </a:rPr>
                        <a:t>Milestones</a:t>
                      </a:r>
                      <a:endParaRPr lang="en-US" sz="1100"/>
                    </a:p>
                  </a:txBody>
                  <a:tcPr marL="95250" marR="95250" marT="95250" marB="9525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FF5757"/>
                    </a:solidFill>
                  </a:tcPr>
                </a:tc>
                <a:tc>
                  <a:txBody>
                    <a:bodyPr anchor="t" rtlCol="false"/>
                    <a:lstStyle/>
                    <a:p>
                      <a:pPr algn="ctr">
                        <a:lnSpc>
                          <a:spcPts val="2939"/>
                        </a:lnSpc>
                        <a:defRPr/>
                      </a:pPr>
                      <a:r>
                        <a:rPr lang="en-US" sz="2099" b="true">
                          <a:solidFill>
                            <a:srgbClr val="F8F8F8"/>
                          </a:solidFill>
                          <a:latin typeface="Overpass Ultra-Bold"/>
                          <a:ea typeface="Overpass Ultra-Bold"/>
                          <a:cs typeface="Overpass Ultra-Bold"/>
                          <a:sym typeface="Overpass Ultra-Bold"/>
                        </a:rPr>
                        <a:t>Estimated Cost ($)</a:t>
                      </a:r>
                      <a:endParaRPr lang="en-US" sz="1100"/>
                    </a:p>
                  </a:txBody>
                  <a:tcPr marL="95250" marR="95250" marT="95250" marB="9525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FF5757"/>
                    </a:solidFill>
                  </a:tcPr>
                </a:tc>
                <a:tc>
                  <a:txBody>
                    <a:bodyPr anchor="t" rtlCol="false"/>
                    <a:lstStyle/>
                    <a:p>
                      <a:pPr algn="ctr">
                        <a:lnSpc>
                          <a:spcPts val="2939"/>
                        </a:lnSpc>
                        <a:defRPr/>
                      </a:pPr>
                      <a:r>
                        <a:rPr lang="en-US" sz="2099" b="true">
                          <a:solidFill>
                            <a:srgbClr val="F8F8F8"/>
                          </a:solidFill>
                          <a:latin typeface="Overpass Ultra-Bold"/>
                          <a:ea typeface="Overpass Ultra-Bold"/>
                          <a:cs typeface="Overpass Ultra-Bold"/>
                          <a:sym typeface="Overpass Ultra-Bold"/>
                        </a:rPr>
                        <a:t>Expected Return/Savings ($)</a:t>
                      </a:r>
                      <a:endParaRPr lang="en-US" sz="1100"/>
                    </a:p>
                  </a:txBody>
                  <a:tcPr marL="95250" marR="95250" marT="95250" marB="9525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FF5757"/>
                    </a:solidFill>
                  </a:tcPr>
                </a:tc>
              </a:tr>
              <a:tr h="1165915">
                <a:tc>
                  <a:txBody>
                    <a:bodyPr anchor="t" rtlCol="false"/>
                    <a:lstStyle/>
                    <a:p>
                      <a:pPr algn="ctr">
                        <a:lnSpc>
                          <a:spcPts val="2379"/>
                        </a:lnSpc>
                        <a:defRPr/>
                      </a:pPr>
                      <a:r>
                        <a:rPr lang="en-US" sz="1699">
                          <a:solidFill>
                            <a:srgbClr val="000000"/>
                          </a:solidFill>
                          <a:latin typeface="Overpass"/>
                          <a:ea typeface="Overpass"/>
                          <a:cs typeface="Overpass"/>
                          <a:sym typeface="Overpass"/>
                        </a:rPr>
                        <a:t>Q1</a:t>
                      </a:r>
                      <a:endParaRPr lang="en-US" sz="1100"/>
                    </a:p>
                  </a:txBody>
                  <a:tcPr marL="95250" marR="95250" marT="95250" marB="9525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B7ACF4"/>
                    </a:solidFill>
                  </a:tcPr>
                </a:tc>
                <a:tc>
                  <a:txBody>
                    <a:bodyPr anchor="t" rtlCol="false"/>
                    <a:lstStyle/>
                    <a:p>
                      <a:pPr algn="l">
                        <a:lnSpc>
                          <a:spcPts val="2379"/>
                        </a:lnSpc>
                        <a:defRPr/>
                      </a:pPr>
                      <a:r>
                        <a:rPr lang="en-US" sz="1699" b="true">
                          <a:solidFill>
                            <a:srgbClr val="000000"/>
                          </a:solidFill>
                          <a:latin typeface="Overpass Ultra-Bold"/>
                          <a:ea typeface="Overpass Ultra-Bold"/>
                          <a:cs typeface="Overpass Ultra-Bold"/>
                          <a:sym typeface="Overpass Ultra-Bold"/>
                        </a:rPr>
                        <a:t>Establish Core Foundation for Chatbot</a:t>
                      </a:r>
                      <a:endParaRPr lang="en-US" sz="1100"/>
                    </a:p>
                  </a:txBody>
                  <a:tcPr marL="95250" marR="95250" marT="95250" marB="9525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B7ACF4"/>
                    </a:solidFill>
                  </a:tcPr>
                </a:tc>
                <a:tc>
                  <a:txBody>
                    <a:bodyPr anchor="t" rtlCol="false"/>
                    <a:lstStyle/>
                    <a:p>
                      <a:pPr algn="l">
                        <a:lnSpc>
                          <a:spcPts val="2379"/>
                        </a:lnSpc>
                        <a:defRPr/>
                      </a:pPr>
                      <a:r>
                        <a:rPr lang="en-US" sz="1699">
                          <a:solidFill>
                            <a:srgbClr val="000000"/>
                          </a:solidFill>
                          <a:latin typeface="Overpass"/>
                          <a:ea typeface="Overpass"/>
                          <a:cs typeface="Overpass"/>
                          <a:sym typeface="Overpass"/>
                        </a:rPr>
                        <a:t>Core Chatbot, Basic Order Tracking, Analytics Setup (MVP)</a:t>
                      </a:r>
                      <a:endParaRPr lang="en-US" sz="1100"/>
                    </a:p>
                  </a:txBody>
                  <a:tcPr marL="95250" marR="95250" marT="95250" marB="9525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B7ACF4"/>
                    </a:solidFill>
                  </a:tcPr>
                </a:tc>
                <a:tc>
                  <a:txBody>
                    <a:bodyPr anchor="t" rtlCol="false"/>
                    <a:lstStyle/>
                    <a:p>
                      <a:pPr algn="l">
                        <a:lnSpc>
                          <a:spcPts val="2379"/>
                        </a:lnSpc>
                        <a:defRPr/>
                      </a:pPr>
                      <a:r>
                        <a:rPr lang="en-US" sz="1699">
                          <a:solidFill>
                            <a:srgbClr val="000000"/>
                          </a:solidFill>
                          <a:latin typeface="Overpass"/>
                          <a:ea typeface="Overpass"/>
                          <a:cs typeface="Overpass"/>
                          <a:sym typeface="Overpass"/>
                        </a:rPr>
                        <a:t>Functional Chatbot, Initial Analytics Operational</a:t>
                      </a:r>
                      <a:endParaRPr lang="en-US" sz="1100"/>
                    </a:p>
                  </a:txBody>
                  <a:tcPr marL="95250" marR="95250" marT="95250" marB="9525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B7ACF4"/>
                    </a:solidFill>
                  </a:tcPr>
                </a:tc>
                <a:tc>
                  <a:txBody>
                    <a:bodyPr anchor="t" rtlCol="false"/>
                    <a:lstStyle/>
                    <a:p>
                      <a:pPr algn="ctr">
                        <a:lnSpc>
                          <a:spcPts val="2379"/>
                        </a:lnSpc>
                        <a:defRPr/>
                      </a:pPr>
                      <a:r>
                        <a:rPr lang="en-US" sz="1699" b="true">
                          <a:solidFill>
                            <a:srgbClr val="000000"/>
                          </a:solidFill>
                          <a:latin typeface="Overpass Ultra-Bold"/>
                          <a:ea typeface="Overpass Ultra-Bold"/>
                          <a:cs typeface="Overpass Ultra-Bold"/>
                          <a:sym typeface="Overpass Ultra-Bold"/>
                        </a:rPr>
                        <a:t>50,000</a:t>
                      </a:r>
                      <a:endParaRPr lang="en-US" sz="1100"/>
                    </a:p>
                  </a:txBody>
                  <a:tcPr marL="95250" marR="95250" marT="95250" marB="9525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E46270"/>
                    </a:solidFill>
                  </a:tcPr>
                </a:tc>
                <a:tc>
                  <a:txBody>
                    <a:bodyPr anchor="t" rtlCol="false"/>
                    <a:lstStyle/>
                    <a:p>
                      <a:pPr algn="ctr">
                        <a:lnSpc>
                          <a:spcPts val="2379"/>
                        </a:lnSpc>
                        <a:defRPr/>
                      </a:pPr>
                      <a:r>
                        <a:rPr lang="en-US" sz="1699" b="true">
                          <a:solidFill>
                            <a:srgbClr val="000000"/>
                          </a:solidFill>
                          <a:latin typeface="Overpass Ultra-Bold"/>
                          <a:ea typeface="Overpass Ultra-Bold"/>
                          <a:cs typeface="Overpass Ultra-Bold"/>
                          <a:sym typeface="Overpass Ultra-Bold"/>
                        </a:rPr>
                        <a:t>0</a:t>
                      </a:r>
                      <a:endParaRPr lang="en-US" sz="1100"/>
                    </a:p>
                  </a:txBody>
                  <a:tcPr marL="95250" marR="95250" marT="95250" marB="9525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B7ACF4"/>
                    </a:solidFill>
                  </a:tcPr>
                </a:tc>
              </a:tr>
              <a:tr h="1165915">
                <a:tc>
                  <a:txBody>
                    <a:bodyPr anchor="t" rtlCol="false"/>
                    <a:lstStyle/>
                    <a:p>
                      <a:pPr algn="ctr">
                        <a:lnSpc>
                          <a:spcPts val="2379"/>
                        </a:lnSpc>
                        <a:defRPr/>
                      </a:pPr>
                      <a:r>
                        <a:rPr lang="en-US" sz="1699">
                          <a:solidFill>
                            <a:srgbClr val="000000"/>
                          </a:solidFill>
                          <a:latin typeface="Overpass"/>
                          <a:ea typeface="Overpass"/>
                          <a:cs typeface="Overpass"/>
                          <a:sym typeface="Overpass"/>
                        </a:rPr>
                        <a:t>Q2</a:t>
                      </a:r>
                      <a:endParaRPr lang="en-US" sz="1100"/>
                    </a:p>
                  </a:txBody>
                  <a:tcPr marL="95250" marR="95250" marT="95250" marB="9525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B7ACF4"/>
                    </a:solidFill>
                  </a:tcPr>
                </a:tc>
                <a:tc>
                  <a:txBody>
                    <a:bodyPr anchor="t" rtlCol="false"/>
                    <a:lstStyle/>
                    <a:p>
                      <a:pPr algn="l">
                        <a:lnSpc>
                          <a:spcPts val="2380"/>
                        </a:lnSpc>
                        <a:defRPr/>
                      </a:pPr>
                      <a:r>
                        <a:rPr lang="en-US" sz="1700" b="true">
                          <a:solidFill>
                            <a:srgbClr val="000000"/>
                          </a:solidFill>
                          <a:latin typeface="Overpass Ultra-Bold"/>
                          <a:ea typeface="Overpass Ultra-Bold"/>
                          <a:cs typeface="Overpass Ultra-Bold"/>
                          <a:sym typeface="Overpass Ultra-Bold"/>
                        </a:rPr>
                        <a:t>Develop Advanced Order Management &amp; Sentiment Analysis</a:t>
                      </a:r>
                      <a:endParaRPr lang="en-US" sz="1100"/>
                    </a:p>
                  </a:txBody>
                  <a:tcPr marL="95250" marR="95250" marT="95250" marB="9525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B7ACF4"/>
                    </a:solidFill>
                  </a:tcPr>
                </a:tc>
                <a:tc>
                  <a:txBody>
                    <a:bodyPr anchor="t" rtlCol="false"/>
                    <a:lstStyle/>
                    <a:p>
                      <a:pPr algn="l">
                        <a:lnSpc>
                          <a:spcPts val="2380"/>
                        </a:lnSpc>
                        <a:defRPr/>
                      </a:pPr>
                      <a:r>
                        <a:rPr lang="en-US" sz="1700">
                          <a:solidFill>
                            <a:srgbClr val="000000"/>
                          </a:solidFill>
                          <a:latin typeface="Overpass"/>
                          <a:ea typeface="Overpass"/>
                          <a:cs typeface="Overpass"/>
                          <a:sym typeface="Overpass"/>
                        </a:rPr>
                        <a:t>Enhanced Order Tracking, Returns &amp; Refunds, Sentiment Analysis (MVP)</a:t>
                      </a:r>
                      <a:endParaRPr lang="en-US" sz="1100"/>
                    </a:p>
                  </a:txBody>
                  <a:tcPr marL="95250" marR="95250" marT="95250" marB="9525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B7ACF4"/>
                    </a:solidFill>
                  </a:tcPr>
                </a:tc>
                <a:tc>
                  <a:txBody>
                    <a:bodyPr anchor="t" rtlCol="false"/>
                    <a:lstStyle/>
                    <a:p>
                      <a:pPr algn="l">
                        <a:lnSpc>
                          <a:spcPts val="2380"/>
                        </a:lnSpc>
                        <a:defRPr/>
                      </a:pPr>
                      <a:r>
                        <a:rPr lang="en-US" sz="1700">
                          <a:solidFill>
                            <a:srgbClr val="000000"/>
                          </a:solidFill>
                          <a:latin typeface="Overpass"/>
                          <a:ea typeface="Overpass"/>
                          <a:cs typeface="Overpass"/>
                          <a:sym typeface="Overpass"/>
                        </a:rPr>
                        <a:t>Automated Delay Notifications, Sentiment Analysis Enabled</a:t>
                      </a:r>
                      <a:endParaRPr lang="en-US" sz="1100"/>
                    </a:p>
                  </a:txBody>
                  <a:tcPr marL="95250" marR="95250" marT="95250" marB="9525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B7ACF4"/>
                    </a:solidFill>
                  </a:tcPr>
                </a:tc>
                <a:tc>
                  <a:txBody>
                    <a:bodyPr anchor="t" rtlCol="false"/>
                    <a:lstStyle/>
                    <a:p>
                      <a:pPr algn="ctr">
                        <a:lnSpc>
                          <a:spcPts val="2380"/>
                        </a:lnSpc>
                        <a:defRPr/>
                      </a:pPr>
                      <a:r>
                        <a:rPr lang="en-US" sz="1700" b="true">
                          <a:solidFill>
                            <a:srgbClr val="000000"/>
                          </a:solidFill>
                          <a:latin typeface="Overpass Ultra-Bold"/>
                          <a:ea typeface="Overpass Ultra-Bold"/>
                          <a:cs typeface="Overpass Ultra-Bold"/>
                          <a:sym typeface="Overpass Ultra-Bold"/>
                        </a:rPr>
                        <a:t>75,000</a:t>
                      </a:r>
                      <a:endParaRPr lang="en-US" sz="1100"/>
                    </a:p>
                  </a:txBody>
                  <a:tcPr marL="95250" marR="95250" marT="95250" marB="9525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E46270"/>
                    </a:solidFill>
                  </a:tcPr>
                </a:tc>
                <a:tc>
                  <a:txBody>
                    <a:bodyPr anchor="t" rtlCol="false"/>
                    <a:lstStyle/>
                    <a:p>
                      <a:pPr algn="ctr">
                        <a:lnSpc>
                          <a:spcPts val="2380"/>
                        </a:lnSpc>
                        <a:defRPr/>
                      </a:pPr>
                      <a:r>
                        <a:rPr lang="en-US" sz="1700" b="true">
                          <a:solidFill>
                            <a:srgbClr val="000000"/>
                          </a:solidFill>
                          <a:latin typeface="Overpass Ultra-Bold"/>
                          <a:ea typeface="Overpass Ultra-Bold"/>
                          <a:cs typeface="Overpass Ultra-Bold"/>
                          <a:sym typeface="Overpass Ultra-Bold"/>
                        </a:rPr>
                        <a:t>100,000</a:t>
                      </a:r>
                      <a:endParaRPr lang="en-US" sz="1100"/>
                    </a:p>
                  </a:txBody>
                  <a:tcPr marL="95250" marR="95250" marT="95250" marB="9525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24B26E"/>
                    </a:solidFill>
                  </a:tcPr>
                </a:tc>
              </a:tr>
              <a:tr h="1165915">
                <a:tc>
                  <a:txBody>
                    <a:bodyPr anchor="t" rtlCol="false"/>
                    <a:lstStyle/>
                    <a:p>
                      <a:pPr algn="ctr">
                        <a:lnSpc>
                          <a:spcPts val="2379"/>
                        </a:lnSpc>
                        <a:defRPr/>
                      </a:pPr>
                      <a:r>
                        <a:rPr lang="en-US" sz="1699">
                          <a:solidFill>
                            <a:srgbClr val="000000"/>
                          </a:solidFill>
                          <a:latin typeface="Overpass"/>
                          <a:ea typeface="Overpass"/>
                          <a:cs typeface="Overpass"/>
                          <a:sym typeface="Overpass"/>
                        </a:rPr>
                        <a:t>Q3</a:t>
                      </a:r>
                      <a:endParaRPr lang="en-US" sz="1100"/>
                    </a:p>
                  </a:txBody>
                  <a:tcPr marL="95250" marR="95250" marT="95250" marB="9525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B7ACF4"/>
                    </a:solidFill>
                  </a:tcPr>
                </a:tc>
                <a:tc>
                  <a:txBody>
                    <a:bodyPr anchor="t" rtlCol="false"/>
                    <a:lstStyle/>
                    <a:p>
                      <a:pPr algn="l">
                        <a:lnSpc>
                          <a:spcPts val="2379"/>
                        </a:lnSpc>
                        <a:defRPr/>
                      </a:pPr>
                      <a:r>
                        <a:rPr lang="en-US" sz="1699" b="true">
                          <a:solidFill>
                            <a:srgbClr val="000000"/>
                          </a:solidFill>
                          <a:latin typeface="Overpass Ultra-Bold"/>
                          <a:ea typeface="Overpass Ultra-Bold"/>
                          <a:cs typeface="Overpass Ultra-Bold"/>
                          <a:sym typeface="Overpass Ultra-Bold"/>
                        </a:rPr>
                        <a:t>Enhance Personalization &amp; User Experience Optimization</a:t>
                      </a:r>
                      <a:endParaRPr lang="en-US" sz="1100"/>
                    </a:p>
                  </a:txBody>
                  <a:tcPr marL="95250" marR="95250" marT="95250" marB="9525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B7ACF4"/>
                    </a:solidFill>
                  </a:tcPr>
                </a:tc>
                <a:tc>
                  <a:txBody>
                    <a:bodyPr anchor="t" rtlCol="false"/>
                    <a:lstStyle/>
                    <a:p>
                      <a:pPr algn="l">
                        <a:lnSpc>
                          <a:spcPts val="2379"/>
                        </a:lnSpc>
                        <a:defRPr/>
                      </a:pPr>
                      <a:r>
                        <a:rPr lang="en-US" sz="1699">
                          <a:solidFill>
                            <a:srgbClr val="000000"/>
                          </a:solidFill>
                          <a:latin typeface="Overpass"/>
                          <a:ea typeface="Overpass"/>
                          <a:cs typeface="Overpass"/>
                          <a:sym typeface="Overpass"/>
                        </a:rPr>
                        <a:t>Personalized Search Toggle, Feedback Collection, A/B Testing</a:t>
                      </a:r>
                      <a:endParaRPr lang="en-US" sz="1100"/>
                    </a:p>
                  </a:txBody>
                  <a:tcPr marL="95250" marR="95250" marT="95250" marB="9525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B7ACF4"/>
                    </a:solidFill>
                  </a:tcPr>
                </a:tc>
                <a:tc>
                  <a:txBody>
                    <a:bodyPr anchor="t" rtlCol="false"/>
                    <a:lstStyle/>
                    <a:p>
                      <a:pPr algn="l">
                        <a:lnSpc>
                          <a:spcPts val="2379"/>
                        </a:lnSpc>
                        <a:defRPr/>
                      </a:pPr>
                      <a:r>
                        <a:rPr lang="en-US" sz="1699">
                          <a:solidFill>
                            <a:srgbClr val="000000"/>
                          </a:solidFill>
                          <a:latin typeface="Overpass"/>
                          <a:ea typeface="Overpass"/>
                          <a:cs typeface="Overpass"/>
                          <a:sym typeface="Overpass"/>
                        </a:rPr>
                        <a:t>Personalized Search Feature, User Feedback Integration</a:t>
                      </a:r>
                      <a:endParaRPr lang="en-US" sz="1100"/>
                    </a:p>
                  </a:txBody>
                  <a:tcPr marL="95250" marR="95250" marT="95250" marB="9525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B7ACF4"/>
                    </a:solidFill>
                  </a:tcPr>
                </a:tc>
                <a:tc>
                  <a:txBody>
                    <a:bodyPr anchor="t" rtlCol="false"/>
                    <a:lstStyle/>
                    <a:p>
                      <a:pPr algn="ctr">
                        <a:lnSpc>
                          <a:spcPts val="2379"/>
                        </a:lnSpc>
                        <a:defRPr/>
                      </a:pPr>
                      <a:r>
                        <a:rPr lang="en-US" sz="1699" b="true">
                          <a:solidFill>
                            <a:srgbClr val="000000"/>
                          </a:solidFill>
                          <a:latin typeface="Overpass Ultra-Bold"/>
                          <a:ea typeface="Overpass Ultra-Bold"/>
                          <a:cs typeface="Overpass Ultra-Bold"/>
                          <a:sym typeface="Overpass Ultra-Bold"/>
                        </a:rPr>
                        <a:t>60,000</a:t>
                      </a:r>
                      <a:endParaRPr lang="en-US" sz="1100"/>
                    </a:p>
                  </a:txBody>
                  <a:tcPr marL="95250" marR="95250" marT="95250" marB="9525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E46270"/>
                    </a:solidFill>
                  </a:tcPr>
                </a:tc>
                <a:tc>
                  <a:txBody>
                    <a:bodyPr anchor="t" rtlCol="false"/>
                    <a:lstStyle/>
                    <a:p>
                      <a:pPr algn="ctr">
                        <a:lnSpc>
                          <a:spcPts val="2379"/>
                        </a:lnSpc>
                        <a:defRPr/>
                      </a:pPr>
                      <a:r>
                        <a:rPr lang="en-US" sz="1699" b="true">
                          <a:solidFill>
                            <a:srgbClr val="000000"/>
                          </a:solidFill>
                          <a:latin typeface="Overpass Ultra-Bold"/>
                          <a:ea typeface="Overpass Ultra-Bold"/>
                          <a:cs typeface="Overpass Ultra-Bold"/>
                          <a:sym typeface="Overpass Ultra-Bold"/>
                        </a:rPr>
                        <a:t>120,000</a:t>
                      </a:r>
                      <a:endParaRPr lang="en-US" sz="1100"/>
                    </a:p>
                  </a:txBody>
                  <a:tcPr marL="95250" marR="95250" marT="95250" marB="9525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24B26E"/>
                    </a:solidFill>
                  </a:tcPr>
                </a:tc>
              </a:tr>
              <a:tr h="1165915">
                <a:tc>
                  <a:txBody>
                    <a:bodyPr anchor="t" rtlCol="false"/>
                    <a:lstStyle/>
                    <a:p>
                      <a:pPr algn="ctr">
                        <a:lnSpc>
                          <a:spcPts val="2379"/>
                        </a:lnSpc>
                        <a:defRPr/>
                      </a:pPr>
                      <a:r>
                        <a:rPr lang="en-US" sz="1699">
                          <a:solidFill>
                            <a:srgbClr val="000000"/>
                          </a:solidFill>
                          <a:latin typeface="Overpass"/>
                          <a:ea typeface="Overpass"/>
                          <a:cs typeface="Overpass"/>
                          <a:sym typeface="Overpass"/>
                        </a:rPr>
                        <a:t>Q4</a:t>
                      </a:r>
                      <a:endParaRPr lang="en-US" sz="1100"/>
                    </a:p>
                  </a:txBody>
                  <a:tcPr marL="95250" marR="95250" marT="95250" marB="9525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B7ACF4"/>
                    </a:solidFill>
                  </a:tcPr>
                </a:tc>
                <a:tc>
                  <a:txBody>
                    <a:bodyPr anchor="t" rtlCol="false"/>
                    <a:lstStyle/>
                    <a:p>
                      <a:pPr algn="l">
                        <a:lnSpc>
                          <a:spcPts val="2379"/>
                        </a:lnSpc>
                        <a:defRPr/>
                      </a:pPr>
                      <a:r>
                        <a:rPr lang="en-US" sz="1699" b="true">
                          <a:solidFill>
                            <a:srgbClr val="000000"/>
                          </a:solidFill>
                          <a:latin typeface="Overpass Ultra-Bold"/>
                          <a:ea typeface="Overpass Ultra-Bold"/>
                          <a:cs typeface="Overpass Ultra-Bold"/>
                          <a:sym typeface="Overpass Ultra-Bold"/>
                        </a:rPr>
                        <a:t>Optimize Model, Soft Launch, and Plan Expansion</a:t>
                      </a:r>
                      <a:endParaRPr lang="en-US" sz="1100"/>
                    </a:p>
                  </a:txBody>
                  <a:tcPr marL="95250" marR="95250" marT="95250" marB="9525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B7ACF4"/>
                    </a:solidFill>
                  </a:tcPr>
                </a:tc>
                <a:tc>
                  <a:txBody>
                    <a:bodyPr anchor="t" rtlCol="false"/>
                    <a:lstStyle/>
                    <a:p>
                      <a:pPr algn="l">
                        <a:lnSpc>
                          <a:spcPts val="2379"/>
                        </a:lnSpc>
                        <a:defRPr/>
                      </a:pPr>
                      <a:r>
                        <a:rPr lang="en-US" sz="1699">
                          <a:solidFill>
                            <a:srgbClr val="000000"/>
                          </a:solidFill>
                          <a:latin typeface="Overpass"/>
                          <a:ea typeface="Overpass"/>
                          <a:cs typeface="Overpass"/>
                          <a:sym typeface="Overpass"/>
                        </a:rPr>
                        <a:t>Model Fine-Tuning, Soft Launch, Roadmap for Future Features</a:t>
                      </a:r>
                      <a:endParaRPr lang="en-US" sz="1100"/>
                    </a:p>
                  </a:txBody>
                  <a:tcPr marL="95250" marR="95250" marT="95250" marB="9525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B7ACF4"/>
                    </a:solidFill>
                  </a:tcPr>
                </a:tc>
                <a:tc>
                  <a:txBody>
                    <a:bodyPr anchor="t" rtlCol="false"/>
                    <a:lstStyle/>
                    <a:p>
                      <a:pPr algn="l">
                        <a:lnSpc>
                          <a:spcPts val="2379"/>
                        </a:lnSpc>
                        <a:defRPr/>
                      </a:pPr>
                      <a:r>
                        <a:rPr lang="en-US" sz="1699">
                          <a:solidFill>
                            <a:srgbClr val="000000"/>
                          </a:solidFill>
                          <a:latin typeface="Overpass"/>
                          <a:ea typeface="Overpass"/>
                          <a:cs typeface="Overpass"/>
                          <a:sym typeface="Overpass"/>
                        </a:rPr>
                        <a:t>Soft Launch Completed, Real-Time Monitoring in Place</a:t>
                      </a:r>
                      <a:endParaRPr lang="en-US" sz="1100"/>
                    </a:p>
                  </a:txBody>
                  <a:tcPr marL="95250" marR="95250" marT="95250" marB="9525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B7ACF4"/>
                    </a:solidFill>
                  </a:tcPr>
                </a:tc>
                <a:tc>
                  <a:txBody>
                    <a:bodyPr anchor="t" rtlCol="false"/>
                    <a:lstStyle/>
                    <a:p>
                      <a:pPr algn="ctr">
                        <a:lnSpc>
                          <a:spcPts val="2379"/>
                        </a:lnSpc>
                        <a:defRPr/>
                      </a:pPr>
                      <a:r>
                        <a:rPr lang="en-US" sz="1699" b="true">
                          <a:solidFill>
                            <a:srgbClr val="000000"/>
                          </a:solidFill>
                          <a:latin typeface="Overpass Ultra-Bold"/>
                          <a:ea typeface="Overpass Ultra-Bold"/>
                          <a:cs typeface="Overpass Ultra-Bold"/>
                          <a:sym typeface="Overpass Ultra-Bold"/>
                        </a:rPr>
                        <a:t>55,000</a:t>
                      </a:r>
                      <a:endParaRPr lang="en-US" sz="1100"/>
                    </a:p>
                  </a:txBody>
                  <a:tcPr marL="95250" marR="95250" marT="95250" marB="9525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E46270"/>
                    </a:solidFill>
                  </a:tcPr>
                </a:tc>
                <a:tc>
                  <a:txBody>
                    <a:bodyPr anchor="t" rtlCol="false"/>
                    <a:lstStyle/>
                    <a:p>
                      <a:pPr algn="ctr">
                        <a:lnSpc>
                          <a:spcPts val="2379"/>
                        </a:lnSpc>
                        <a:defRPr/>
                      </a:pPr>
                      <a:r>
                        <a:rPr lang="en-US" sz="1699" b="true">
                          <a:solidFill>
                            <a:srgbClr val="000000"/>
                          </a:solidFill>
                          <a:latin typeface="Overpass Ultra-Bold"/>
                          <a:ea typeface="Overpass Ultra-Bold"/>
                          <a:cs typeface="Overpass Ultra-Bold"/>
                          <a:sym typeface="Overpass Ultra-Bold"/>
                        </a:rPr>
                        <a:t>150,000</a:t>
                      </a:r>
                      <a:endParaRPr lang="en-US" sz="1100"/>
                    </a:p>
                  </a:txBody>
                  <a:tcPr marL="95250" marR="95250" marT="95250" marB="9525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24B26E"/>
                    </a:solidFill>
                  </a:tcPr>
                </a:tc>
              </a:tr>
              <a:tr h="1165915">
                <a:tc>
                  <a:txBody>
                    <a:bodyPr anchor="t" rtlCol="false"/>
                    <a:lstStyle/>
                    <a:p>
                      <a:pPr algn="ctr">
                        <a:lnSpc>
                          <a:spcPts val="2379"/>
                        </a:lnSpc>
                        <a:defRPr/>
                      </a:pPr>
                      <a:r>
                        <a:rPr lang="en-US" sz="1699">
                          <a:solidFill>
                            <a:srgbClr val="000000"/>
                          </a:solidFill>
                          <a:latin typeface="Overpass"/>
                          <a:ea typeface="Overpass"/>
                          <a:cs typeface="Overpass"/>
                          <a:sym typeface="Overpass"/>
                        </a:rPr>
                        <a:t>Q5</a:t>
                      </a:r>
                      <a:endParaRPr lang="en-US" sz="1100"/>
                    </a:p>
                  </a:txBody>
                  <a:tcPr marL="95250" marR="95250" marT="95250" marB="9525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B7ACF4"/>
                    </a:solidFill>
                  </a:tcPr>
                </a:tc>
                <a:tc>
                  <a:txBody>
                    <a:bodyPr anchor="t" rtlCol="false"/>
                    <a:lstStyle/>
                    <a:p>
                      <a:pPr algn="l">
                        <a:lnSpc>
                          <a:spcPts val="2379"/>
                        </a:lnSpc>
                        <a:defRPr/>
                      </a:pPr>
                      <a:r>
                        <a:rPr lang="en-US" sz="1699" b="true">
                          <a:solidFill>
                            <a:srgbClr val="000000"/>
                          </a:solidFill>
                          <a:latin typeface="Overpass Ultra-Bold"/>
                          <a:ea typeface="Overpass Ultra-Bold"/>
                          <a:cs typeface="Overpass Ultra-Bold"/>
                          <a:sym typeface="Overpass Ultra-Bold"/>
                        </a:rPr>
                        <a:t>Add Multilingual Support &amp; Proactive Assistance</a:t>
                      </a:r>
                      <a:endParaRPr lang="en-US" sz="1100"/>
                    </a:p>
                  </a:txBody>
                  <a:tcPr marL="95250" marR="95250" marT="95250" marB="9525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B7ACF4"/>
                    </a:solidFill>
                  </a:tcPr>
                </a:tc>
                <a:tc>
                  <a:txBody>
                    <a:bodyPr anchor="t" rtlCol="false"/>
                    <a:lstStyle/>
                    <a:p>
                      <a:pPr algn="l">
                        <a:lnSpc>
                          <a:spcPts val="2379"/>
                        </a:lnSpc>
                        <a:defRPr/>
                      </a:pPr>
                      <a:r>
                        <a:rPr lang="en-US" sz="1699">
                          <a:solidFill>
                            <a:srgbClr val="000000"/>
                          </a:solidFill>
                          <a:latin typeface="Overpass"/>
                          <a:ea typeface="Overpass"/>
                          <a:cs typeface="Overpass"/>
                          <a:sym typeface="Overpass"/>
                        </a:rPr>
                        <a:t>Multilingual Support, Proactive Assistance, Product Recommendations</a:t>
                      </a:r>
                      <a:endParaRPr lang="en-US" sz="1100"/>
                    </a:p>
                  </a:txBody>
                  <a:tcPr marL="95250" marR="95250" marT="95250" marB="9525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B7ACF4"/>
                    </a:solidFill>
                  </a:tcPr>
                </a:tc>
                <a:tc>
                  <a:txBody>
                    <a:bodyPr anchor="t" rtlCol="false"/>
                    <a:lstStyle/>
                    <a:p>
                      <a:pPr algn="l">
                        <a:lnSpc>
                          <a:spcPts val="2379"/>
                        </a:lnSpc>
                        <a:defRPr/>
                      </a:pPr>
                      <a:r>
                        <a:rPr lang="en-US" sz="1699">
                          <a:solidFill>
                            <a:srgbClr val="000000"/>
                          </a:solidFill>
                          <a:latin typeface="Overpass"/>
                          <a:ea typeface="Overpass"/>
                          <a:cs typeface="Overpass"/>
                          <a:sym typeface="Overpass"/>
                        </a:rPr>
                        <a:t>Language Detection, Proactive Suggestions, Cross-Selling Features</a:t>
                      </a:r>
                      <a:endParaRPr lang="en-US" sz="1100"/>
                    </a:p>
                  </a:txBody>
                  <a:tcPr marL="95250" marR="95250" marT="95250" marB="9525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B7ACF4"/>
                    </a:solidFill>
                  </a:tcPr>
                </a:tc>
                <a:tc>
                  <a:txBody>
                    <a:bodyPr anchor="t" rtlCol="false"/>
                    <a:lstStyle/>
                    <a:p>
                      <a:pPr algn="ctr">
                        <a:lnSpc>
                          <a:spcPts val="2379"/>
                        </a:lnSpc>
                        <a:defRPr/>
                      </a:pPr>
                      <a:r>
                        <a:rPr lang="en-US" sz="1699" b="true">
                          <a:solidFill>
                            <a:srgbClr val="000000"/>
                          </a:solidFill>
                          <a:latin typeface="Overpass Ultra-Bold"/>
                          <a:ea typeface="Overpass Ultra-Bold"/>
                          <a:cs typeface="Overpass Ultra-Bold"/>
                          <a:sym typeface="Overpass Ultra-Bold"/>
                        </a:rPr>
                        <a:t>65,000</a:t>
                      </a:r>
                      <a:endParaRPr lang="en-US" sz="1100"/>
                    </a:p>
                  </a:txBody>
                  <a:tcPr marL="95250" marR="95250" marT="95250" marB="9525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E46270"/>
                    </a:solidFill>
                  </a:tcPr>
                </a:tc>
                <a:tc>
                  <a:txBody>
                    <a:bodyPr anchor="t" rtlCol="false"/>
                    <a:lstStyle/>
                    <a:p>
                      <a:pPr algn="ctr">
                        <a:lnSpc>
                          <a:spcPts val="2379"/>
                        </a:lnSpc>
                        <a:defRPr/>
                      </a:pPr>
                      <a:r>
                        <a:rPr lang="en-US" sz="1699" b="true">
                          <a:solidFill>
                            <a:srgbClr val="000000"/>
                          </a:solidFill>
                          <a:latin typeface="Overpass Ultra-Bold"/>
                          <a:ea typeface="Overpass Ultra-Bold"/>
                          <a:cs typeface="Overpass Ultra-Bold"/>
                          <a:sym typeface="Overpass Ultra-Bold"/>
                        </a:rPr>
                        <a:t>180,000</a:t>
                      </a:r>
                      <a:endParaRPr lang="en-US" sz="1100"/>
                    </a:p>
                  </a:txBody>
                  <a:tcPr marL="95250" marR="95250" marT="95250" marB="9525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24B26E"/>
                    </a:solidFill>
                  </a:tcPr>
                </a:tc>
              </a:tr>
              <a:tr h="1758429">
                <a:tc>
                  <a:txBody>
                    <a:bodyPr anchor="t" rtlCol="false"/>
                    <a:lstStyle/>
                    <a:p>
                      <a:pPr algn="ctr">
                        <a:lnSpc>
                          <a:spcPts val="2379"/>
                        </a:lnSpc>
                        <a:defRPr/>
                      </a:pPr>
                      <a:r>
                        <a:rPr lang="en-US" sz="1699">
                          <a:solidFill>
                            <a:srgbClr val="000000"/>
                          </a:solidFill>
                          <a:latin typeface="Overpass"/>
                          <a:ea typeface="Overpass"/>
                          <a:cs typeface="Overpass"/>
                          <a:sym typeface="Overpass"/>
                        </a:rPr>
                        <a:t>Q6</a:t>
                      </a:r>
                      <a:endParaRPr lang="en-US" sz="1100"/>
                    </a:p>
                  </a:txBody>
                  <a:tcPr marL="95250" marR="95250" marT="95250" marB="9525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B7ACF4"/>
                    </a:solidFill>
                  </a:tcPr>
                </a:tc>
                <a:tc>
                  <a:txBody>
                    <a:bodyPr anchor="t" rtlCol="false"/>
                    <a:lstStyle/>
                    <a:p>
                      <a:pPr algn="l">
                        <a:lnSpc>
                          <a:spcPts val="2379"/>
                        </a:lnSpc>
                        <a:defRPr/>
                      </a:pPr>
                      <a:r>
                        <a:rPr lang="en-US" sz="1699" b="true">
                          <a:solidFill>
                            <a:srgbClr val="000000"/>
                          </a:solidFill>
                          <a:latin typeface="Overpass Ultra-Bold"/>
                          <a:ea typeface="Overpass Ultra-Bold"/>
                          <a:cs typeface="Overpass Ultra-Bold"/>
                          <a:sym typeface="Overpass Ultra-Bold"/>
                        </a:rPr>
                        <a:t>Integrate Advanced Analytics &amp; Continuous Learning</a:t>
                      </a:r>
                      <a:endParaRPr lang="en-US" sz="1100"/>
                    </a:p>
                  </a:txBody>
                  <a:tcPr marL="95250" marR="95250" marT="95250" marB="9525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B7ACF4"/>
                    </a:solidFill>
                  </a:tcPr>
                </a:tc>
                <a:tc>
                  <a:txBody>
                    <a:bodyPr anchor="t" rtlCol="false"/>
                    <a:lstStyle/>
                    <a:p>
                      <a:pPr algn="l">
                        <a:lnSpc>
                          <a:spcPts val="2379"/>
                        </a:lnSpc>
                        <a:defRPr/>
                      </a:pPr>
                      <a:r>
                        <a:rPr lang="en-US" sz="1699">
                          <a:solidFill>
                            <a:srgbClr val="000000"/>
                          </a:solidFill>
                          <a:latin typeface="Overpass"/>
                          <a:ea typeface="Overpass"/>
                          <a:cs typeface="Overpass"/>
                          <a:sym typeface="Overpass"/>
                        </a:rPr>
                        <a:t>Advanced Analytics Dashboard, Performance Optimization, Continuous</a:t>
                      </a:r>
                      <a:endParaRPr lang="en-US" sz="1100"/>
                    </a:p>
                    <a:p>
                      <a:pPr algn="l">
                        <a:lnSpc>
                          <a:spcPts val="2379"/>
                        </a:lnSpc>
                      </a:pPr>
                      <a:r>
                        <a:rPr lang="en-US" sz="1699">
                          <a:solidFill>
                            <a:srgbClr val="000000"/>
                          </a:solidFill>
                          <a:latin typeface="Overpass"/>
                          <a:ea typeface="Overpass"/>
                          <a:cs typeface="Overpass"/>
                          <a:sym typeface="Overpass"/>
                        </a:rPr>
                        <a:t>  Learning</a:t>
                      </a:r>
                    </a:p>
                  </a:txBody>
                  <a:tcPr marL="95250" marR="95250" marT="95250" marB="9525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B7ACF4"/>
                    </a:solidFill>
                  </a:tcPr>
                </a:tc>
                <a:tc>
                  <a:txBody>
                    <a:bodyPr anchor="t" rtlCol="false"/>
                    <a:lstStyle/>
                    <a:p>
                      <a:pPr algn="l">
                        <a:lnSpc>
                          <a:spcPts val="2379"/>
                        </a:lnSpc>
                        <a:defRPr/>
                      </a:pPr>
                      <a:r>
                        <a:rPr lang="en-US" sz="1699">
                          <a:solidFill>
                            <a:srgbClr val="000000"/>
                          </a:solidFill>
                          <a:latin typeface="Overpass"/>
                          <a:ea typeface="Overpass"/>
                          <a:cs typeface="Overpass"/>
                          <a:sym typeface="Overpass"/>
                        </a:rPr>
                        <a:t>Enhanced Analytics, Real-Time Performance Tracking, Adaptive Learning</a:t>
                      </a:r>
                      <a:endParaRPr lang="en-US" sz="1100"/>
                    </a:p>
                    <a:p>
                      <a:pPr algn="l">
                        <a:lnSpc>
                          <a:spcPts val="2379"/>
                        </a:lnSpc>
                      </a:pPr>
                      <a:r>
                        <a:rPr lang="en-US" sz="1699">
                          <a:solidFill>
                            <a:srgbClr val="000000"/>
                          </a:solidFill>
                          <a:latin typeface="Overpass"/>
                          <a:ea typeface="Overpass"/>
                          <a:cs typeface="Overpass"/>
                          <a:sym typeface="Overpass"/>
                        </a:rPr>
                        <a:t>  Model</a:t>
                      </a:r>
                    </a:p>
                  </a:txBody>
                  <a:tcPr marL="95250" marR="95250" marT="95250" marB="9525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B7ACF4"/>
                    </a:solidFill>
                  </a:tcPr>
                </a:tc>
                <a:tc>
                  <a:txBody>
                    <a:bodyPr anchor="t" rtlCol="false"/>
                    <a:lstStyle/>
                    <a:p>
                      <a:pPr algn="ctr">
                        <a:lnSpc>
                          <a:spcPts val="2379"/>
                        </a:lnSpc>
                        <a:defRPr/>
                      </a:pPr>
                      <a:r>
                        <a:rPr lang="en-US" sz="1699" b="true">
                          <a:solidFill>
                            <a:srgbClr val="000000"/>
                          </a:solidFill>
                          <a:latin typeface="Overpass Ultra-Bold"/>
                          <a:ea typeface="Overpass Ultra-Bold"/>
                          <a:cs typeface="Overpass Ultra-Bold"/>
                          <a:sym typeface="Overpass Ultra-Bold"/>
                        </a:rPr>
                        <a:t>70,000</a:t>
                      </a:r>
                      <a:endParaRPr lang="en-US" sz="1100"/>
                    </a:p>
                  </a:txBody>
                  <a:tcPr marL="95250" marR="95250" marT="95250" marB="9525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E46270"/>
                    </a:solidFill>
                  </a:tcPr>
                </a:tc>
                <a:tc>
                  <a:txBody>
                    <a:bodyPr anchor="t" rtlCol="false"/>
                    <a:lstStyle/>
                    <a:p>
                      <a:pPr algn="ctr">
                        <a:lnSpc>
                          <a:spcPts val="2379"/>
                        </a:lnSpc>
                        <a:defRPr/>
                      </a:pPr>
                      <a:r>
                        <a:rPr lang="en-US" sz="1699" b="true">
                          <a:solidFill>
                            <a:srgbClr val="000000"/>
                          </a:solidFill>
                          <a:latin typeface="Overpass Ultra-Bold"/>
                          <a:ea typeface="Overpass Ultra-Bold"/>
                          <a:cs typeface="Overpass Ultra-Bold"/>
                          <a:sym typeface="Overpass Ultra-Bold"/>
                        </a:rPr>
                        <a:t>200,000</a:t>
                      </a:r>
                      <a:endParaRPr lang="en-US" sz="1100"/>
                    </a:p>
                  </a:txBody>
                  <a:tcPr marL="95250" marR="95250" marT="95250" marB="9525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solidFill>
                      <a:srgbClr val="24B26E"/>
                    </a:solidFill>
                  </a:tcPr>
                </a:tc>
              </a:tr>
            </a:tbl>
          </a:graphicData>
        </a:graphic>
      </p:graphicFrame>
      <p:sp>
        <p:nvSpPr>
          <p:cNvPr name="Freeform 7" id="7"/>
          <p:cNvSpPr/>
          <p:nvPr/>
        </p:nvSpPr>
        <p:spPr>
          <a:xfrm flipH="false" flipV="false" rot="0">
            <a:off x="17013239" y="4447864"/>
            <a:ext cx="492121" cy="896804"/>
          </a:xfrm>
          <a:custGeom>
            <a:avLst/>
            <a:gdLst/>
            <a:ahLst/>
            <a:cxnLst/>
            <a:rect r="r" b="b" t="t" l="l"/>
            <a:pathLst>
              <a:path h="896804" w="492121">
                <a:moveTo>
                  <a:pt x="0" y="0"/>
                </a:moveTo>
                <a:lnTo>
                  <a:pt x="492122" y="0"/>
                </a:lnTo>
                <a:lnTo>
                  <a:pt x="492122" y="896804"/>
                </a:lnTo>
                <a:lnTo>
                  <a:pt x="0" y="8968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7013239" y="5573268"/>
            <a:ext cx="492121" cy="896804"/>
          </a:xfrm>
          <a:custGeom>
            <a:avLst/>
            <a:gdLst/>
            <a:ahLst/>
            <a:cxnLst/>
            <a:rect r="r" b="b" t="t" l="l"/>
            <a:pathLst>
              <a:path h="896804" w="492121">
                <a:moveTo>
                  <a:pt x="0" y="0"/>
                </a:moveTo>
                <a:lnTo>
                  <a:pt x="492122" y="0"/>
                </a:lnTo>
                <a:lnTo>
                  <a:pt x="492122" y="896805"/>
                </a:lnTo>
                <a:lnTo>
                  <a:pt x="0" y="8968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7013239" y="6698673"/>
            <a:ext cx="492121" cy="896804"/>
          </a:xfrm>
          <a:custGeom>
            <a:avLst/>
            <a:gdLst/>
            <a:ahLst/>
            <a:cxnLst/>
            <a:rect r="r" b="b" t="t" l="l"/>
            <a:pathLst>
              <a:path h="896804" w="492121">
                <a:moveTo>
                  <a:pt x="0" y="0"/>
                </a:moveTo>
                <a:lnTo>
                  <a:pt x="492122" y="0"/>
                </a:lnTo>
                <a:lnTo>
                  <a:pt x="492122" y="896804"/>
                </a:lnTo>
                <a:lnTo>
                  <a:pt x="0" y="8968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7013239" y="8144206"/>
            <a:ext cx="492121" cy="896804"/>
          </a:xfrm>
          <a:custGeom>
            <a:avLst/>
            <a:gdLst/>
            <a:ahLst/>
            <a:cxnLst/>
            <a:rect r="r" b="b" t="t" l="l"/>
            <a:pathLst>
              <a:path h="896804" w="492121">
                <a:moveTo>
                  <a:pt x="0" y="0"/>
                </a:moveTo>
                <a:lnTo>
                  <a:pt x="492122" y="0"/>
                </a:lnTo>
                <a:lnTo>
                  <a:pt x="492122" y="896804"/>
                </a:lnTo>
                <a:lnTo>
                  <a:pt x="0" y="8968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4268034" y="3343587"/>
            <a:ext cx="491748" cy="896804"/>
          </a:xfrm>
          <a:custGeom>
            <a:avLst/>
            <a:gdLst/>
            <a:ahLst/>
            <a:cxnLst/>
            <a:rect r="r" b="b" t="t" l="l"/>
            <a:pathLst>
              <a:path h="896804" w="491748">
                <a:moveTo>
                  <a:pt x="0" y="0"/>
                </a:moveTo>
                <a:lnTo>
                  <a:pt x="491748" y="0"/>
                </a:lnTo>
                <a:lnTo>
                  <a:pt x="491748" y="896805"/>
                </a:lnTo>
                <a:lnTo>
                  <a:pt x="0" y="89680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3603844" y="-29705"/>
            <a:ext cx="11587697" cy="1034580"/>
          </a:xfrm>
          <a:prstGeom prst="rect">
            <a:avLst/>
          </a:prstGeom>
        </p:spPr>
        <p:txBody>
          <a:bodyPr anchor="t" rtlCol="false" tIns="0" lIns="0" bIns="0" rIns="0">
            <a:spAutoFit/>
          </a:bodyPr>
          <a:lstStyle/>
          <a:p>
            <a:pPr algn="ctr">
              <a:lnSpc>
                <a:spcPts val="8075"/>
              </a:lnSpc>
            </a:pPr>
            <a:r>
              <a:rPr lang="en-US" b="true" sz="5768">
                <a:solidFill>
                  <a:srgbClr val="F8F8F8"/>
                </a:solidFill>
                <a:latin typeface="Poppins Bold"/>
                <a:ea typeface="Poppins Bold"/>
                <a:cs typeface="Poppins Bold"/>
                <a:sym typeface="Poppins Bold"/>
              </a:rPr>
              <a:t>Product Roadmap</a:t>
            </a:r>
          </a:p>
        </p:txBody>
      </p:sp>
      <p:sp>
        <p:nvSpPr>
          <p:cNvPr name="Freeform 13" id="13"/>
          <p:cNvSpPr/>
          <p:nvPr/>
        </p:nvSpPr>
        <p:spPr>
          <a:xfrm flipH="false" flipV="false" rot="0">
            <a:off x="14268034" y="4488626"/>
            <a:ext cx="491748" cy="896804"/>
          </a:xfrm>
          <a:custGeom>
            <a:avLst/>
            <a:gdLst/>
            <a:ahLst/>
            <a:cxnLst/>
            <a:rect r="r" b="b" t="t" l="l"/>
            <a:pathLst>
              <a:path h="896804" w="491748">
                <a:moveTo>
                  <a:pt x="0" y="0"/>
                </a:moveTo>
                <a:lnTo>
                  <a:pt x="491748" y="0"/>
                </a:lnTo>
                <a:lnTo>
                  <a:pt x="491748" y="896805"/>
                </a:lnTo>
                <a:lnTo>
                  <a:pt x="0" y="89680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14268034" y="5653300"/>
            <a:ext cx="491748" cy="896804"/>
          </a:xfrm>
          <a:custGeom>
            <a:avLst/>
            <a:gdLst/>
            <a:ahLst/>
            <a:cxnLst/>
            <a:rect r="r" b="b" t="t" l="l"/>
            <a:pathLst>
              <a:path h="896804" w="491748">
                <a:moveTo>
                  <a:pt x="0" y="0"/>
                </a:moveTo>
                <a:lnTo>
                  <a:pt x="491748" y="0"/>
                </a:lnTo>
                <a:lnTo>
                  <a:pt x="491748" y="896805"/>
                </a:lnTo>
                <a:lnTo>
                  <a:pt x="0" y="89680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false" flipV="false" rot="0">
            <a:off x="14268034" y="6858737"/>
            <a:ext cx="491748" cy="896804"/>
          </a:xfrm>
          <a:custGeom>
            <a:avLst/>
            <a:gdLst/>
            <a:ahLst/>
            <a:cxnLst/>
            <a:rect r="r" b="b" t="t" l="l"/>
            <a:pathLst>
              <a:path h="896804" w="491748">
                <a:moveTo>
                  <a:pt x="0" y="0"/>
                </a:moveTo>
                <a:lnTo>
                  <a:pt x="491748" y="0"/>
                </a:lnTo>
                <a:lnTo>
                  <a:pt x="491748" y="896804"/>
                </a:lnTo>
                <a:lnTo>
                  <a:pt x="0" y="89680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14268034" y="8144206"/>
            <a:ext cx="491748" cy="896804"/>
          </a:xfrm>
          <a:custGeom>
            <a:avLst/>
            <a:gdLst/>
            <a:ahLst/>
            <a:cxnLst/>
            <a:rect r="r" b="b" t="t" l="l"/>
            <a:pathLst>
              <a:path h="896804" w="491748">
                <a:moveTo>
                  <a:pt x="0" y="0"/>
                </a:moveTo>
                <a:lnTo>
                  <a:pt x="491748" y="0"/>
                </a:lnTo>
                <a:lnTo>
                  <a:pt x="491748" y="896804"/>
                </a:lnTo>
                <a:lnTo>
                  <a:pt x="0" y="89680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false" flipV="false" rot="0">
            <a:off x="14268034" y="2198548"/>
            <a:ext cx="491748" cy="896804"/>
          </a:xfrm>
          <a:custGeom>
            <a:avLst/>
            <a:gdLst/>
            <a:ahLst/>
            <a:cxnLst/>
            <a:rect r="r" b="b" t="t" l="l"/>
            <a:pathLst>
              <a:path h="896804" w="491748">
                <a:moveTo>
                  <a:pt x="0" y="0"/>
                </a:moveTo>
                <a:lnTo>
                  <a:pt x="491748" y="0"/>
                </a:lnTo>
                <a:lnTo>
                  <a:pt x="491748" y="896804"/>
                </a:lnTo>
                <a:lnTo>
                  <a:pt x="0" y="89680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8" id="1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19</a:t>
            </a:r>
          </a:p>
        </p:txBody>
      </p:sp>
      <p:grpSp>
        <p:nvGrpSpPr>
          <p:cNvPr name="Group 19" id="19"/>
          <p:cNvGrpSpPr/>
          <p:nvPr/>
        </p:nvGrpSpPr>
        <p:grpSpPr>
          <a:xfrm rot="0">
            <a:off x="0" y="9555697"/>
            <a:ext cx="4099091" cy="731303"/>
            <a:chOff x="0" y="0"/>
            <a:chExt cx="5465455" cy="975071"/>
          </a:xfrm>
        </p:grpSpPr>
        <p:grpSp>
          <p:nvGrpSpPr>
            <p:cNvPr name="Group 20" id="20"/>
            <p:cNvGrpSpPr/>
            <p:nvPr/>
          </p:nvGrpSpPr>
          <p:grpSpPr>
            <a:xfrm rot="0">
              <a:off x="0" y="0"/>
              <a:ext cx="975071" cy="975071"/>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l="0" t="-446" r="0" b="0"/>
                </a:stretch>
              </a:blipFill>
            </p:spPr>
          </p:sp>
        </p:grpSp>
        <p:sp>
          <p:nvSpPr>
            <p:cNvPr name="TextBox 22" id="22"/>
            <p:cNvSpPr txBox="true"/>
            <p:nvPr/>
          </p:nvSpPr>
          <p:spPr>
            <a:xfrm rot="0">
              <a:off x="1141360" y="48747"/>
              <a:ext cx="2860498" cy="925689"/>
            </a:xfrm>
            <a:prstGeom prst="rect">
              <a:avLst/>
            </a:prstGeom>
          </p:spPr>
          <p:txBody>
            <a:bodyPr anchor="t" rtlCol="false" tIns="0" lIns="0" bIns="0" rIns="0">
              <a:spAutoFit/>
            </a:bodyPr>
            <a:lstStyle/>
            <a:p>
              <a:pPr algn="l">
                <a:lnSpc>
                  <a:spcPts val="5594"/>
                </a:lnSpc>
                <a:spcBef>
                  <a:spcPct val="0"/>
                </a:spcBef>
              </a:pPr>
              <a:r>
                <a:rPr lang="en-US" b="true" sz="3996">
                  <a:solidFill>
                    <a:srgbClr val="FFFFFF"/>
                  </a:solidFill>
                  <a:latin typeface="Poppins Bold"/>
                  <a:ea typeface="Poppins Bold"/>
                  <a:cs typeface="Poppins Bold"/>
                  <a:sym typeface="Poppins Bold"/>
                </a:rPr>
                <a:t>No</a:t>
              </a:r>
            </a:p>
          </p:txBody>
        </p:sp>
        <p:sp>
          <p:nvSpPr>
            <p:cNvPr name="TextBox 23" id="23"/>
            <p:cNvSpPr txBox="true"/>
            <p:nvPr/>
          </p:nvSpPr>
          <p:spPr>
            <a:xfrm rot="0">
              <a:off x="2184479" y="48747"/>
              <a:ext cx="3280976" cy="925689"/>
            </a:xfrm>
            <a:prstGeom prst="rect">
              <a:avLst/>
            </a:prstGeom>
          </p:spPr>
          <p:txBody>
            <a:bodyPr anchor="t" rtlCol="false" tIns="0" lIns="0" bIns="0" rIns="0">
              <a:spAutoFit/>
            </a:bodyPr>
            <a:lstStyle/>
            <a:p>
              <a:pPr algn="l">
                <a:lnSpc>
                  <a:spcPts val="5594"/>
                </a:lnSpc>
                <a:spcBef>
                  <a:spcPct val="0"/>
                </a:spcBef>
              </a:pPr>
              <a:r>
                <a:rPr lang="en-US" b="true" sz="3996">
                  <a:solidFill>
                    <a:srgbClr val="FFFFFF"/>
                  </a:solidFill>
                  <a:latin typeface="Poppins Semi-Bold"/>
                  <a:ea typeface="Poppins Semi-Bold"/>
                  <a:cs typeface="Poppins Semi-Bold"/>
                  <a:sym typeface="Poppins Semi-Bold"/>
                </a:rPr>
                <a:t>Parking</a:t>
              </a:r>
            </a:p>
          </p:txBody>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8B7BDB"/>
        </a:solidFill>
      </p:bgPr>
    </p:bg>
    <p:spTree>
      <p:nvGrpSpPr>
        <p:cNvPr id="1" name=""/>
        <p:cNvGrpSpPr/>
        <p:nvPr/>
      </p:nvGrpSpPr>
      <p:grpSpPr>
        <a:xfrm>
          <a:off x="0" y="0"/>
          <a:ext cx="0" cy="0"/>
          <a:chOff x="0" y="0"/>
          <a:chExt cx="0" cy="0"/>
        </a:xfrm>
      </p:grpSpPr>
      <p:grpSp>
        <p:nvGrpSpPr>
          <p:cNvPr name="Group 2" id="2"/>
          <p:cNvGrpSpPr/>
          <p:nvPr/>
        </p:nvGrpSpPr>
        <p:grpSpPr>
          <a:xfrm rot="0">
            <a:off x="1356265" y="2330003"/>
            <a:ext cx="4792032" cy="2779347"/>
            <a:chOff x="0" y="0"/>
            <a:chExt cx="1262099" cy="732009"/>
          </a:xfrm>
        </p:grpSpPr>
        <p:sp>
          <p:nvSpPr>
            <p:cNvPr name="Freeform 3" id="3"/>
            <p:cNvSpPr/>
            <p:nvPr/>
          </p:nvSpPr>
          <p:spPr>
            <a:xfrm flipH="false" flipV="false" rot="0">
              <a:off x="0" y="0"/>
              <a:ext cx="1262099" cy="732009"/>
            </a:xfrm>
            <a:custGeom>
              <a:avLst/>
              <a:gdLst/>
              <a:ahLst/>
              <a:cxnLst/>
              <a:rect r="r" b="b" t="t" l="l"/>
              <a:pathLst>
                <a:path h="732009" w="1262099">
                  <a:moveTo>
                    <a:pt x="150249" y="0"/>
                  </a:moveTo>
                  <a:lnTo>
                    <a:pt x="1111850" y="0"/>
                  </a:lnTo>
                  <a:cubicBezTo>
                    <a:pt x="1194830" y="0"/>
                    <a:pt x="1262099" y="67269"/>
                    <a:pt x="1262099" y="150249"/>
                  </a:cubicBezTo>
                  <a:lnTo>
                    <a:pt x="1262099" y="581760"/>
                  </a:lnTo>
                  <a:cubicBezTo>
                    <a:pt x="1262099" y="621609"/>
                    <a:pt x="1246269" y="659825"/>
                    <a:pt x="1218092" y="688002"/>
                  </a:cubicBezTo>
                  <a:cubicBezTo>
                    <a:pt x="1189915" y="716179"/>
                    <a:pt x="1151699" y="732009"/>
                    <a:pt x="1111850" y="732009"/>
                  </a:cubicBezTo>
                  <a:lnTo>
                    <a:pt x="150249" y="732009"/>
                  </a:lnTo>
                  <a:cubicBezTo>
                    <a:pt x="67269" y="732009"/>
                    <a:pt x="0" y="664740"/>
                    <a:pt x="0" y="581760"/>
                  </a:cubicBezTo>
                  <a:lnTo>
                    <a:pt x="0" y="150249"/>
                  </a:lnTo>
                  <a:cubicBezTo>
                    <a:pt x="0" y="110401"/>
                    <a:pt x="15830" y="72184"/>
                    <a:pt x="44007" y="44007"/>
                  </a:cubicBezTo>
                  <a:cubicBezTo>
                    <a:pt x="72184" y="15830"/>
                    <a:pt x="110401" y="0"/>
                    <a:pt x="150249" y="0"/>
                  </a:cubicBezTo>
                  <a:close/>
                </a:path>
              </a:pathLst>
            </a:custGeom>
            <a:solidFill>
              <a:srgbClr val="F8F8F8"/>
            </a:solidFill>
            <a:ln w="38100" cap="rnd">
              <a:solidFill>
                <a:srgbClr val="000000"/>
              </a:solidFill>
              <a:prstDash val="solid"/>
              <a:round/>
            </a:ln>
          </p:spPr>
        </p:sp>
        <p:sp>
          <p:nvSpPr>
            <p:cNvPr name="TextBox 4" id="4"/>
            <p:cNvSpPr txBox="true"/>
            <p:nvPr/>
          </p:nvSpPr>
          <p:spPr>
            <a:xfrm>
              <a:off x="0" y="-47625"/>
              <a:ext cx="1262099" cy="779634"/>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0">
            <a:off x="-5466775" y="-512435"/>
            <a:ext cx="6652904" cy="11002661"/>
            <a:chOff x="0" y="0"/>
            <a:chExt cx="1752205" cy="2897820"/>
          </a:xfrm>
        </p:grpSpPr>
        <p:sp>
          <p:nvSpPr>
            <p:cNvPr name="Freeform 6" id="6"/>
            <p:cNvSpPr/>
            <p:nvPr/>
          </p:nvSpPr>
          <p:spPr>
            <a:xfrm flipH="false" flipV="false" rot="0">
              <a:off x="0" y="0"/>
              <a:ext cx="1752205" cy="2897820"/>
            </a:xfrm>
            <a:custGeom>
              <a:avLst/>
              <a:gdLst/>
              <a:ahLst/>
              <a:cxnLst/>
              <a:rect r="r" b="b" t="t" l="l"/>
              <a:pathLst>
                <a:path h="2897820" w="1752205">
                  <a:moveTo>
                    <a:pt x="36074" y="0"/>
                  </a:moveTo>
                  <a:lnTo>
                    <a:pt x="1716131" y="0"/>
                  </a:lnTo>
                  <a:cubicBezTo>
                    <a:pt x="1725698" y="0"/>
                    <a:pt x="1734874" y="3801"/>
                    <a:pt x="1741639" y="10566"/>
                  </a:cubicBezTo>
                  <a:cubicBezTo>
                    <a:pt x="1748405" y="17331"/>
                    <a:pt x="1752205" y="26507"/>
                    <a:pt x="1752205" y="36074"/>
                  </a:cubicBezTo>
                  <a:lnTo>
                    <a:pt x="1752205" y="2861746"/>
                  </a:lnTo>
                  <a:cubicBezTo>
                    <a:pt x="1752205" y="2871313"/>
                    <a:pt x="1748405" y="2880489"/>
                    <a:pt x="1741639" y="2887254"/>
                  </a:cubicBezTo>
                  <a:cubicBezTo>
                    <a:pt x="1734874" y="2894019"/>
                    <a:pt x="1725698" y="2897820"/>
                    <a:pt x="1716131" y="2897820"/>
                  </a:cubicBezTo>
                  <a:lnTo>
                    <a:pt x="36074" y="2897820"/>
                  </a:lnTo>
                  <a:cubicBezTo>
                    <a:pt x="26507" y="2897820"/>
                    <a:pt x="17331" y="2894019"/>
                    <a:pt x="10566" y="2887254"/>
                  </a:cubicBezTo>
                  <a:cubicBezTo>
                    <a:pt x="3801" y="2880489"/>
                    <a:pt x="0" y="2871313"/>
                    <a:pt x="0" y="2861746"/>
                  </a:cubicBezTo>
                  <a:lnTo>
                    <a:pt x="0" y="36074"/>
                  </a:lnTo>
                  <a:cubicBezTo>
                    <a:pt x="0" y="26507"/>
                    <a:pt x="3801" y="17331"/>
                    <a:pt x="10566" y="10566"/>
                  </a:cubicBezTo>
                  <a:cubicBezTo>
                    <a:pt x="17331" y="3801"/>
                    <a:pt x="26507" y="0"/>
                    <a:pt x="36074" y="0"/>
                  </a:cubicBezTo>
                  <a:close/>
                </a:path>
              </a:pathLst>
            </a:custGeom>
            <a:solidFill>
              <a:srgbClr val="443880"/>
            </a:solidFill>
          </p:spPr>
        </p:sp>
        <p:sp>
          <p:nvSpPr>
            <p:cNvPr name="TextBox 7" id="7"/>
            <p:cNvSpPr txBox="true"/>
            <p:nvPr/>
          </p:nvSpPr>
          <p:spPr>
            <a:xfrm>
              <a:off x="0" y="-38100"/>
              <a:ext cx="1752205" cy="293592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7130415" y="2330003"/>
            <a:ext cx="4792032" cy="2779347"/>
            <a:chOff x="0" y="0"/>
            <a:chExt cx="1262099" cy="732009"/>
          </a:xfrm>
        </p:grpSpPr>
        <p:sp>
          <p:nvSpPr>
            <p:cNvPr name="Freeform 9" id="9"/>
            <p:cNvSpPr/>
            <p:nvPr/>
          </p:nvSpPr>
          <p:spPr>
            <a:xfrm flipH="false" flipV="false" rot="0">
              <a:off x="0" y="0"/>
              <a:ext cx="1262099" cy="732009"/>
            </a:xfrm>
            <a:custGeom>
              <a:avLst/>
              <a:gdLst/>
              <a:ahLst/>
              <a:cxnLst/>
              <a:rect r="r" b="b" t="t" l="l"/>
              <a:pathLst>
                <a:path h="732009" w="1262099">
                  <a:moveTo>
                    <a:pt x="150249" y="0"/>
                  </a:moveTo>
                  <a:lnTo>
                    <a:pt x="1111850" y="0"/>
                  </a:lnTo>
                  <a:cubicBezTo>
                    <a:pt x="1194830" y="0"/>
                    <a:pt x="1262099" y="67269"/>
                    <a:pt x="1262099" y="150249"/>
                  </a:cubicBezTo>
                  <a:lnTo>
                    <a:pt x="1262099" y="581760"/>
                  </a:lnTo>
                  <a:cubicBezTo>
                    <a:pt x="1262099" y="621609"/>
                    <a:pt x="1246269" y="659825"/>
                    <a:pt x="1218092" y="688002"/>
                  </a:cubicBezTo>
                  <a:cubicBezTo>
                    <a:pt x="1189915" y="716179"/>
                    <a:pt x="1151699" y="732009"/>
                    <a:pt x="1111850" y="732009"/>
                  </a:cubicBezTo>
                  <a:lnTo>
                    <a:pt x="150249" y="732009"/>
                  </a:lnTo>
                  <a:cubicBezTo>
                    <a:pt x="67269" y="732009"/>
                    <a:pt x="0" y="664740"/>
                    <a:pt x="0" y="581760"/>
                  </a:cubicBezTo>
                  <a:lnTo>
                    <a:pt x="0" y="150249"/>
                  </a:lnTo>
                  <a:cubicBezTo>
                    <a:pt x="0" y="110401"/>
                    <a:pt x="15830" y="72184"/>
                    <a:pt x="44007" y="44007"/>
                  </a:cubicBezTo>
                  <a:cubicBezTo>
                    <a:pt x="72184" y="15830"/>
                    <a:pt x="110401" y="0"/>
                    <a:pt x="150249" y="0"/>
                  </a:cubicBezTo>
                  <a:close/>
                </a:path>
              </a:pathLst>
            </a:custGeom>
            <a:solidFill>
              <a:srgbClr val="F8F8F8"/>
            </a:solidFill>
            <a:ln w="38100" cap="rnd">
              <a:solidFill>
                <a:srgbClr val="000000"/>
              </a:solidFill>
              <a:prstDash val="solid"/>
              <a:round/>
            </a:ln>
          </p:spPr>
        </p:sp>
        <p:sp>
          <p:nvSpPr>
            <p:cNvPr name="TextBox 10" id="10"/>
            <p:cNvSpPr txBox="true"/>
            <p:nvPr/>
          </p:nvSpPr>
          <p:spPr>
            <a:xfrm>
              <a:off x="0" y="-47625"/>
              <a:ext cx="1262099" cy="779634"/>
            </a:xfrm>
            <a:prstGeom prst="rect">
              <a:avLst/>
            </a:prstGeom>
          </p:spPr>
          <p:txBody>
            <a:bodyPr anchor="ctr" rtlCol="false" tIns="50800" lIns="50800" bIns="50800" rIns="50800"/>
            <a:lstStyle/>
            <a:p>
              <a:pPr algn="ctr">
                <a:lnSpc>
                  <a:spcPts val="2800"/>
                </a:lnSpc>
              </a:pPr>
            </a:p>
          </p:txBody>
        </p:sp>
      </p:grpSp>
      <p:grpSp>
        <p:nvGrpSpPr>
          <p:cNvPr name="Group 11" id="11"/>
          <p:cNvGrpSpPr/>
          <p:nvPr/>
        </p:nvGrpSpPr>
        <p:grpSpPr>
          <a:xfrm rot="0">
            <a:off x="12681452" y="2330003"/>
            <a:ext cx="4792032" cy="2779347"/>
            <a:chOff x="0" y="0"/>
            <a:chExt cx="1262099" cy="732009"/>
          </a:xfrm>
        </p:grpSpPr>
        <p:sp>
          <p:nvSpPr>
            <p:cNvPr name="Freeform 12" id="12"/>
            <p:cNvSpPr/>
            <p:nvPr/>
          </p:nvSpPr>
          <p:spPr>
            <a:xfrm flipH="false" flipV="false" rot="0">
              <a:off x="0" y="0"/>
              <a:ext cx="1262099" cy="732009"/>
            </a:xfrm>
            <a:custGeom>
              <a:avLst/>
              <a:gdLst/>
              <a:ahLst/>
              <a:cxnLst/>
              <a:rect r="r" b="b" t="t" l="l"/>
              <a:pathLst>
                <a:path h="732009" w="1262099">
                  <a:moveTo>
                    <a:pt x="150249" y="0"/>
                  </a:moveTo>
                  <a:lnTo>
                    <a:pt x="1111850" y="0"/>
                  </a:lnTo>
                  <a:cubicBezTo>
                    <a:pt x="1194830" y="0"/>
                    <a:pt x="1262099" y="67269"/>
                    <a:pt x="1262099" y="150249"/>
                  </a:cubicBezTo>
                  <a:lnTo>
                    <a:pt x="1262099" y="581760"/>
                  </a:lnTo>
                  <a:cubicBezTo>
                    <a:pt x="1262099" y="621609"/>
                    <a:pt x="1246269" y="659825"/>
                    <a:pt x="1218092" y="688002"/>
                  </a:cubicBezTo>
                  <a:cubicBezTo>
                    <a:pt x="1189915" y="716179"/>
                    <a:pt x="1151699" y="732009"/>
                    <a:pt x="1111850" y="732009"/>
                  </a:cubicBezTo>
                  <a:lnTo>
                    <a:pt x="150249" y="732009"/>
                  </a:lnTo>
                  <a:cubicBezTo>
                    <a:pt x="67269" y="732009"/>
                    <a:pt x="0" y="664740"/>
                    <a:pt x="0" y="581760"/>
                  </a:cubicBezTo>
                  <a:lnTo>
                    <a:pt x="0" y="150249"/>
                  </a:lnTo>
                  <a:cubicBezTo>
                    <a:pt x="0" y="110401"/>
                    <a:pt x="15830" y="72184"/>
                    <a:pt x="44007" y="44007"/>
                  </a:cubicBezTo>
                  <a:cubicBezTo>
                    <a:pt x="72184" y="15830"/>
                    <a:pt x="110401" y="0"/>
                    <a:pt x="150249" y="0"/>
                  </a:cubicBezTo>
                  <a:close/>
                </a:path>
              </a:pathLst>
            </a:custGeom>
            <a:solidFill>
              <a:srgbClr val="F8F8F8"/>
            </a:solidFill>
            <a:ln w="38100" cap="rnd">
              <a:solidFill>
                <a:srgbClr val="000000"/>
              </a:solidFill>
              <a:prstDash val="solid"/>
              <a:round/>
            </a:ln>
          </p:spPr>
        </p:sp>
        <p:sp>
          <p:nvSpPr>
            <p:cNvPr name="TextBox 13" id="13"/>
            <p:cNvSpPr txBox="true"/>
            <p:nvPr/>
          </p:nvSpPr>
          <p:spPr>
            <a:xfrm>
              <a:off x="0" y="-47625"/>
              <a:ext cx="1262099" cy="779634"/>
            </a:xfrm>
            <a:prstGeom prst="rect">
              <a:avLst/>
            </a:prstGeom>
          </p:spPr>
          <p:txBody>
            <a:bodyPr anchor="ctr" rtlCol="false" tIns="50800" lIns="50800" bIns="50800" rIns="50800"/>
            <a:lstStyle/>
            <a:p>
              <a:pPr algn="ctr">
                <a:lnSpc>
                  <a:spcPts val="2800"/>
                </a:lnSpc>
              </a:pPr>
            </a:p>
          </p:txBody>
        </p:sp>
      </p:grpSp>
      <p:grpSp>
        <p:nvGrpSpPr>
          <p:cNvPr name="Group 14" id="14"/>
          <p:cNvGrpSpPr/>
          <p:nvPr/>
        </p:nvGrpSpPr>
        <p:grpSpPr>
          <a:xfrm rot="0">
            <a:off x="1356265" y="6088809"/>
            <a:ext cx="4792032" cy="2779347"/>
            <a:chOff x="0" y="0"/>
            <a:chExt cx="1262099" cy="732009"/>
          </a:xfrm>
        </p:grpSpPr>
        <p:sp>
          <p:nvSpPr>
            <p:cNvPr name="Freeform 15" id="15"/>
            <p:cNvSpPr/>
            <p:nvPr/>
          </p:nvSpPr>
          <p:spPr>
            <a:xfrm flipH="false" flipV="false" rot="0">
              <a:off x="0" y="0"/>
              <a:ext cx="1262099" cy="732009"/>
            </a:xfrm>
            <a:custGeom>
              <a:avLst/>
              <a:gdLst/>
              <a:ahLst/>
              <a:cxnLst/>
              <a:rect r="r" b="b" t="t" l="l"/>
              <a:pathLst>
                <a:path h="732009" w="1262099">
                  <a:moveTo>
                    <a:pt x="150249" y="0"/>
                  </a:moveTo>
                  <a:lnTo>
                    <a:pt x="1111850" y="0"/>
                  </a:lnTo>
                  <a:cubicBezTo>
                    <a:pt x="1194830" y="0"/>
                    <a:pt x="1262099" y="67269"/>
                    <a:pt x="1262099" y="150249"/>
                  </a:cubicBezTo>
                  <a:lnTo>
                    <a:pt x="1262099" y="581760"/>
                  </a:lnTo>
                  <a:cubicBezTo>
                    <a:pt x="1262099" y="621609"/>
                    <a:pt x="1246269" y="659825"/>
                    <a:pt x="1218092" y="688002"/>
                  </a:cubicBezTo>
                  <a:cubicBezTo>
                    <a:pt x="1189915" y="716179"/>
                    <a:pt x="1151699" y="732009"/>
                    <a:pt x="1111850" y="732009"/>
                  </a:cubicBezTo>
                  <a:lnTo>
                    <a:pt x="150249" y="732009"/>
                  </a:lnTo>
                  <a:cubicBezTo>
                    <a:pt x="67269" y="732009"/>
                    <a:pt x="0" y="664740"/>
                    <a:pt x="0" y="581760"/>
                  </a:cubicBezTo>
                  <a:lnTo>
                    <a:pt x="0" y="150249"/>
                  </a:lnTo>
                  <a:cubicBezTo>
                    <a:pt x="0" y="110401"/>
                    <a:pt x="15830" y="72184"/>
                    <a:pt x="44007" y="44007"/>
                  </a:cubicBezTo>
                  <a:cubicBezTo>
                    <a:pt x="72184" y="15830"/>
                    <a:pt x="110401" y="0"/>
                    <a:pt x="150249" y="0"/>
                  </a:cubicBezTo>
                  <a:close/>
                </a:path>
              </a:pathLst>
            </a:custGeom>
            <a:solidFill>
              <a:srgbClr val="F8F8F8"/>
            </a:solidFill>
            <a:ln w="38100" cap="rnd">
              <a:solidFill>
                <a:srgbClr val="000000"/>
              </a:solidFill>
              <a:prstDash val="solid"/>
              <a:round/>
            </a:ln>
          </p:spPr>
        </p:sp>
        <p:sp>
          <p:nvSpPr>
            <p:cNvPr name="TextBox 16" id="16"/>
            <p:cNvSpPr txBox="true"/>
            <p:nvPr/>
          </p:nvSpPr>
          <p:spPr>
            <a:xfrm>
              <a:off x="0" y="-47625"/>
              <a:ext cx="1262099" cy="779634"/>
            </a:xfrm>
            <a:prstGeom prst="rect">
              <a:avLst/>
            </a:prstGeom>
          </p:spPr>
          <p:txBody>
            <a:bodyPr anchor="ctr" rtlCol="false" tIns="50800" lIns="50800" bIns="50800" rIns="50800"/>
            <a:lstStyle/>
            <a:p>
              <a:pPr algn="ctr">
                <a:lnSpc>
                  <a:spcPts val="2800"/>
                </a:lnSpc>
              </a:pPr>
            </a:p>
          </p:txBody>
        </p:sp>
      </p:grpSp>
      <p:grpSp>
        <p:nvGrpSpPr>
          <p:cNvPr name="Group 17" id="17"/>
          <p:cNvGrpSpPr/>
          <p:nvPr/>
        </p:nvGrpSpPr>
        <p:grpSpPr>
          <a:xfrm rot="0">
            <a:off x="7130415" y="6088809"/>
            <a:ext cx="4792032" cy="2779347"/>
            <a:chOff x="0" y="0"/>
            <a:chExt cx="1262099" cy="732009"/>
          </a:xfrm>
        </p:grpSpPr>
        <p:sp>
          <p:nvSpPr>
            <p:cNvPr name="Freeform 18" id="18"/>
            <p:cNvSpPr/>
            <p:nvPr/>
          </p:nvSpPr>
          <p:spPr>
            <a:xfrm flipH="false" flipV="false" rot="0">
              <a:off x="0" y="0"/>
              <a:ext cx="1262099" cy="732009"/>
            </a:xfrm>
            <a:custGeom>
              <a:avLst/>
              <a:gdLst/>
              <a:ahLst/>
              <a:cxnLst/>
              <a:rect r="r" b="b" t="t" l="l"/>
              <a:pathLst>
                <a:path h="732009" w="1262099">
                  <a:moveTo>
                    <a:pt x="150249" y="0"/>
                  </a:moveTo>
                  <a:lnTo>
                    <a:pt x="1111850" y="0"/>
                  </a:lnTo>
                  <a:cubicBezTo>
                    <a:pt x="1194830" y="0"/>
                    <a:pt x="1262099" y="67269"/>
                    <a:pt x="1262099" y="150249"/>
                  </a:cubicBezTo>
                  <a:lnTo>
                    <a:pt x="1262099" y="581760"/>
                  </a:lnTo>
                  <a:cubicBezTo>
                    <a:pt x="1262099" y="621609"/>
                    <a:pt x="1246269" y="659825"/>
                    <a:pt x="1218092" y="688002"/>
                  </a:cubicBezTo>
                  <a:cubicBezTo>
                    <a:pt x="1189915" y="716179"/>
                    <a:pt x="1151699" y="732009"/>
                    <a:pt x="1111850" y="732009"/>
                  </a:cubicBezTo>
                  <a:lnTo>
                    <a:pt x="150249" y="732009"/>
                  </a:lnTo>
                  <a:cubicBezTo>
                    <a:pt x="67269" y="732009"/>
                    <a:pt x="0" y="664740"/>
                    <a:pt x="0" y="581760"/>
                  </a:cubicBezTo>
                  <a:lnTo>
                    <a:pt x="0" y="150249"/>
                  </a:lnTo>
                  <a:cubicBezTo>
                    <a:pt x="0" y="110401"/>
                    <a:pt x="15830" y="72184"/>
                    <a:pt x="44007" y="44007"/>
                  </a:cubicBezTo>
                  <a:cubicBezTo>
                    <a:pt x="72184" y="15830"/>
                    <a:pt x="110401" y="0"/>
                    <a:pt x="150249" y="0"/>
                  </a:cubicBezTo>
                  <a:close/>
                </a:path>
              </a:pathLst>
            </a:custGeom>
            <a:solidFill>
              <a:srgbClr val="F8F8F8"/>
            </a:solidFill>
            <a:ln w="38100" cap="rnd">
              <a:solidFill>
                <a:srgbClr val="000000"/>
              </a:solidFill>
              <a:prstDash val="solid"/>
              <a:round/>
            </a:ln>
          </p:spPr>
        </p:sp>
        <p:sp>
          <p:nvSpPr>
            <p:cNvPr name="TextBox 19" id="19"/>
            <p:cNvSpPr txBox="true"/>
            <p:nvPr/>
          </p:nvSpPr>
          <p:spPr>
            <a:xfrm>
              <a:off x="0" y="-47625"/>
              <a:ext cx="1262099" cy="779634"/>
            </a:xfrm>
            <a:prstGeom prst="rect">
              <a:avLst/>
            </a:prstGeom>
          </p:spPr>
          <p:txBody>
            <a:bodyPr anchor="ctr" rtlCol="false" tIns="50800" lIns="50800" bIns="50800" rIns="50800"/>
            <a:lstStyle/>
            <a:p>
              <a:pPr algn="ctr">
                <a:lnSpc>
                  <a:spcPts val="2800"/>
                </a:lnSpc>
              </a:pPr>
            </a:p>
          </p:txBody>
        </p:sp>
      </p:grpSp>
      <p:grpSp>
        <p:nvGrpSpPr>
          <p:cNvPr name="Group 20" id="20"/>
          <p:cNvGrpSpPr/>
          <p:nvPr/>
        </p:nvGrpSpPr>
        <p:grpSpPr>
          <a:xfrm rot="0">
            <a:off x="12681452" y="6088809"/>
            <a:ext cx="4792032" cy="2779347"/>
            <a:chOff x="0" y="0"/>
            <a:chExt cx="1262099" cy="732009"/>
          </a:xfrm>
        </p:grpSpPr>
        <p:sp>
          <p:nvSpPr>
            <p:cNvPr name="Freeform 21" id="21"/>
            <p:cNvSpPr/>
            <p:nvPr/>
          </p:nvSpPr>
          <p:spPr>
            <a:xfrm flipH="false" flipV="false" rot="0">
              <a:off x="0" y="0"/>
              <a:ext cx="1262099" cy="732009"/>
            </a:xfrm>
            <a:custGeom>
              <a:avLst/>
              <a:gdLst/>
              <a:ahLst/>
              <a:cxnLst/>
              <a:rect r="r" b="b" t="t" l="l"/>
              <a:pathLst>
                <a:path h="732009" w="1262099">
                  <a:moveTo>
                    <a:pt x="150249" y="0"/>
                  </a:moveTo>
                  <a:lnTo>
                    <a:pt x="1111850" y="0"/>
                  </a:lnTo>
                  <a:cubicBezTo>
                    <a:pt x="1194830" y="0"/>
                    <a:pt x="1262099" y="67269"/>
                    <a:pt x="1262099" y="150249"/>
                  </a:cubicBezTo>
                  <a:lnTo>
                    <a:pt x="1262099" y="581760"/>
                  </a:lnTo>
                  <a:cubicBezTo>
                    <a:pt x="1262099" y="621609"/>
                    <a:pt x="1246269" y="659825"/>
                    <a:pt x="1218092" y="688002"/>
                  </a:cubicBezTo>
                  <a:cubicBezTo>
                    <a:pt x="1189915" y="716179"/>
                    <a:pt x="1151699" y="732009"/>
                    <a:pt x="1111850" y="732009"/>
                  </a:cubicBezTo>
                  <a:lnTo>
                    <a:pt x="150249" y="732009"/>
                  </a:lnTo>
                  <a:cubicBezTo>
                    <a:pt x="67269" y="732009"/>
                    <a:pt x="0" y="664740"/>
                    <a:pt x="0" y="581760"/>
                  </a:cubicBezTo>
                  <a:lnTo>
                    <a:pt x="0" y="150249"/>
                  </a:lnTo>
                  <a:cubicBezTo>
                    <a:pt x="0" y="110401"/>
                    <a:pt x="15830" y="72184"/>
                    <a:pt x="44007" y="44007"/>
                  </a:cubicBezTo>
                  <a:cubicBezTo>
                    <a:pt x="72184" y="15830"/>
                    <a:pt x="110401" y="0"/>
                    <a:pt x="150249" y="0"/>
                  </a:cubicBezTo>
                  <a:close/>
                </a:path>
              </a:pathLst>
            </a:custGeom>
            <a:solidFill>
              <a:srgbClr val="F8F8F8"/>
            </a:solidFill>
            <a:ln w="38100" cap="rnd">
              <a:solidFill>
                <a:srgbClr val="000000"/>
              </a:solidFill>
              <a:prstDash val="solid"/>
              <a:round/>
            </a:ln>
          </p:spPr>
        </p:sp>
        <p:sp>
          <p:nvSpPr>
            <p:cNvPr name="TextBox 22" id="22"/>
            <p:cNvSpPr txBox="true"/>
            <p:nvPr/>
          </p:nvSpPr>
          <p:spPr>
            <a:xfrm>
              <a:off x="0" y="-47625"/>
              <a:ext cx="1262099" cy="779634"/>
            </a:xfrm>
            <a:prstGeom prst="rect">
              <a:avLst/>
            </a:prstGeom>
          </p:spPr>
          <p:txBody>
            <a:bodyPr anchor="ctr" rtlCol="false" tIns="50800" lIns="50800" bIns="50800" rIns="50800"/>
            <a:lstStyle/>
            <a:p>
              <a:pPr algn="ctr">
                <a:lnSpc>
                  <a:spcPts val="2800"/>
                </a:lnSpc>
              </a:pPr>
            </a:p>
          </p:txBody>
        </p:sp>
      </p:grpSp>
      <p:sp>
        <p:nvSpPr>
          <p:cNvPr name="Freeform 23" id="23"/>
          <p:cNvSpPr/>
          <p:nvPr/>
        </p:nvSpPr>
        <p:spPr>
          <a:xfrm flipH="false" flipV="false" rot="0">
            <a:off x="14166074" y="4586411"/>
            <a:ext cx="1822787" cy="1114178"/>
          </a:xfrm>
          <a:custGeom>
            <a:avLst/>
            <a:gdLst/>
            <a:ahLst/>
            <a:cxnLst/>
            <a:rect r="r" b="b" t="t" l="l"/>
            <a:pathLst>
              <a:path h="1114178" w="1822787">
                <a:moveTo>
                  <a:pt x="0" y="0"/>
                </a:moveTo>
                <a:lnTo>
                  <a:pt x="1822787" y="0"/>
                </a:lnTo>
                <a:lnTo>
                  <a:pt x="1822787" y="1114178"/>
                </a:lnTo>
                <a:lnTo>
                  <a:pt x="0" y="1114178"/>
                </a:lnTo>
                <a:lnTo>
                  <a:pt x="0" y="0"/>
                </a:lnTo>
                <a:close/>
              </a:path>
            </a:pathLst>
          </a:custGeom>
          <a:blipFill>
            <a:blip r:embed="rId2"/>
            <a:stretch>
              <a:fillRect l="0" t="0" r="0" b="0"/>
            </a:stretch>
          </a:blipFill>
        </p:spPr>
      </p:sp>
      <p:sp>
        <p:nvSpPr>
          <p:cNvPr name="Freeform 24" id="24"/>
          <p:cNvSpPr/>
          <p:nvPr/>
        </p:nvSpPr>
        <p:spPr>
          <a:xfrm flipH="false" flipV="false" rot="0">
            <a:off x="2722477" y="8514044"/>
            <a:ext cx="1753806" cy="1025976"/>
          </a:xfrm>
          <a:custGeom>
            <a:avLst/>
            <a:gdLst/>
            <a:ahLst/>
            <a:cxnLst/>
            <a:rect r="r" b="b" t="t" l="l"/>
            <a:pathLst>
              <a:path h="1025976" w="1753806">
                <a:moveTo>
                  <a:pt x="0" y="0"/>
                </a:moveTo>
                <a:lnTo>
                  <a:pt x="1753806" y="0"/>
                </a:lnTo>
                <a:lnTo>
                  <a:pt x="1753806" y="1025976"/>
                </a:lnTo>
                <a:lnTo>
                  <a:pt x="0" y="1025976"/>
                </a:lnTo>
                <a:lnTo>
                  <a:pt x="0" y="0"/>
                </a:lnTo>
                <a:close/>
              </a:path>
            </a:pathLst>
          </a:custGeom>
          <a:blipFill>
            <a:blip r:embed="rId3"/>
            <a:stretch>
              <a:fillRect l="0" t="0" r="0" b="0"/>
            </a:stretch>
          </a:blipFill>
        </p:spPr>
      </p:sp>
      <p:sp>
        <p:nvSpPr>
          <p:cNvPr name="Freeform 25" id="25"/>
          <p:cNvSpPr/>
          <p:nvPr/>
        </p:nvSpPr>
        <p:spPr>
          <a:xfrm flipH="false" flipV="false" rot="0">
            <a:off x="2722477" y="4574977"/>
            <a:ext cx="1865748" cy="1091463"/>
          </a:xfrm>
          <a:custGeom>
            <a:avLst/>
            <a:gdLst/>
            <a:ahLst/>
            <a:cxnLst/>
            <a:rect r="r" b="b" t="t" l="l"/>
            <a:pathLst>
              <a:path h="1091463" w="1865748">
                <a:moveTo>
                  <a:pt x="0" y="0"/>
                </a:moveTo>
                <a:lnTo>
                  <a:pt x="1865749" y="0"/>
                </a:lnTo>
                <a:lnTo>
                  <a:pt x="1865749" y="1091462"/>
                </a:lnTo>
                <a:lnTo>
                  <a:pt x="0" y="1091462"/>
                </a:lnTo>
                <a:lnTo>
                  <a:pt x="0" y="0"/>
                </a:lnTo>
                <a:close/>
              </a:path>
            </a:pathLst>
          </a:custGeom>
          <a:blipFill>
            <a:blip r:embed="rId4"/>
            <a:stretch>
              <a:fillRect l="0" t="0" r="0" b="0"/>
            </a:stretch>
          </a:blipFill>
        </p:spPr>
      </p:sp>
      <p:sp>
        <p:nvSpPr>
          <p:cNvPr name="TextBox 26" id="26"/>
          <p:cNvSpPr txBox="true"/>
          <p:nvPr/>
        </p:nvSpPr>
        <p:spPr>
          <a:xfrm rot="0">
            <a:off x="5415940" y="247121"/>
            <a:ext cx="7757243" cy="1273257"/>
          </a:xfrm>
          <a:prstGeom prst="rect">
            <a:avLst/>
          </a:prstGeom>
        </p:spPr>
        <p:txBody>
          <a:bodyPr anchor="t" rtlCol="false" tIns="0" lIns="0" bIns="0" rIns="0">
            <a:spAutoFit/>
          </a:bodyPr>
          <a:lstStyle/>
          <a:p>
            <a:pPr algn="l">
              <a:lnSpc>
                <a:spcPts val="9075"/>
              </a:lnSpc>
            </a:pPr>
            <a:r>
              <a:rPr lang="en-US" sz="8561" b="true">
                <a:solidFill>
                  <a:srgbClr val="FFFFFF"/>
                </a:solidFill>
                <a:latin typeface="Poppins Semi-Bold"/>
                <a:ea typeface="Poppins Semi-Bold"/>
                <a:cs typeface="Poppins Semi-Bold"/>
                <a:sym typeface="Poppins Semi-Bold"/>
              </a:rPr>
              <a:t>Business Plan</a:t>
            </a:r>
          </a:p>
        </p:txBody>
      </p:sp>
      <p:sp>
        <p:nvSpPr>
          <p:cNvPr name="TextBox 27" id="27"/>
          <p:cNvSpPr txBox="true"/>
          <p:nvPr/>
        </p:nvSpPr>
        <p:spPr>
          <a:xfrm rot="0">
            <a:off x="5415940" y="1276450"/>
            <a:ext cx="7416972" cy="634452"/>
          </a:xfrm>
          <a:prstGeom prst="rect">
            <a:avLst/>
          </a:prstGeom>
        </p:spPr>
        <p:txBody>
          <a:bodyPr anchor="t" rtlCol="false" tIns="0" lIns="0" bIns="0" rIns="0">
            <a:spAutoFit/>
          </a:bodyPr>
          <a:lstStyle/>
          <a:p>
            <a:pPr algn="l">
              <a:lnSpc>
                <a:spcPts val="4706"/>
              </a:lnSpc>
            </a:pPr>
            <a:r>
              <a:rPr lang="en-US" sz="4022" b="true">
                <a:solidFill>
                  <a:srgbClr val="FFFFFF"/>
                </a:solidFill>
                <a:latin typeface="Poppins Medium"/>
                <a:ea typeface="Poppins Medium"/>
                <a:cs typeface="Poppins Medium"/>
                <a:sym typeface="Poppins Medium"/>
              </a:rPr>
              <a:t>Effort Sizing</a:t>
            </a:r>
          </a:p>
        </p:txBody>
      </p:sp>
      <p:sp>
        <p:nvSpPr>
          <p:cNvPr name="TextBox 28" id="28"/>
          <p:cNvSpPr txBox="true"/>
          <p:nvPr/>
        </p:nvSpPr>
        <p:spPr>
          <a:xfrm rot="0">
            <a:off x="1612293" y="2303081"/>
            <a:ext cx="4086117" cy="2806269"/>
          </a:xfrm>
          <a:prstGeom prst="rect">
            <a:avLst/>
          </a:prstGeom>
        </p:spPr>
        <p:txBody>
          <a:bodyPr anchor="t" rtlCol="false" tIns="0" lIns="0" bIns="0" rIns="0">
            <a:spAutoFit/>
          </a:bodyPr>
          <a:lstStyle/>
          <a:p>
            <a:pPr algn="l">
              <a:lnSpc>
                <a:spcPts val="2823"/>
              </a:lnSpc>
            </a:pPr>
          </a:p>
          <a:p>
            <a:pPr algn="l">
              <a:lnSpc>
                <a:spcPts val="2823"/>
              </a:lnSpc>
              <a:spcBef>
                <a:spcPct val="0"/>
              </a:spcBef>
            </a:pPr>
            <a:r>
              <a:rPr lang="en-US" b="true" sz="2016">
                <a:solidFill>
                  <a:srgbClr val="000000"/>
                </a:solidFill>
                <a:latin typeface="Open Sauce Bold"/>
                <a:ea typeface="Open Sauce Bold"/>
                <a:cs typeface="Open Sauce Bold"/>
                <a:sym typeface="Open Sauce Bold"/>
              </a:rPr>
              <a:t>Q1 (Core Foundation): H</a:t>
            </a:r>
            <a:r>
              <a:rPr lang="en-US" b="true" sz="2016">
                <a:solidFill>
                  <a:srgbClr val="000000"/>
                </a:solidFill>
                <a:latin typeface="Open Sauce Bold"/>
                <a:ea typeface="Open Sauce Bold"/>
                <a:cs typeface="Open Sauce Bold"/>
                <a:sym typeface="Open Sauce Bold"/>
              </a:rPr>
              <a:t>igh Effort</a:t>
            </a:r>
          </a:p>
          <a:p>
            <a:pPr algn="l">
              <a:lnSpc>
                <a:spcPts val="2823"/>
              </a:lnSpc>
              <a:spcBef>
                <a:spcPct val="0"/>
              </a:spcBef>
            </a:pPr>
          </a:p>
          <a:p>
            <a:pPr algn="l">
              <a:lnSpc>
                <a:spcPts val="2823"/>
              </a:lnSpc>
            </a:pPr>
            <a:r>
              <a:rPr lang="en-US" sz="2016">
                <a:solidFill>
                  <a:srgbClr val="000000"/>
                </a:solidFill>
                <a:latin typeface="Open Sauce Light"/>
                <a:ea typeface="Open Sauce Light"/>
                <a:cs typeface="Open Sauce Light"/>
                <a:sym typeface="Open Sauce Light"/>
              </a:rPr>
              <a:t>Architecture s</a:t>
            </a:r>
            <a:r>
              <a:rPr lang="en-US" sz="2016">
                <a:solidFill>
                  <a:srgbClr val="000000"/>
                </a:solidFill>
                <a:latin typeface="Open Sauce Light"/>
                <a:ea typeface="Open Sauce Light"/>
                <a:cs typeface="Open Sauce Light"/>
                <a:sym typeface="Open Sauce Light"/>
              </a:rPr>
              <a:t>etup, core chatbot development, and basic analytics setup.</a:t>
            </a:r>
          </a:p>
          <a:p>
            <a:pPr algn="l">
              <a:lnSpc>
                <a:spcPts val="2823"/>
              </a:lnSpc>
            </a:pPr>
          </a:p>
        </p:txBody>
      </p:sp>
      <p:sp>
        <p:nvSpPr>
          <p:cNvPr name="TextBox 29" id="29"/>
          <p:cNvSpPr txBox="true"/>
          <p:nvPr/>
        </p:nvSpPr>
        <p:spPr>
          <a:xfrm rot="0">
            <a:off x="7555021" y="2483229"/>
            <a:ext cx="4086117" cy="2118564"/>
          </a:xfrm>
          <a:prstGeom prst="rect">
            <a:avLst/>
          </a:prstGeom>
        </p:spPr>
        <p:txBody>
          <a:bodyPr anchor="t" rtlCol="false" tIns="0" lIns="0" bIns="0" rIns="0">
            <a:spAutoFit/>
          </a:bodyPr>
          <a:lstStyle/>
          <a:p>
            <a:pPr algn="l">
              <a:lnSpc>
                <a:spcPts val="2403"/>
              </a:lnSpc>
              <a:spcBef>
                <a:spcPct val="0"/>
              </a:spcBef>
            </a:pPr>
            <a:r>
              <a:rPr lang="en-US" b="true" sz="1716">
                <a:solidFill>
                  <a:srgbClr val="000000"/>
                </a:solidFill>
                <a:latin typeface="Open Sauce Bold"/>
                <a:ea typeface="Open Sauce Bold"/>
                <a:cs typeface="Open Sauce Bold"/>
                <a:sym typeface="Open Sauce Bold"/>
              </a:rPr>
              <a:t>Q2 (Order Management &amp; Sentiment Analysis): Medium-H</a:t>
            </a:r>
            <a:r>
              <a:rPr lang="en-US" b="true" sz="1716">
                <a:solidFill>
                  <a:srgbClr val="000000"/>
                </a:solidFill>
                <a:latin typeface="Open Sauce Bold"/>
                <a:ea typeface="Open Sauce Bold"/>
                <a:cs typeface="Open Sauce Bold"/>
                <a:sym typeface="Open Sauce Bold"/>
              </a:rPr>
              <a:t>igh Effort</a:t>
            </a:r>
          </a:p>
          <a:p>
            <a:pPr algn="l">
              <a:lnSpc>
                <a:spcPts val="2403"/>
              </a:lnSpc>
              <a:spcBef>
                <a:spcPct val="0"/>
              </a:spcBef>
            </a:pPr>
          </a:p>
          <a:p>
            <a:pPr algn="l">
              <a:lnSpc>
                <a:spcPts val="2403"/>
              </a:lnSpc>
            </a:pPr>
            <a:r>
              <a:rPr lang="en-US" sz="1716">
                <a:solidFill>
                  <a:srgbClr val="000000"/>
                </a:solidFill>
                <a:latin typeface="Open Sauce"/>
                <a:ea typeface="Open Sauce"/>
                <a:cs typeface="Open Sauce"/>
                <a:sym typeface="Open Sauce"/>
              </a:rPr>
              <a:t>D</a:t>
            </a:r>
            <a:r>
              <a:rPr lang="en-US" sz="1716">
                <a:solidFill>
                  <a:srgbClr val="000000"/>
                </a:solidFill>
                <a:latin typeface="Open Sauce"/>
                <a:ea typeface="Open Sauce"/>
                <a:cs typeface="Open Sauce"/>
                <a:sym typeface="Open Sauce"/>
              </a:rPr>
              <a:t>e</a:t>
            </a:r>
            <a:r>
              <a:rPr lang="en-US" sz="1716">
                <a:solidFill>
                  <a:srgbClr val="000000"/>
                </a:solidFill>
                <a:latin typeface="Open Sauce"/>
                <a:ea typeface="Open Sauce"/>
                <a:cs typeface="Open Sauce"/>
                <a:sym typeface="Open Sauce"/>
              </a:rPr>
              <a:t>v</a:t>
            </a:r>
            <a:r>
              <a:rPr lang="en-US" sz="1716">
                <a:solidFill>
                  <a:srgbClr val="000000"/>
                </a:solidFill>
                <a:latin typeface="Open Sauce"/>
                <a:ea typeface="Open Sauce"/>
                <a:cs typeface="Open Sauce"/>
                <a:sym typeface="Open Sauce"/>
              </a:rPr>
              <a:t>e</a:t>
            </a:r>
            <a:r>
              <a:rPr lang="en-US" sz="1716">
                <a:solidFill>
                  <a:srgbClr val="000000"/>
                </a:solidFill>
                <a:latin typeface="Open Sauce"/>
                <a:ea typeface="Open Sauce"/>
                <a:cs typeface="Open Sauce"/>
                <a:sym typeface="Open Sauce"/>
              </a:rPr>
              <a:t>lopm</a:t>
            </a:r>
            <a:r>
              <a:rPr lang="en-US" sz="1716">
                <a:solidFill>
                  <a:srgbClr val="000000"/>
                </a:solidFill>
                <a:latin typeface="Open Sauce"/>
                <a:ea typeface="Open Sauce"/>
                <a:cs typeface="Open Sauce"/>
                <a:sym typeface="Open Sauce"/>
              </a:rPr>
              <a:t>e</a:t>
            </a:r>
            <a:r>
              <a:rPr lang="en-US" sz="1716">
                <a:solidFill>
                  <a:srgbClr val="000000"/>
                </a:solidFill>
                <a:latin typeface="Open Sauce"/>
                <a:ea typeface="Open Sauce"/>
                <a:cs typeface="Open Sauce"/>
                <a:sym typeface="Open Sauce"/>
              </a:rPr>
              <a:t>n</a:t>
            </a:r>
            <a:r>
              <a:rPr lang="en-US" sz="1716">
                <a:solidFill>
                  <a:srgbClr val="000000"/>
                </a:solidFill>
                <a:latin typeface="Open Sauce"/>
                <a:ea typeface="Open Sauce"/>
                <a:cs typeface="Open Sauce"/>
                <a:sym typeface="Open Sauce"/>
              </a:rPr>
              <a:t>t </a:t>
            </a:r>
            <a:r>
              <a:rPr lang="en-US" sz="1716">
                <a:solidFill>
                  <a:srgbClr val="000000"/>
                </a:solidFill>
                <a:latin typeface="Open Sauce"/>
                <a:ea typeface="Open Sauce"/>
                <a:cs typeface="Open Sauce"/>
                <a:sym typeface="Open Sauce"/>
              </a:rPr>
              <a:t>of </a:t>
            </a:r>
            <a:r>
              <a:rPr lang="en-US" sz="1716">
                <a:solidFill>
                  <a:srgbClr val="000000"/>
                </a:solidFill>
                <a:latin typeface="Open Sauce"/>
                <a:ea typeface="Open Sauce"/>
                <a:cs typeface="Open Sauce"/>
                <a:sym typeface="Open Sauce"/>
              </a:rPr>
              <a:t>or</a:t>
            </a:r>
            <a:r>
              <a:rPr lang="en-US" sz="1716">
                <a:solidFill>
                  <a:srgbClr val="000000"/>
                </a:solidFill>
                <a:latin typeface="Open Sauce"/>
                <a:ea typeface="Open Sauce"/>
                <a:cs typeface="Open Sauce"/>
                <a:sym typeface="Open Sauce"/>
              </a:rPr>
              <a:t>d</a:t>
            </a:r>
            <a:r>
              <a:rPr lang="en-US" sz="1716">
                <a:solidFill>
                  <a:srgbClr val="000000"/>
                </a:solidFill>
                <a:latin typeface="Open Sauce"/>
                <a:ea typeface="Open Sauce"/>
                <a:cs typeface="Open Sauce"/>
                <a:sym typeface="Open Sauce"/>
              </a:rPr>
              <a:t>e</a:t>
            </a:r>
            <a:r>
              <a:rPr lang="en-US" sz="1716">
                <a:solidFill>
                  <a:srgbClr val="000000"/>
                </a:solidFill>
                <a:latin typeface="Open Sauce"/>
                <a:ea typeface="Open Sauce"/>
                <a:cs typeface="Open Sauce"/>
                <a:sym typeface="Open Sauce"/>
              </a:rPr>
              <a:t>r</a:t>
            </a:r>
            <a:r>
              <a:rPr lang="en-US" sz="1716">
                <a:solidFill>
                  <a:srgbClr val="000000"/>
                </a:solidFill>
                <a:latin typeface="Open Sauce"/>
                <a:ea typeface="Open Sauce"/>
                <a:cs typeface="Open Sauce"/>
                <a:sym typeface="Open Sauce"/>
              </a:rPr>
              <a:t> t</a:t>
            </a:r>
            <a:r>
              <a:rPr lang="en-US" sz="1716">
                <a:solidFill>
                  <a:srgbClr val="000000"/>
                </a:solidFill>
                <a:latin typeface="Open Sauce"/>
                <a:ea typeface="Open Sauce"/>
                <a:cs typeface="Open Sauce"/>
                <a:sym typeface="Open Sauce"/>
              </a:rPr>
              <a:t>racking,</a:t>
            </a:r>
            <a:r>
              <a:rPr lang="en-US" sz="1716">
                <a:solidFill>
                  <a:srgbClr val="000000"/>
                </a:solidFill>
                <a:latin typeface="Open Sauce"/>
                <a:ea typeface="Open Sauce"/>
                <a:cs typeface="Open Sauce"/>
                <a:sym typeface="Open Sauce"/>
              </a:rPr>
              <a:t> </a:t>
            </a:r>
            <a:r>
              <a:rPr lang="en-US" sz="1716">
                <a:solidFill>
                  <a:srgbClr val="000000"/>
                </a:solidFill>
                <a:latin typeface="Open Sauce"/>
                <a:ea typeface="Open Sauce"/>
                <a:cs typeface="Open Sauce"/>
                <a:sym typeface="Open Sauce"/>
              </a:rPr>
              <a:t>r</a:t>
            </a:r>
            <a:r>
              <a:rPr lang="en-US" sz="1716">
                <a:solidFill>
                  <a:srgbClr val="000000"/>
                </a:solidFill>
                <a:latin typeface="Open Sauce"/>
                <a:ea typeface="Open Sauce"/>
                <a:cs typeface="Open Sauce"/>
                <a:sym typeface="Open Sauce"/>
              </a:rPr>
              <a:t>e</a:t>
            </a:r>
            <a:r>
              <a:rPr lang="en-US" sz="1716">
                <a:solidFill>
                  <a:srgbClr val="000000"/>
                </a:solidFill>
                <a:latin typeface="Open Sauce"/>
                <a:ea typeface="Open Sauce"/>
                <a:cs typeface="Open Sauce"/>
                <a:sym typeface="Open Sauce"/>
              </a:rPr>
              <a:t>turn/r</a:t>
            </a:r>
            <a:r>
              <a:rPr lang="en-US" sz="1716">
                <a:solidFill>
                  <a:srgbClr val="000000"/>
                </a:solidFill>
                <a:latin typeface="Open Sauce"/>
                <a:ea typeface="Open Sauce"/>
                <a:cs typeface="Open Sauce"/>
                <a:sym typeface="Open Sauce"/>
              </a:rPr>
              <a:t>e</a:t>
            </a:r>
            <a:r>
              <a:rPr lang="en-US" sz="1716">
                <a:solidFill>
                  <a:srgbClr val="000000"/>
                </a:solidFill>
                <a:latin typeface="Open Sauce"/>
                <a:ea typeface="Open Sauce"/>
                <a:cs typeface="Open Sauce"/>
                <a:sym typeface="Open Sauce"/>
              </a:rPr>
              <a:t>fund workf</a:t>
            </a:r>
            <a:r>
              <a:rPr lang="en-US" sz="1716">
                <a:solidFill>
                  <a:srgbClr val="000000"/>
                </a:solidFill>
                <a:latin typeface="Open Sauce"/>
                <a:ea typeface="Open Sauce"/>
                <a:cs typeface="Open Sauce"/>
                <a:sym typeface="Open Sauce"/>
              </a:rPr>
              <a:t>lo</a:t>
            </a:r>
            <a:r>
              <a:rPr lang="en-US" sz="1716">
                <a:solidFill>
                  <a:srgbClr val="000000"/>
                </a:solidFill>
                <a:latin typeface="Open Sauce"/>
                <a:ea typeface="Open Sauce"/>
                <a:cs typeface="Open Sauce"/>
                <a:sym typeface="Open Sauce"/>
              </a:rPr>
              <a:t>ws</a:t>
            </a:r>
            <a:r>
              <a:rPr lang="en-US" sz="1716">
                <a:solidFill>
                  <a:srgbClr val="000000"/>
                </a:solidFill>
                <a:latin typeface="Open Sauce"/>
                <a:ea typeface="Open Sauce"/>
                <a:cs typeface="Open Sauce"/>
                <a:sym typeface="Open Sauce"/>
              </a:rPr>
              <a:t>, and s</a:t>
            </a:r>
            <a:r>
              <a:rPr lang="en-US" sz="1716">
                <a:solidFill>
                  <a:srgbClr val="000000"/>
                </a:solidFill>
                <a:latin typeface="Open Sauce"/>
                <a:ea typeface="Open Sauce"/>
                <a:cs typeface="Open Sauce"/>
                <a:sym typeface="Open Sauce"/>
              </a:rPr>
              <a:t>ent</a:t>
            </a:r>
            <a:r>
              <a:rPr lang="en-US" sz="1716">
                <a:solidFill>
                  <a:srgbClr val="000000"/>
                </a:solidFill>
                <a:latin typeface="Open Sauce"/>
                <a:ea typeface="Open Sauce"/>
                <a:cs typeface="Open Sauce"/>
                <a:sym typeface="Open Sauce"/>
              </a:rPr>
              <a:t>i</a:t>
            </a:r>
            <a:r>
              <a:rPr lang="en-US" sz="1716">
                <a:solidFill>
                  <a:srgbClr val="000000"/>
                </a:solidFill>
                <a:latin typeface="Open Sauce"/>
                <a:ea typeface="Open Sauce"/>
                <a:cs typeface="Open Sauce"/>
                <a:sym typeface="Open Sauce"/>
              </a:rPr>
              <a:t>ment</a:t>
            </a:r>
            <a:r>
              <a:rPr lang="en-US" sz="1716">
                <a:solidFill>
                  <a:srgbClr val="000000"/>
                </a:solidFill>
                <a:latin typeface="Open Sauce"/>
                <a:ea typeface="Open Sauce"/>
                <a:cs typeface="Open Sauce"/>
                <a:sym typeface="Open Sauce"/>
              </a:rPr>
              <a:t> analy</a:t>
            </a:r>
            <a:r>
              <a:rPr lang="en-US" sz="1716">
                <a:solidFill>
                  <a:srgbClr val="000000"/>
                </a:solidFill>
                <a:latin typeface="Open Sauce"/>
                <a:ea typeface="Open Sauce"/>
                <a:cs typeface="Open Sauce"/>
                <a:sym typeface="Open Sauce"/>
              </a:rPr>
              <a:t>s</a:t>
            </a:r>
            <a:r>
              <a:rPr lang="en-US" sz="1716">
                <a:solidFill>
                  <a:srgbClr val="000000"/>
                </a:solidFill>
                <a:latin typeface="Open Sauce"/>
                <a:ea typeface="Open Sauce"/>
                <a:cs typeface="Open Sauce"/>
                <a:sym typeface="Open Sauce"/>
              </a:rPr>
              <a:t>is </a:t>
            </a:r>
            <a:r>
              <a:rPr lang="en-US" sz="1716">
                <a:solidFill>
                  <a:srgbClr val="000000"/>
                </a:solidFill>
                <a:latin typeface="Open Sauce"/>
                <a:ea typeface="Open Sauce"/>
                <a:cs typeface="Open Sauce"/>
                <a:sym typeface="Open Sauce"/>
              </a:rPr>
              <a:t>int</a:t>
            </a:r>
            <a:r>
              <a:rPr lang="en-US" sz="1716">
                <a:solidFill>
                  <a:srgbClr val="000000"/>
                </a:solidFill>
                <a:latin typeface="Open Sauce"/>
                <a:ea typeface="Open Sauce"/>
                <a:cs typeface="Open Sauce"/>
                <a:sym typeface="Open Sauce"/>
              </a:rPr>
              <a:t>e</a:t>
            </a:r>
            <a:r>
              <a:rPr lang="en-US" sz="1716">
                <a:solidFill>
                  <a:srgbClr val="000000"/>
                </a:solidFill>
                <a:latin typeface="Open Sauce"/>
                <a:ea typeface="Open Sauce"/>
                <a:cs typeface="Open Sauce"/>
                <a:sym typeface="Open Sauce"/>
              </a:rPr>
              <a:t>gra</a:t>
            </a:r>
            <a:r>
              <a:rPr lang="en-US" sz="1716">
                <a:solidFill>
                  <a:srgbClr val="000000"/>
                </a:solidFill>
                <a:latin typeface="Open Sauce"/>
                <a:ea typeface="Open Sauce"/>
                <a:cs typeface="Open Sauce"/>
                <a:sym typeface="Open Sauce"/>
              </a:rPr>
              <a:t>t</a:t>
            </a:r>
            <a:r>
              <a:rPr lang="en-US" sz="1716">
                <a:solidFill>
                  <a:srgbClr val="000000"/>
                </a:solidFill>
                <a:latin typeface="Open Sauce"/>
                <a:ea typeface="Open Sauce"/>
                <a:cs typeface="Open Sauce"/>
                <a:sym typeface="Open Sauce"/>
              </a:rPr>
              <a:t>ion</a:t>
            </a:r>
            <a:r>
              <a:rPr lang="en-US" sz="1716">
                <a:solidFill>
                  <a:srgbClr val="000000"/>
                </a:solidFill>
                <a:latin typeface="Open Sauce"/>
                <a:ea typeface="Open Sauce"/>
                <a:cs typeface="Open Sauce"/>
                <a:sym typeface="Open Sauce"/>
              </a:rPr>
              <a:t>.</a:t>
            </a:r>
          </a:p>
          <a:p>
            <a:pPr algn="l">
              <a:lnSpc>
                <a:spcPts val="2403"/>
              </a:lnSpc>
            </a:pPr>
          </a:p>
        </p:txBody>
      </p:sp>
      <p:sp>
        <p:nvSpPr>
          <p:cNvPr name="TextBox 30" id="30"/>
          <p:cNvSpPr txBox="true"/>
          <p:nvPr/>
        </p:nvSpPr>
        <p:spPr>
          <a:xfrm rot="0">
            <a:off x="13173183" y="2473704"/>
            <a:ext cx="4086117" cy="2453844"/>
          </a:xfrm>
          <a:prstGeom prst="rect">
            <a:avLst/>
          </a:prstGeom>
        </p:spPr>
        <p:txBody>
          <a:bodyPr anchor="t" rtlCol="false" tIns="0" lIns="0" bIns="0" rIns="0">
            <a:spAutoFit/>
          </a:bodyPr>
          <a:lstStyle/>
          <a:p>
            <a:pPr algn="l">
              <a:lnSpc>
                <a:spcPts val="2823"/>
              </a:lnSpc>
              <a:spcBef>
                <a:spcPct val="0"/>
              </a:spcBef>
            </a:pPr>
            <a:r>
              <a:rPr lang="en-US" b="true" sz="2016">
                <a:solidFill>
                  <a:srgbClr val="000000"/>
                </a:solidFill>
                <a:latin typeface="Open Sauce Bold"/>
                <a:ea typeface="Open Sauce Bold"/>
                <a:cs typeface="Open Sauce Bold"/>
                <a:sym typeface="Open Sauce Bold"/>
              </a:rPr>
              <a:t>Q3 (Personalized Search &amp; Optimization): Med</a:t>
            </a:r>
            <a:r>
              <a:rPr lang="en-US" b="true" sz="2016">
                <a:solidFill>
                  <a:srgbClr val="000000"/>
                </a:solidFill>
                <a:latin typeface="Open Sauce Bold"/>
                <a:ea typeface="Open Sauce Bold"/>
                <a:cs typeface="Open Sauce Bold"/>
                <a:sym typeface="Open Sauce Bold"/>
              </a:rPr>
              <a:t>i</a:t>
            </a:r>
            <a:r>
              <a:rPr lang="en-US" b="true" sz="2016">
                <a:solidFill>
                  <a:srgbClr val="000000"/>
                </a:solidFill>
                <a:latin typeface="Open Sauce Bold"/>
                <a:ea typeface="Open Sauce Bold"/>
                <a:cs typeface="Open Sauce Bold"/>
                <a:sym typeface="Open Sauce Bold"/>
              </a:rPr>
              <a:t>um</a:t>
            </a:r>
            <a:r>
              <a:rPr lang="en-US" b="true" sz="2016">
                <a:solidFill>
                  <a:srgbClr val="000000"/>
                </a:solidFill>
                <a:latin typeface="Open Sauce Bold"/>
                <a:ea typeface="Open Sauce Bold"/>
                <a:cs typeface="Open Sauce Bold"/>
                <a:sym typeface="Open Sauce Bold"/>
              </a:rPr>
              <a:t> Effort</a:t>
            </a:r>
          </a:p>
          <a:p>
            <a:pPr algn="l">
              <a:lnSpc>
                <a:spcPts val="2823"/>
              </a:lnSpc>
              <a:spcBef>
                <a:spcPct val="0"/>
              </a:spcBef>
            </a:pPr>
          </a:p>
          <a:p>
            <a:pPr algn="l">
              <a:lnSpc>
                <a:spcPts val="2823"/>
              </a:lnSpc>
            </a:pPr>
            <a:r>
              <a:rPr lang="en-US" sz="2016">
                <a:solidFill>
                  <a:srgbClr val="000000"/>
                </a:solidFill>
                <a:latin typeface="Open Sauce"/>
                <a:ea typeface="Open Sauce"/>
                <a:cs typeface="Open Sauce"/>
                <a:sym typeface="Open Sauce"/>
              </a:rPr>
              <a:t>A</a:t>
            </a:r>
            <a:r>
              <a:rPr lang="en-US" sz="2016">
                <a:solidFill>
                  <a:srgbClr val="000000"/>
                </a:solidFill>
                <a:latin typeface="Open Sauce"/>
                <a:ea typeface="Open Sauce"/>
                <a:cs typeface="Open Sauce"/>
                <a:sym typeface="Open Sauce"/>
              </a:rPr>
              <a:t>dd</a:t>
            </a:r>
            <a:r>
              <a:rPr lang="en-US" sz="2016">
                <a:solidFill>
                  <a:srgbClr val="000000"/>
                </a:solidFill>
                <a:latin typeface="Open Sauce"/>
                <a:ea typeface="Open Sauce"/>
                <a:cs typeface="Open Sauce"/>
                <a:sym typeface="Open Sauce"/>
              </a:rPr>
              <a:t>i</a:t>
            </a:r>
            <a:r>
              <a:rPr lang="en-US" sz="2016">
                <a:solidFill>
                  <a:srgbClr val="000000"/>
                </a:solidFill>
                <a:latin typeface="Open Sauce"/>
                <a:ea typeface="Open Sauce"/>
                <a:cs typeface="Open Sauce"/>
                <a:sym typeface="Open Sauce"/>
              </a:rPr>
              <a:t>ng p</a:t>
            </a:r>
            <a:r>
              <a:rPr lang="en-US" sz="2016">
                <a:solidFill>
                  <a:srgbClr val="000000"/>
                </a:solidFill>
                <a:latin typeface="Open Sauce"/>
                <a:ea typeface="Open Sauce"/>
                <a:cs typeface="Open Sauce"/>
                <a:sym typeface="Open Sauce"/>
              </a:rPr>
              <a:t>er</a:t>
            </a:r>
            <a:r>
              <a:rPr lang="en-US" sz="2016">
                <a:solidFill>
                  <a:srgbClr val="000000"/>
                </a:solidFill>
                <a:latin typeface="Open Sauce"/>
                <a:ea typeface="Open Sauce"/>
                <a:cs typeface="Open Sauce"/>
                <a:sym typeface="Open Sauce"/>
              </a:rPr>
              <a:t>sonaliz</a:t>
            </a:r>
            <a:r>
              <a:rPr lang="en-US" sz="2016">
                <a:solidFill>
                  <a:srgbClr val="000000"/>
                </a:solidFill>
                <a:latin typeface="Open Sauce"/>
                <a:ea typeface="Open Sauce"/>
                <a:cs typeface="Open Sauce"/>
                <a:sym typeface="Open Sauce"/>
              </a:rPr>
              <a:t>e</a:t>
            </a:r>
            <a:r>
              <a:rPr lang="en-US" sz="2016">
                <a:solidFill>
                  <a:srgbClr val="000000"/>
                </a:solidFill>
                <a:latin typeface="Open Sauce"/>
                <a:ea typeface="Open Sauce"/>
                <a:cs typeface="Open Sauce"/>
                <a:sym typeface="Open Sauce"/>
              </a:rPr>
              <a:t>d</a:t>
            </a:r>
            <a:r>
              <a:rPr lang="en-US" sz="2016">
                <a:solidFill>
                  <a:srgbClr val="000000"/>
                </a:solidFill>
                <a:latin typeface="Open Sauce"/>
                <a:ea typeface="Open Sauce"/>
                <a:cs typeface="Open Sauce"/>
                <a:sym typeface="Open Sauce"/>
              </a:rPr>
              <a:t> s</a:t>
            </a:r>
            <a:r>
              <a:rPr lang="en-US" sz="2016">
                <a:solidFill>
                  <a:srgbClr val="000000"/>
                </a:solidFill>
                <a:latin typeface="Open Sauce"/>
                <a:ea typeface="Open Sauce"/>
                <a:cs typeface="Open Sauce"/>
                <a:sym typeface="Open Sauce"/>
              </a:rPr>
              <a:t>e</a:t>
            </a:r>
            <a:r>
              <a:rPr lang="en-US" sz="2016">
                <a:solidFill>
                  <a:srgbClr val="000000"/>
                </a:solidFill>
                <a:latin typeface="Open Sauce"/>
                <a:ea typeface="Open Sauce"/>
                <a:cs typeface="Open Sauce"/>
                <a:sym typeface="Open Sauce"/>
              </a:rPr>
              <a:t>a</a:t>
            </a:r>
            <a:r>
              <a:rPr lang="en-US" sz="2016">
                <a:solidFill>
                  <a:srgbClr val="000000"/>
                </a:solidFill>
                <a:latin typeface="Open Sauce"/>
                <a:ea typeface="Open Sauce"/>
                <a:cs typeface="Open Sauce"/>
                <a:sym typeface="Open Sauce"/>
              </a:rPr>
              <a:t>rch</a:t>
            </a:r>
            <a:r>
              <a:rPr lang="en-US" sz="2016">
                <a:solidFill>
                  <a:srgbClr val="000000"/>
                </a:solidFill>
                <a:latin typeface="Open Sauce"/>
                <a:ea typeface="Open Sauce"/>
                <a:cs typeface="Open Sauce"/>
                <a:sym typeface="Open Sauce"/>
              </a:rPr>
              <a:t>,</a:t>
            </a:r>
            <a:r>
              <a:rPr lang="en-US" sz="2016">
                <a:solidFill>
                  <a:srgbClr val="000000"/>
                </a:solidFill>
                <a:latin typeface="Open Sauce"/>
                <a:ea typeface="Open Sauce"/>
                <a:cs typeface="Open Sauce"/>
                <a:sym typeface="Open Sauce"/>
              </a:rPr>
              <a:t> </a:t>
            </a:r>
            <a:r>
              <a:rPr lang="en-US" sz="2016">
                <a:solidFill>
                  <a:srgbClr val="000000"/>
                </a:solidFill>
                <a:latin typeface="Open Sauce"/>
                <a:ea typeface="Open Sauce"/>
                <a:cs typeface="Open Sauce"/>
                <a:sym typeface="Open Sauce"/>
              </a:rPr>
              <a:t>us</a:t>
            </a:r>
            <a:r>
              <a:rPr lang="en-US" sz="2016">
                <a:solidFill>
                  <a:srgbClr val="000000"/>
                </a:solidFill>
                <a:latin typeface="Open Sauce"/>
                <a:ea typeface="Open Sauce"/>
                <a:cs typeface="Open Sauce"/>
                <a:sym typeface="Open Sauce"/>
              </a:rPr>
              <a:t>e</a:t>
            </a:r>
            <a:r>
              <a:rPr lang="en-US" sz="2016">
                <a:solidFill>
                  <a:srgbClr val="000000"/>
                </a:solidFill>
                <a:latin typeface="Open Sauce"/>
                <a:ea typeface="Open Sauce"/>
                <a:cs typeface="Open Sauce"/>
                <a:sym typeface="Open Sauce"/>
              </a:rPr>
              <a:t>r f</a:t>
            </a:r>
            <a:r>
              <a:rPr lang="en-US" sz="2016">
                <a:solidFill>
                  <a:srgbClr val="000000"/>
                </a:solidFill>
                <a:latin typeface="Open Sauce"/>
                <a:ea typeface="Open Sauce"/>
                <a:cs typeface="Open Sauce"/>
                <a:sym typeface="Open Sauce"/>
              </a:rPr>
              <a:t>eedbac</a:t>
            </a:r>
            <a:r>
              <a:rPr lang="en-US" sz="2016">
                <a:solidFill>
                  <a:srgbClr val="000000"/>
                </a:solidFill>
                <a:latin typeface="Open Sauce"/>
                <a:ea typeface="Open Sauce"/>
                <a:cs typeface="Open Sauce"/>
                <a:sym typeface="Open Sauce"/>
              </a:rPr>
              <a:t>k</a:t>
            </a:r>
            <a:r>
              <a:rPr lang="en-US" sz="2016">
                <a:solidFill>
                  <a:srgbClr val="000000"/>
                </a:solidFill>
                <a:latin typeface="Open Sauce"/>
                <a:ea typeface="Open Sauce"/>
                <a:cs typeface="Open Sauce"/>
                <a:sym typeface="Open Sauce"/>
              </a:rPr>
              <a:t> </a:t>
            </a:r>
            <a:r>
              <a:rPr lang="en-US" sz="2016">
                <a:solidFill>
                  <a:srgbClr val="000000"/>
                </a:solidFill>
                <a:latin typeface="Open Sauce"/>
                <a:ea typeface="Open Sauce"/>
                <a:cs typeface="Open Sauce"/>
                <a:sym typeface="Open Sauce"/>
              </a:rPr>
              <a:t>mech</a:t>
            </a:r>
            <a:r>
              <a:rPr lang="en-US" sz="2016">
                <a:solidFill>
                  <a:srgbClr val="000000"/>
                </a:solidFill>
                <a:latin typeface="Open Sauce"/>
                <a:ea typeface="Open Sauce"/>
                <a:cs typeface="Open Sauce"/>
                <a:sym typeface="Open Sauce"/>
              </a:rPr>
              <a:t>anis</a:t>
            </a:r>
            <a:r>
              <a:rPr lang="en-US" sz="2016">
                <a:solidFill>
                  <a:srgbClr val="000000"/>
                </a:solidFill>
                <a:latin typeface="Open Sauce"/>
                <a:ea typeface="Open Sauce"/>
                <a:cs typeface="Open Sauce"/>
                <a:sym typeface="Open Sauce"/>
              </a:rPr>
              <a:t>m</a:t>
            </a:r>
            <a:r>
              <a:rPr lang="en-US" sz="2016">
                <a:solidFill>
                  <a:srgbClr val="000000"/>
                </a:solidFill>
                <a:latin typeface="Open Sauce"/>
                <a:ea typeface="Open Sauce"/>
                <a:cs typeface="Open Sauce"/>
                <a:sym typeface="Open Sauce"/>
              </a:rPr>
              <a:t>s</a:t>
            </a:r>
            <a:r>
              <a:rPr lang="en-US" sz="2016">
                <a:solidFill>
                  <a:srgbClr val="000000"/>
                </a:solidFill>
                <a:latin typeface="Open Sauce"/>
                <a:ea typeface="Open Sauce"/>
                <a:cs typeface="Open Sauce"/>
                <a:sym typeface="Open Sauce"/>
              </a:rPr>
              <a:t>, and A/B t</a:t>
            </a:r>
            <a:r>
              <a:rPr lang="en-US" sz="2016">
                <a:solidFill>
                  <a:srgbClr val="000000"/>
                </a:solidFill>
                <a:latin typeface="Open Sauce"/>
                <a:ea typeface="Open Sauce"/>
                <a:cs typeface="Open Sauce"/>
                <a:sym typeface="Open Sauce"/>
              </a:rPr>
              <a:t>e</a:t>
            </a:r>
            <a:r>
              <a:rPr lang="en-US" sz="2016">
                <a:solidFill>
                  <a:srgbClr val="000000"/>
                </a:solidFill>
                <a:latin typeface="Open Sauce"/>
                <a:ea typeface="Open Sauce"/>
                <a:cs typeface="Open Sauce"/>
                <a:sym typeface="Open Sauce"/>
              </a:rPr>
              <a:t>s</a:t>
            </a:r>
            <a:r>
              <a:rPr lang="en-US" sz="2016">
                <a:solidFill>
                  <a:srgbClr val="000000"/>
                </a:solidFill>
                <a:latin typeface="Open Sauce"/>
                <a:ea typeface="Open Sauce"/>
                <a:cs typeface="Open Sauce"/>
                <a:sym typeface="Open Sauce"/>
              </a:rPr>
              <a:t>t</a:t>
            </a:r>
            <a:r>
              <a:rPr lang="en-US" sz="2016">
                <a:solidFill>
                  <a:srgbClr val="000000"/>
                </a:solidFill>
                <a:latin typeface="Open Sauce"/>
                <a:ea typeface="Open Sauce"/>
                <a:cs typeface="Open Sauce"/>
                <a:sym typeface="Open Sauce"/>
              </a:rPr>
              <a:t>ing</a:t>
            </a:r>
            <a:r>
              <a:rPr lang="en-US" sz="2016">
                <a:solidFill>
                  <a:srgbClr val="000000"/>
                </a:solidFill>
                <a:latin typeface="Open Sauce"/>
                <a:ea typeface="Open Sauce"/>
                <a:cs typeface="Open Sauce"/>
                <a:sym typeface="Open Sauce"/>
              </a:rPr>
              <a:t>.</a:t>
            </a:r>
          </a:p>
          <a:p>
            <a:pPr algn="l">
              <a:lnSpc>
                <a:spcPts val="2823"/>
              </a:lnSpc>
            </a:pPr>
          </a:p>
        </p:txBody>
      </p:sp>
      <p:sp>
        <p:nvSpPr>
          <p:cNvPr name="TextBox 31" id="31"/>
          <p:cNvSpPr txBox="true"/>
          <p:nvPr/>
        </p:nvSpPr>
        <p:spPr>
          <a:xfrm rot="0">
            <a:off x="1709223" y="6238099"/>
            <a:ext cx="4086117" cy="2453844"/>
          </a:xfrm>
          <a:prstGeom prst="rect">
            <a:avLst/>
          </a:prstGeom>
        </p:spPr>
        <p:txBody>
          <a:bodyPr anchor="t" rtlCol="false" tIns="0" lIns="0" bIns="0" rIns="0">
            <a:spAutoFit/>
          </a:bodyPr>
          <a:lstStyle/>
          <a:p>
            <a:pPr algn="l">
              <a:lnSpc>
                <a:spcPts val="2823"/>
              </a:lnSpc>
              <a:spcBef>
                <a:spcPct val="0"/>
              </a:spcBef>
            </a:pPr>
            <a:r>
              <a:rPr lang="en-US" b="true" sz="2016">
                <a:solidFill>
                  <a:srgbClr val="000000"/>
                </a:solidFill>
                <a:latin typeface="Open Sauce Bold"/>
                <a:ea typeface="Open Sauce Bold"/>
                <a:cs typeface="Open Sauce Bold"/>
                <a:sym typeface="Open Sauce Bold"/>
              </a:rPr>
              <a:t>Q4 (Soft Launch &amp; Expansion Planning): Low to Med</a:t>
            </a:r>
            <a:r>
              <a:rPr lang="en-US" b="true" sz="2016">
                <a:solidFill>
                  <a:srgbClr val="000000"/>
                </a:solidFill>
                <a:latin typeface="Open Sauce Bold"/>
                <a:ea typeface="Open Sauce Bold"/>
                <a:cs typeface="Open Sauce Bold"/>
                <a:sym typeface="Open Sauce Bold"/>
              </a:rPr>
              <a:t>i</a:t>
            </a:r>
            <a:r>
              <a:rPr lang="en-US" b="true" sz="2016">
                <a:solidFill>
                  <a:srgbClr val="000000"/>
                </a:solidFill>
                <a:latin typeface="Open Sauce Bold"/>
                <a:ea typeface="Open Sauce Bold"/>
                <a:cs typeface="Open Sauce Bold"/>
                <a:sym typeface="Open Sauce Bold"/>
              </a:rPr>
              <a:t>um</a:t>
            </a:r>
            <a:r>
              <a:rPr lang="en-US" b="true" sz="2016">
                <a:solidFill>
                  <a:srgbClr val="000000"/>
                </a:solidFill>
                <a:latin typeface="Open Sauce Bold"/>
                <a:ea typeface="Open Sauce Bold"/>
                <a:cs typeface="Open Sauce Bold"/>
                <a:sym typeface="Open Sauce Bold"/>
              </a:rPr>
              <a:t> Effort</a:t>
            </a:r>
          </a:p>
          <a:p>
            <a:pPr algn="l">
              <a:lnSpc>
                <a:spcPts val="2823"/>
              </a:lnSpc>
              <a:spcBef>
                <a:spcPct val="0"/>
              </a:spcBef>
            </a:pPr>
          </a:p>
          <a:p>
            <a:pPr algn="l">
              <a:lnSpc>
                <a:spcPts val="2823"/>
              </a:lnSpc>
            </a:pPr>
            <a:r>
              <a:rPr lang="en-US" sz="2016">
                <a:solidFill>
                  <a:srgbClr val="000000"/>
                </a:solidFill>
                <a:latin typeface="Open Sauce"/>
                <a:ea typeface="Open Sauce"/>
                <a:cs typeface="Open Sauce"/>
                <a:sym typeface="Open Sauce"/>
              </a:rPr>
              <a:t>Ref</a:t>
            </a:r>
            <a:r>
              <a:rPr lang="en-US" sz="2016">
                <a:solidFill>
                  <a:srgbClr val="000000"/>
                </a:solidFill>
                <a:latin typeface="Open Sauce"/>
                <a:ea typeface="Open Sauce"/>
                <a:cs typeface="Open Sauce"/>
                <a:sym typeface="Open Sauce"/>
              </a:rPr>
              <a:t>i</a:t>
            </a:r>
            <a:r>
              <a:rPr lang="en-US" sz="2016">
                <a:solidFill>
                  <a:srgbClr val="000000"/>
                </a:solidFill>
                <a:latin typeface="Open Sauce"/>
                <a:ea typeface="Open Sauce"/>
                <a:cs typeface="Open Sauce"/>
                <a:sym typeface="Open Sauce"/>
              </a:rPr>
              <a:t>n</a:t>
            </a:r>
            <a:r>
              <a:rPr lang="en-US" sz="2016">
                <a:solidFill>
                  <a:srgbClr val="000000"/>
                </a:solidFill>
                <a:latin typeface="Open Sauce"/>
                <a:ea typeface="Open Sauce"/>
                <a:cs typeface="Open Sauce"/>
                <a:sym typeface="Open Sauce"/>
              </a:rPr>
              <a:t>e</a:t>
            </a:r>
            <a:r>
              <a:rPr lang="en-US" sz="2016">
                <a:solidFill>
                  <a:srgbClr val="000000"/>
                </a:solidFill>
                <a:latin typeface="Open Sauce"/>
                <a:ea typeface="Open Sauce"/>
                <a:cs typeface="Open Sauce"/>
                <a:sym typeface="Open Sauce"/>
              </a:rPr>
              <a:t>m</a:t>
            </a:r>
            <a:r>
              <a:rPr lang="en-US" sz="2016">
                <a:solidFill>
                  <a:srgbClr val="000000"/>
                </a:solidFill>
                <a:latin typeface="Open Sauce"/>
                <a:ea typeface="Open Sauce"/>
                <a:cs typeface="Open Sauce"/>
                <a:sym typeface="Open Sauce"/>
              </a:rPr>
              <a:t>e</a:t>
            </a:r>
            <a:r>
              <a:rPr lang="en-US" sz="2016">
                <a:solidFill>
                  <a:srgbClr val="000000"/>
                </a:solidFill>
                <a:latin typeface="Open Sauce"/>
                <a:ea typeface="Open Sauce"/>
                <a:cs typeface="Open Sauce"/>
                <a:sym typeface="Open Sauce"/>
              </a:rPr>
              <a:t>n</a:t>
            </a:r>
            <a:r>
              <a:rPr lang="en-US" sz="2016">
                <a:solidFill>
                  <a:srgbClr val="000000"/>
                </a:solidFill>
                <a:latin typeface="Open Sauce"/>
                <a:ea typeface="Open Sauce"/>
                <a:cs typeface="Open Sauce"/>
                <a:sym typeface="Open Sauce"/>
              </a:rPr>
              <a:t>t, </a:t>
            </a:r>
            <a:r>
              <a:rPr lang="en-US" sz="2016">
                <a:solidFill>
                  <a:srgbClr val="000000"/>
                </a:solidFill>
                <a:latin typeface="Open Sauce"/>
                <a:ea typeface="Open Sauce"/>
                <a:cs typeface="Open Sauce"/>
                <a:sym typeface="Open Sauce"/>
              </a:rPr>
              <a:t>s</a:t>
            </a:r>
            <a:r>
              <a:rPr lang="en-US" sz="2016">
                <a:solidFill>
                  <a:srgbClr val="000000"/>
                </a:solidFill>
                <a:latin typeface="Open Sauce"/>
                <a:ea typeface="Open Sauce"/>
                <a:cs typeface="Open Sauce"/>
                <a:sym typeface="Open Sauce"/>
              </a:rPr>
              <a:t>o</a:t>
            </a:r>
            <a:r>
              <a:rPr lang="en-US" sz="2016">
                <a:solidFill>
                  <a:srgbClr val="000000"/>
                </a:solidFill>
                <a:latin typeface="Open Sauce"/>
                <a:ea typeface="Open Sauce"/>
                <a:cs typeface="Open Sauce"/>
                <a:sym typeface="Open Sauce"/>
              </a:rPr>
              <a:t>f</a:t>
            </a:r>
            <a:r>
              <a:rPr lang="en-US" sz="2016">
                <a:solidFill>
                  <a:srgbClr val="000000"/>
                </a:solidFill>
                <a:latin typeface="Open Sauce"/>
                <a:ea typeface="Open Sauce"/>
                <a:cs typeface="Open Sauce"/>
                <a:sym typeface="Open Sauce"/>
              </a:rPr>
              <a:t>t l</a:t>
            </a:r>
            <a:r>
              <a:rPr lang="en-US" sz="2016">
                <a:solidFill>
                  <a:srgbClr val="000000"/>
                </a:solidFill>
                <a:latin typeface="Open Sauce"/>
                <a:ea typeface="Open Sauce"/>
                <a:cs typeface="Open Sauce"/>
                <a:sym typeface="Open Sauce"/>
              </a:rPr>
              <a:t>au</a:t>
            </a:r>
            <a:r>
              <a:rPr lang="en-US" sz="2016">
                <a:solidFill>
                  <a:srgbClr val="000000"/>
                </a:solidFill>
                <a:latin typeface="Open Sauce"/>
                <a:ea typeface="Open Sauce"/>
                <a:cs typeface="Open Sauce"/>
                <a:sym typeface="Open Sauce"/>
              </a:rPr>
              <a:t>n</a:t>
            </a:r>
            <a:r>
              <a:rPr lang="en-US" sz="2016">
                <a:solidFill>
                  <a:srgbClr val="000000"/>
                </a:solidFill>
                <a:latin typeface="Open Sauce"/>
                <a:ea typeface="Open Sauce"/>
                <a:cs typeface="Open Sauce"/>
                <a:sym typeface="Open Sauce"/>
              </a:rPr>
              <a:t>ch</a:t>
            </a:r>
            <a:r>
              <a:rPr lang="en-US" sz="2016">
                <a:solidFill>
                  <a:srgbClr val="000000"/>
                </a:solidFill>
                <a:latin typeface="Open Sauce"/>
                <a:ea typeface="Open Sauce"/>
                <a:cs typeface="Open Sauce"/>
                <a:sym typeface="Open Sauce"/>
              </a:rPr>
              <a:t>, and analytics</a:t>
            </a:r>
            <a:r>
              <a:rPr lang="en-US" sz="2016">
                <a:solidFill>
                  <a:srgbClr val="000000"/>
                </a:solidFill>
                <a:latin typeface="Open Sauce"/>
                <a:ea typeface="Open Sauce"/>
                <a:cs typeface="Open Sauce"/>
                <a:sym typeface="Open Sauce"/>
              </a:rPr>
              <a:t>-based</a:t>
            </a:r>
            <a:r>
              <a:rPr lang="en-US" sz="2016">
                <a:solidFill>
                  <a:srgbClr val="000000"/>
                </a:solidFill>
                <a:latin typeface="Open Sauce"/>
                <a:ea typeface="Open Sauce"/>
                <a:cs typeface="Open Sauce"/>
                <a:sym typeface="Open Sauce"/>
              </a:rPr>
              <a:t> </a:t>
            </a:r>
            <a:r>
              <a:rPr lang="en-US" sz="2016">
                <a:solidFill>
                  <a:srgbClr val="000000"/>
                </a:solidFill>
                <a:latin typeface="Open Sauce"/>
                <a:ea typeface="Open Sauce"/>
                <a:cs typeface="Open Sauce"/>
                <a:sym typeface="Open Sauce"/>
              </a:rPr>
              <a:t>planning for the next f</a:t>
            </a:r>
            <a:r>
              <a:rPr lang="en-US" sz="2016">
                <a:solidFill>
                  <a:srgbClr val="000000"/>
                </a:solidFill>
                <a:latin typeface="Open Sauce"/>
                <a:ea typeface="Open Sauce"/>
                <a:cs typeface="Open Sauce"/>
                <a:sym typeface="Open Sauce"/>
              </a:rPr>
              <a:t>e</a:t>
            </a:r>
            <a:r>
              <a:rPr lang="en-US" sz="2016">
                <a:solidFill>
                  <a:srgbClr val="000000"/>
                </a:solidFill>
                <a:latin typeface="Open Sauce"/>
                <a:ea typeface="Open Sauce"/>
                <a:cs typeface="Open Sauce"/>
                <a:sym typeface="Open Sauce"/>
              </a:rPr>
              <a:t>a</a:t>
            </a:r>
            <a:r>
              <a:rPr lang="en-US" sz="2016">
                <a:solidFill>
                  <a:srgbClr val="000000"/>
                </a:solidFill>
                <a:latin typeface="Open Sauce"/>
                <a:ea typeface="Open Sauce"/>
                <a:cs typeface="Open Sauce"/>
                <a:sym typeface="Open Sauce"/>
              </a:rPr>
              <a:t>tu</a:t>
            </a:r>
            <a:r>
              <a:rPr lang="en-US" sz="2016">
                <a:solidFill>
                  <a:srgbClr val="000000"/>
                </a:solidFill>
                <a:latin typeface="Open Sauce"/>
                <a:ea typeface="Open Sauce"/>
                <a:cs typeface="Open Sauce"/>
                <a:sym typeface="Open Sauce"/>
              </a:rPr>
              <a:t>re ex</a:t>
            </a:r>
            <a:r>
              <a:rPr lang="en-US" sz="2016">
                <a:solidFill>
                  <a:srgbClr val="000000"/>
                </a:solidFill>
                <a:latin typeface="Open Sauce"/>
                <a:ea typeface="Open Sauce"/>
                <a:cs typeface="Open Sauce"/>
                <a:sym typeface="Open Sauce"/>
              </a:rPr>
              <a:t>p</a:t>
            </a:r>
            <a:r>
              <a:rPr lang="en-US" sz="2016">
                <a:solidFill>
                  <a:srgbClr val="000000"/>
                </a:solidFill>
                <a:latin typeface="Open Sauce"/>
                <a:ea typeface="Open Sauce"/>
                <a:cs typeface="Open Sauce"/>
                <a:sym typeface="Open Sauce"/>
              </a:rPr>
              <a:t>ansion</a:t>
            </a:r>
            <a:r>
              <a:rPr lang="en-US" sz="2016">
                <a:solidFill>
                  <a:srgbClr val="000000"/>
                </a:solidFill>
                <a:latin typeface="Open Sauce"/>
                <a:ea typeface="Open Sauce"/>
                <a:cs typeface="Open Sauce"/>
                <a:sym typeface="Open Sauce"/>
              </a:rPr>
              <a:t>.</a:t>
            </a:r>
          </a:p>
          <a:p>
            <a:pPr algn="l">
              <a:lnSpc>
                <a:spcPts val="2823"/>
              </a:lnSpc>
            </a:pPr>
          </a:p>
        </p:txBody>
      </p:sp>
      <p:sp>
        <p:nvSpPr>
          <p:cNvPr name="TextBox 32" id="32"/>
          <p:cNvSpPr txBox="true"/>
          <p:nvPr/>
        </p:nvSpPr>
        <p:spPr>
          <a:xfrm rot="0">
            <a:off x="7555021" y="6238099"/>
            <a:ext cx="4536004" cy="2454550"/>
          </a:xfrm>
          <a:prstGeom prst="rect">
            <a:avLst/>
          </a:prstGeom>
        </p:spPr>
        <p:txBody>
          <a:bodyPr anchor="t" rtlCol="false" tIns="0" lIns="0" bIns="0" rIns="0">
            <a:spAutoFit/>
          </a:bodyPr>
          <a:lstStyle/>
          <a:p>
            <a:pPr algn="l">
              <a:lnSpc>
                <a:spcPts val="2784"/>
              </a:lnSpc>
              <a:spcBef>
                <a:spcPct val="0"/>
              </a:spcBef>
            </a:pPr>
            <a:r>
              <a:rPr lang="en-US" b="true" sz="1989">
                <a:solidFill>
                  <a:srgbClr val="000000"/>
                </a:solidFill>
                <a:latin typeface="Open Sauce Bold"/>
                <a:ea typeface="Open Sauce Bold"/>
                <a:cs typeface="Open Sauce Bold"/>
                <a:sym typeface="Open Sauce Bold"/>
              </a:rPr>
              <a:t>Q5 (Multilingual &amp; Proactive Assistance): Medium-H</a:t>
            </a:r>
            <a:r>
              <a:rPr lang="en-US" b="true" sz="1989">
                <a:solidFill>
                  <a:srgbClr val="000000"/>
                </a:solidFill>
                <a:latin typeface="Open Sauce Bold"/>
                <a:ea typeface="Open Sauce Bold"/>
                <a:cs typeface="Open Sauce Bold"/>
                <a:sym typeface="Open Sauce Bold"/>
              </a:rPr>
              <a:t>igh Effort</a:t>
            </a:r>
          </a:p>
          <a:p>
            <a:pPr algn="l">
              <a:lnSpc>
                <a:spcPts val="2784"/>
              </a:lnSpc>
              <a:spcBef>
                <a:spcPct val="0"/>
              </a:spcBef>
            </a:pPr>
          </a:p>
          <a:p>
            <a:pPr algn="l">
              <a:lnSpc>
                <a:spcPts val="2784"/>
              </a:lnSpc>
            </a:pPr>
            <a:r>
              <a:rPr lang="en-US" sz="1989">
                <a:solidFill>
                  <a:srgbClr val="000000"/>
                </a:solidFill>
                <a:latin typeface="Open Sauce"/>
                <a:ea typeface="Open Sauce"/>
                <a:cs typeface="Open Sauce"/>
                <a:sym typeface="Open Sauce"/>
              </a:rPr>
              <a:t>Int</a:t>
            </a:r>
            <a:r>
              <a:rPr lang="en-US" sz="1989">
                <a:solidFill>
                  <a:srgbClr val="000000"/>
                </a:solidFill>
                <a:latin typeface="Open Sauce"/>
                <a:ea typeface="Open Sauce"/>
                <a:cs typeface="Open Sauce"/>
                <a:sym typeface="Open Sauce"/>
              </a:rPr>
              <a:t>r</a:t>
            </a:r>
            <a:r>
              <a:rPr lang="en-US" sz="1989">
                <a:solidFill>
                  <a:srgbClr val="000000"/>
                </a:solidFill>
                <a:latin typeface="Open Sauce"/>
                <a:ea typeface="Open Sauce"/>
                <a:cs typeface="Open Sauce"/>
                <a:sym typeface="Open Sauce"/>
              </a:rPr>
              <a:t>odu</a:t>
            </a:r>
            <a:r>
              <a:rPr lang="en-US" sz="1989">
                <a:solidFill>
                  <a:srgbClr val="000000"/>
                </a:solidFill>
                <a:latin typeface="Open Sauce"/>
                <a:ea typeface="Open Sauce"/>
                <a:cs typeface="Open Sauce"/>
                <a:sym typeface="Open Sauce"/>
              </a:rPr>
              <a:t>ce</a:t>
            </a:r>
            <a:r>
              <a:rPr lang="en-US" sz="1989">
                <a:solidFill>
                  <a:srgbClr val="000000"/>
                </a:solidFill>
                <a:latin typeface="Open Sauce"/>
                <a:ea typeface="Open Sauce"/>
                <a:cs typeface="Open Sauce"/>
                <a:sym typeface="Open Sauce"/>
              </a:rPr>
              <a:t>s mul</a:t>
            </a:r>
            <a:r>
              <a:rPr lang="en-US" sz="1989">
                <a:solidFill>
                  <a:srgbClr val="000000"/>
                </a:solidFill>
                <a:latin typeface="Open Sauce"/>
                <a:ea typeface="Open Sauce"/>
                <a:cs typeface="Open Sauce"/>
                <a:sym typeface="Open Sauce"/>
              </a:rPr>
              <a:t>t</a:t>
            </a:r>
            <a:r>
              <a:rPr lang="en-US" sz="1989">
                <a:solidFill>
                  <a:srgbClr val="000000"/>
                </a:solidFill>
                <a:latin typeface="Open Sauce"/>
                <a:ea typeface="Open Sauce"/>
                <a:cs typeface="Open Sauce"/>
                <a:sym typeface="Open Sauce"/>
              </a:rPr>
              <a:t>iling</a:t>
            </a:r>
            <a:r>
              <a:rPr lang="en-US" sz="1989">
                <a:solidFill>
                  <a:srgbClr val="000000"/>
                </a:solidFill>
                <a:latin typeface="Open Sauce"/>
                <a:ea typeface="Open Sauce"/>
                <a:cs typeface="Open Sauce"/>
                <a:sym typeface="Open Sauce"/>
              </a:rPr>
              <a:t>u</a:t>
            </a:r>
            <a:r>
              <a:rPr lang="en-US" sz="1989">
                <a:solidFill>
                  <a:srgbClr val="000000"/>
                </a:solidFill>
                <a:latin typeface="Open Sauce"/>
                <a:ea typeface="Open Sauce"/>
                <a:cs typeface="Open Sauce"/>
                <a:sym typeface="Open Sauce"/>
              </a:rPr>
              <a:t>al</a:t>
            </a:r>
            <a:r>
              <a:rPr lang="en-US" sz="1989">
                <a:solidFill>
                  <a:srgbClr val="000000"/>
                </a:solidFill>
                <a:latin typeface="Open Sauce"/>
                <a:ea typeface="Open Sauce"/>
                <a:cs typeface="Open Sauce"/>
                <a:sym typeface="Open Sauce"/>
              </a:rPr>
              <a:t> s</a:t>
            </a:r>
            <a:r>
              <a:rPr lang="en-US" sz="1989">
                <a:solidFill>
                  <a:srgbClr val="000000"/>
                </a:solidFill>
                <a:latin typeface="Open Sauce"/>
                <a:ea typeface="Open Sauce"/>
                <a:cs typeface="Open Sauce"/>
                <a:sym typeface="Open Sauce"/>
              </a:rPr>
              <a:t>up</a:t>
            </a:r>
            <a:r>
              <a:rPr lang="en-US" sz="1989">
                <a:solidFill>
                  <a:srgbClr val="000000"/>
                </a:solidFill>
                <a:latin typeface="Open Sauce"/>
                <a:ea typeface="Open Sauce"/>
                <a:cs typeface="Open Sauce"/>
                <a:sym typeface="Open Sauce"/>
              </a:rPr>
              <a:t>port</a:t>
            </a:r>
            <a:r>
              <a:rPr lang="en-US" sz="1989">
                <a:solidFill>
                  <a:srgbClr val="000000"/>
                </a:solidFill>
                <a:latin typeface="Open Sauce"/>
                <a:ea typeface="Open Sauce"/>
                <a:cs typeface="Open Sauce"/>
                <a:sym typeface="Open Sauce"/>
              </a:rPr>
              <a:t>, </a:t>
            </a:r>
            <a:r>
              <a:rPr lang="en-US" sz="1989">
                <a:solidFill>
                  <a:srgbClr val="000000"/>
                </a:solidFill>
                <a:latin typeface="Open Sauce"/>
                <a:ea typeface="Open Sauce"/>
                <a:cs typeface="Open Sauce"/>
                <a:sym typeface="Open Sauce"/>
              </a:rPr>
              <a:t>pr</a:t>
            </a:r>
            <a:r>
              <a:rPr lang="en-US" sz="1989">
                <a:solidFill>
                  <a:srgbClr val="000000"/>
                </a:solidFill>
                <a:latin typeface="Open Sauce"/>
                <a:ea typeface="Open Sauce"/>
                <a:cs typeface="Open Sauce"/>
                <a:sym typeface="Open Sauce"/>
              </a:rPr>
              <a:t>o</a:t>
            </a:r>
            <a:r>
              <a:rPr lang="en-US" sz="1989">
                <a:solidFill>
                  <a:srgbClr val="000000"/>
                </a:solidFill>
                <a:latin typeface="Open Sauce"/>
                <a:ea typeface="Open Sauce"/>
                <a:cs typeface="Open Sauce"/>
                <a:sym typeface="Open Sauce"/>
              </a:rPr>
              <a:t>a</a:t>
            </a:r>
            <a:r>
              <a:rPr lang="en-US" sz="1989">
                <a:solidFill>
                  <a:srgbClr val="000000"/>
                </a:solidFill>
                <a:latin typeface="Open Sauce"/>
                <a:ea typeface="Open Sauce"/>
                <a:cs typeface="Open Sauce"/>
                <a:sym typeface="Open Sauce"/>
              </a:rPr>
              <a:t>ct</a:t>
            </a:r>
            <a:r>
              <a:rPr lang="en-US" sz="1989">
                <a:solidFill>
                  <a:srgbClr val="000000"/>
                </a:solidFill>
                <a:latin typeface="Open Sauce"/>
                <a:ea typeface="Open Sauce"/>
                <a:cs typeface="Open Sauce"/>
                <a:sym typeface="Open Sauce"/>
              </a:rPr>
              <a:t>ive</a:t>
            </a:r>
            <a:r>
              <a:rPr lang="en-US" sz="1989">
                <a:solidFill>
                  <a:srgbClr val="000000"/>
                </a:solidFill>
                <a:latin typeface="Open Sauce"/>
                <a:ea typeface="Open Sauce"/>
                <a:cs typeface="Open Sauce"/>
                <a:sym typeface="Open Sauce"/>
              </a:rPr>
              <a:t> </a:t>
            </a:r>
            <a:r>
              <a:rPr lang="en-US" sz="1989">
                <a:solidFill>
                  <a:srgbClr val="000000"/>
                </a:solidFill>
                <a:latin typeface="Open Sauce"/>
                <a:ea typeface="Open Sauce"/>
                <a:cs typeface="Open Sauce"/>
                <a:sym typeface="Open Sauce"/>
              </a:rPr>
              <a:t>sugg</a:t>
            </a:r>
            <a:r>
              <a:rPr lang="en-US" sz="1989">
                <a:solidFill>
                  <a:srgbClr val="000000"/>
                </a:solidFill>
                <a:latin typeface="Open Sauce"/>
                <a:ea typeface="Open Sauce"/>
                <a:cs typeface="Open Sauce"/>
                <a:sym typeface="Open Sauce"/>
              </a:rPr>
              <a:t>e</a:t>
            </a:r>
            <a:r>
              <a:rPr lang="en-US" sz="1989">
                <a:solidFill>
                  <a:srgbClr val="000000"/>
                </a:solidFill>
                <a:latin typeface="Open Sauce"/>
                <a:ea typeface="Open Sauce"/>
                <a:cs typeface="Open Sauce"/>
                <a:sym typeface="Open Sauce"/>
              </a:rPr>
              <a:t>sti</a:t>
            </a:r>
            <a:r>
              <a:rPr lang="en-US" sz="1989">
                <a:solidFill>
                  <a:srgbClr val="000000"/>
                </a:solidFill>
                <a:latin typeface="Open Sauce"/>
                <a:ea typeface="Open Sauce"/>
                <a:cs typeface="Open Sauce"/>
                <a:sym typeface="Open Sauce"/>
              </a:rPr>
              <a:t>on</a:t>
            </a:r>
            <a:r>
              <a:rPr lang="en-US" sz="1989">
                <a:solidFill>
                  <a:srgbClr val="000000"/>
                </a:solidFill>
                <a:latin typeface="Open Sauce"/>
                <a:ea typeface="Open Sauce"/>
                <a:cs typeface="Open Sauce"/>
                <a:sym typeface="Open Sauce"/>
              </a:rPr>
              <a:t>s</a:t>
            </a:r>
            <a:r>
              <a:rPr lang="en-US" sz="1989">
                <a:solidFill>
                  <a:srgbClr val="000000"/>
                </a:solidFill>
                <a:latin typeface="Open Sauce"/>
                <a:ea typeface="Open Sauce"/>
                <a:cs typeface="Open Sauce"/>
                <a:sym typeface="Open Sauce"/>
              </a:rPr>
              <a:t>, and </a:t>
            </a:r>
            <a:r>
              <a:rPr lang="en-US" sz="1989">
                <a:solidFill>
                  <a:srgbClr val="000000"/>
                </a:solidFill>
                <a:latin typeface="Open Sauce"/>
                <a:ea typeface="Open Sauce"/>
                <a:cs typeface="Open Sauce"/>
                <a:sym typeface="Open Sauce"/>
              </a:rPr>
              <a:t>product recommend</a:t>
            </a:r>
            <a:r>
              <a:rPr lang="en-US" sz="1989">
                <a:solidFill>
                  <a:srgbClr val="000000"/>
                </a:solidFill>
                <a:latin typeface="Open Sauce"/>
                <a:ea typeface="Open Sauce"/>
                <a:cs typeface="Open Sauce"/>
                <a:sym typeface="Open Sauce"/>
              </a:rPr>
              <a:t>a</a:t>
            </a:r>
            <a:r>
              <a:rPr lang="en-US" sz="1989">
                <a:solidFill>
                  <a:srgbClr val="000000"/>
                </a:solidFill>
                <a:latin typeface="Open Sauce"/>
                <a:ea typeface="Open Sauce"/>
                <a:cs typeface="Open Sauce"/>
                <a:sym typeface="Open Sauce"/>
              </a:rPr>
              <a:t>t</a:t>
            </a:r>
            <a:r>
              <a:rPr lang="en-US" sz="1989">
                <a:solidFill>
                  <a:srgbClr val="000000"/>
                </a:solidFill>
                <a:latin typeface="Open Sauce"/>
                <a:ea typeface="Open Sauce"/>
                <a:cs typeface="Open Sauce"/>
                <a:sym typeface="Open Sauce"/>
              </a:rPr>
              <a:t>i</a:t>
            </a:r>
            <a:r>
              <a:rPr lang="en-US" sz="1989">
                <a:solidFill>
                  <a:srgbClr val="000000"/>
                </a:solidFill>
                <a:latin typeface="Open Sauce"/>
                <a:ea typeface="Open Sauce"/>
                <a:cs typeface="Open Sauce"/>
                <a:sym typeface="Open Sauce"/>
              </a:rPr>
              <a:t>on </a:t>
            </a:r>
            <a:r>
              <a:rPr lang="en-US" sz="1989">
                <a:solidFill>
                  <a:srgbClr val="000000"/>
                </a:solidFill>
                <a:latin typeface="Open Sauce"/>
                <a:ea typeface="Open Sauce"/>
                <a:cs typeface="Open Sauce"/>
                <a:sym typeface="Open Sauce"/>
              </a:rPr>
              <a:t>ca</a:t>
            </a:r>
            <a:r>
              <a:rPr lang="en-US" sz="1989">
                <a:solidFill>
                  <a:srgbClr val="000000"/>
                </a:solidFill>
                <a:latin typeface="Open Sauce"/>
                <a:ea typeface="Open Sauce"/>
                <a:cs typeface="Open Sauce"/>
                <a:sym typeface="Open Sauce"/>
              </a:rPr>
              <a:t>p</a:t>
            </a:r>
            <a:r>
              <a:rPr lang="en-US" sz="1989">
                <a:solidFill>
                  <a:srgbClr val="000000"/>
                </a:solidFill>
                <a:latin typeface="Open Sauce"/>
                <a:ea typeface="Open Sauce"/>
                <a:cs typeface="Open Sauce"/>
                <a:sym typeface="Open Sauce"/>
              </a:rPr>
              <a:t>a</a:t>
            </a:r>
            <a:r>
              <a:rPr lang="en-US" sz="1989">
                <a:solidFill>
                  <a:srgbClr val="000000"/>
                </a:solidFill>
                <a:latin typeface="Open Sauce"/>
                <a:ea typeface="Open Sauce"/>
                <a:cs typeface="Open Sauce"/>
                <a:sym typeface="Open Sauce"/>
              </a:rPr>
              <a:t>bi</a:t>
            </a:r>
            <a:r>
              <a:rPr lang="en-US" sz="1989">
                <a:solidFill>
                  <a:srgbClr val="000000"/>
                </a:solidFill>
                <a:latin typeface="Open Sauce"/>
                <a:ea typeface="Open Sauce"/>
                <a:cs typeface="Open Sauce"/>
                <a:sym typeface="Open Sauce"/>
              </a:rPr>
              <a:t>l</a:t>
            </a:r>
            <a:r>
              <a:rPr lang="en-US" sz="1989">
                <a:solidFill>
                  <a:srgbClr val="000000"/>
                </a:solidFill>
                <a:latin typeface="Open Sauce"/>
                <a:ea typeface="Open Sauce"/>
                <a:cs typeface="Open Sauce"/>
                <a:sym typeface="Open Sauce"/>
              </a:rPr>
              <a:t>i</a:t>
            </a:r>
            <a:r>
              <a:rPr lang="en-US" sz="1989">
                <a:solidFill>
                  <a:srgbClr val="000000"/>
                </a:solidFill>
                <a:latin typeface="Open Sauce"/>
                <a:ea typeface="Open Sauce"/>
                <a:cs typeface="Open Sauce"/>
                <a:sym typeface="Open Sauce"/>
              </a:rPr>
              <a:t>ti</a:t>
            </a:r>
            <a:r>
              <a:rPr lang="en-US" sz="1989">
                <a:solidFill>
                  <a:srgbClr val="000000"/>
                </a:solidFill>
                <a:latin typeface="Open Sauce"/>
                <a:ea typeface="Open Sauce"/>
                <a:cs typeface="Open Sauce"/>
                <a:sym typeface="Open Sauce"/>
              </a:rPr>
              <a:t>e</a:t>
            </a:r>
            <a:r>
              <a:rPr lang="en-US" sz="1989">
                <a:solidFill>
                  <a:srgbClr val="000000"/>
                </a:solidFill>
                <a:latin typeface="Open Sauce"/>
                <a:ea typeface="Open Sauce"/>
                <a:cs typeface="Open Sauce"/>
                <a:sym typeface="Open Sauce"/>
              </a:rPr>
              <a:t>s.</a:t>
            </a:r>
          </a:p>
          <a:p>
            <a:pPr algn="l">
              <a:lnSpc>
                <a:spcPts val="2784"/>
              </a:lnSpc>
            </a:pPr>
          </a:p>
        </p:txBody>
      </p:sp>
      <p:sp>
        <p:nvSpPr>
          <p:cNvPr name="TextBox 33" id="33"/>
          <p:cNvSpPr txBox="true"/>
          <p:nvPr/>
        </p:nvSpPr>
        <p:spPr>
          <a:xfrm rot="0">
            <a:off x="13306565" y="5901358"/>
            <a:ext cx="4086117" cy="3125674"/>
          </a:xfrm>
          <a:prstGeom prst="rect">
            <a:avLst/>
          </a:prstGeom>
        </p:spPr>
        <p:txBody>
          <a:bodyPr anchor="t" rtlCol="false" tIns="0" lIns="0" bIns="0" rIns="0">
            <a:spAutoFit/>
          </a:bodyPr>
          <a:lstStyle/>
          <a:p>
            <a:pPr algn="l">
              <a:lnSpc>
                <a:spcPts val="2543"/>
              </a:lnSpc>
            </a:pPr>
          </a:p>
          <a:p>
            <a:pPr algn="l">
              <a:lnSpc>
                <a:spcPts val="2543"/>
              </a:lnSpc>
              <a:spcBef>
                <a:spcPct val="0"/>
              </a:spcBef>
            </a:pPr>
            <a:r>
              <a:rPr lang="en-US" b="true" sz="1816">
                <a:solidFill>
                  <a:srgbClr val="000000"/>
                </a:solidFill>
                <a:latin typeface="Open Sauce Bold"/>
                <a:ea typeface="Open Sauce Bold"/>
                <a:cs typeface="Open Sauce Bold"/>
                <a:sym typeface="Open Sauce Bold"/>
              </a:rPr>
              <a:t>Q6 (Advanced Analytics &amp; Continuous Learning): Med</a:t>
            </a:r>
            <a:r>
              <a:rPr lang="en-US" b="true" sz="1816">
                <a:solidFill>
                  <a:srgbClr val="000000"/>
                </a:solidFill>
                <a:latin typeface="Open Sauce Bold"/>
                <a:ea typeface="Open Sauce Bold"/>
                <a:cs typeface="Open Sauce Bold"/>
                <a:sym typeface="Open Sauce Bold"/>
              </a:rPr>
              <a:t>ium Effort</a:t>
            </a:r>
          </a:p>
          <a:p>
            <a:pPr algn="l">
              <a:lnSpc>
                <a:spcPts val="2543"/>
              </a:lnSpc>
              <a:spcBef>
                <a:spcPct val="0"/>
              </a:spcBef>
            </a:pPr>
          </a:p>
          <a:p>
            <a:pPr algn="l">
              <a:lnSpc>
                <a:spcPts val="2543"/>
              </a:lnSpc>
            </a:pPr>
            <a:r>
              <a:rPr lang="en-US" sz="1816">
                <a:solidFill>
                  <a:srgbClr val="000000"/>
                </a:solidFill>
                <a:latin typeface="Open Sauce"/>
                <a:ea typeface="Open Sauce"/>
                <a:cs typeface="Open Sauce"/>
                <a:sym typeface="Open Sauce"/>
              </a:rPr>
              <a:t>Focus</a:t>
            </a:r>
            <a:r>
              <a:rPr lang="en-US" sz="1816">
                <a:solidFill>
                  <a:srgbClr val="000000"/>
                </a:solidFill>
                <a:latin typeface="Open Sauce"/>
                <a:ea typeface="Open Sauce"/>
                <a:cs typeface="Open Sauce"/>
                <a:sym typeface="Open Sauce"/>
              </a:rPr>
              <a:t> on advanced analytics, performance optimization, and continuous model learning.</a:t>
            </a:r>
          </a:p>
          <a:p>
            <a:pPr algn="l">
              <a:lnSpc>
                <a:spcPts val="2543"/>
              </a:lnSpc>
            </a:pPr>
          </a:p>
          <a:p>
            <a:pPr algn="l">
              <a:lnSpc>
                <a:spcPts val="2543"/>
              </a:lnSpc>
            </a:pPr>
          </a:p>
        </p:txBody>
      </p:sp>
      <p:sp>
        <p:nvSpPr>
          <p:cNvPr name="Freeform 34" id="34"/>
          <p:cNvSpPr/>
          <p:nvPr/>
        </p:nvSpPr>
        <p:spPr>
          <a:xfrm flipH="false" flipV="false" rot="0">
            <a:off x="8615038" y="4552261"/>
            <a:ext cx="1822787" cy="1114178"/>
          </a:xfrm>
          <a:custGeom>
            <a:avLst/>
            <a:gdLst/>
            <a:ahLst/>
            <a:cxnLst/>
            <a:rect r="r" b="b" t="t" l="l"/>
            <a:pathLst>
              <a:path h="1114178" w="1822787">
                <a:moveTo>
                  <a:pt x="0" y="0"/>
                </a:moveTo>
                <a:lnTo>
                  <a:pt x="1822787" y="0"/>
                </a:lnTo>
                <a:lnTo>
                  <a:pt x="1822787" y="1114178"/>
                </a:lnTo>
                <a:lnTo>
                  <a:pt x="0" y="1114178"/>
                </a:lnTo>
                <a:lnTo>
                  <a:pt x="0" y="0"/>
                </a:lnTo>
                <a:close/>
              </a:path>
            </a:pathLst>
          </a:custGeom>
          <a:blipFill>
            <a:blip r:embed="rId2"/>
            <a:stretch>
              <a:fillRect l="0" t="0" r="0" b="0"/>
            </a:stretch>
          </a:blipFill>
        </p:spPr>
      </p:sp>
      <p:sp>
        <p:nvSpPr>
          <p:cNvPr name="Freeform 35" id="35"/>
          <p:cNvSpPr/>
          <p:nvPr/>
        </p:nvSpPr>
        <p:spPr>
          <a:xfrm flipH="false" flipV="false" rot="0">
            <a:off x="8615038" y="8514044"/>
            <a:ext cx="1822787" cy="1114178"/>
          </a:xfrm>
          <a:custGeom>
            <a:avLst/>
            <a:gdLst/>
            <a:ahLst/>
            <a:cxnLst/>
            <a:rect r="r" b="b" t="t" l="l"/>
            <a:pathLst>
              <a:path h="1114178" w="1822787">
                <a:moveTo>
                  <a:pt x="0" y="0"/>
                </a:moveTo>
                <a:lnTo>
                  <a:pt x="1822787" y="0"/>
                </a:lnTo>
                <a:lnTo>
                  <a:pt x="1822787" y="1114178"/>
                </a:lnTo>
                <a:lnTo>
                  <a:pt x="0" y="1114178"/>
                </a:lnTo>
                <a:lnTo>
                  <a:pt x="0" y="0"/>
                </a:lnTo>
                <a:close/>
              </a:path>
            </a:pathLst>
          </a:custGeom>
          <a:blipFill>
            <a:blip r:embed="rId2"/>
            <a:stretch>
              <a:fillRect l="0" t="0" r="0" b="0"/>
            </a:stretch>
          </a:blipFill>
        </p:spPr>
      </p:sp>
      <p:sp>
        <p:nvSpPr>
          <p:cNvPr name="Freeform 36" id="36"/>
          <p:cNvSpPr/>
          <p:nvPr/>
        </p:nvSpPr>
        <p:spPr>
          <a:xfrm flipH="false" flipV="false" rot="0">
            <a:off x="14166074" y="8514044"/>
            <a:ext cx="1822787" cy="1114178"/>
          </a:xfrm>
          <a:custGeom>
            <a:avLst/>
            <a:gdLst/>
            <a:ahLst/>
            <a:cxnLst/>
            <a:rect r="r" b="b" t="t" l="l"/>
            <a:pathLst>
              <a:path h="1114178" w="1822787">
                <a:moveTo>
                  <a:pt x="0" y="0"/>
                </a:moveTo>
                <a:lnTo>
                  <a:pt x="1822787" y="0"/>
                </a:lnTo>
                <a:lnTo>
                  <a:pt x="1822787" y="1114178"/>
                </a:lnTo>
                <a:lnTo>
                  <a:pt x="0" y="1114178"/>
                </a:lnTo>
                <a:lnTo>
                  <a:pt x="0" y="0"/>
                </a:lnTo>
                <a:close/>
              </a:path>
            </a:pathLst>
          </a:custGeom>
          <a:blipFill>
            <a:blip r:embed="rId2"/>
            <a:stretch>
              <a:fillRect l="0" t="0" r="0" b="0"/>
            </a:stretch>
          </a:blipFill>
        </p:spPr>
      </p:sp>
      <p:grpSp>
        <p:nvGrpSpPr>
          <p:cNvPr name="Group 37" id="37"/>
          <p:cNvGrpSpPr/>
          <p:nvPr/>
        </p:nvGrpSpPr>
        <p:grpSpPr>
          <a:xfrm rot="0">
            <a:off x="0" y="9555697"/>
            <a:ext cx="4099091" cy="731303"/>
            <a:chOff x="0" y="0"/>
            <a:chExt cx="5465455" cy="975071"/>
          </a:xfrm>
        </p:grpSpPr>
        <p:grpSp>
          <p:nvGrpSpPr>
            <p:cNvPr name="Group 38" id="38"/>
            <p:cNvGrpSpPr/>
            <p:nvPr/>
          </p:nvGrpSpPr>
          <p:grpSpPr>
            <a:xfrm rot="0">
              <a:off x="0" y="0"/>
              <a:ext cx="975071" cy="975071"/>
              <a:chOff x="0" y="0"/>
              <a:chExt cx="812800" cy="812800"/>
            </a:xfrm>
          </p:grpSpPr>
          <p:sp>
            <p:nvSpPr>
              <p:cNvPr name="Freeform 39" id="3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0" t="-446" r="0" b="0"/>
                </a:stretch>
              </a:blipFill>
            </p:spPr>
          </p:sp>
        </p:grpSp>
        <p:sp>
          <p:nvSpPr>
            <p:cNvPr name="TextBox 40" id="40"/>
            <p:cNvSpPr txBox="true"/>
            <p:nvPr/>
          </p:nvSpPr>
          <p:spPr>
            <a:xfrm rot="0">
              <a:off x="1141360" y="48747"/>
              <a:ext cx="2860498" cy="925689"/>
            </a:xfrm>
            <a:prstGeom prst="rect">
              <a:avLst/>
            </a:prstGeom>
          </p:spPr>
          <p:txBody>
            <a:bodyPr anchor="t" rtlCol="false" tIns="0" lIns="0" bIns="0" rIns="0">
              <a:spAutoFit/>
            </a:bodyPr>
            <a:lstStyle/>
            <a:p>
              <a:pPr algn="l">
                <a:lnSpc>
                  <a:spcPts val="5594"/>
                </a:lnSpc>
                <a:spcBef>
                  <a:spcPct val="0"/>
                </a:spcBef>
              </a:pPr>
              <a:r>
                <a:rPr lang="en-US" b="true" sz="3996">
                  <a:solidFill>
                    <a:srgbClr val="FFFFFF"/>
                  </a:solidFill>
                  <a:latin typeface="Poppins Bold"/>
                  <a:ea typeface="Poppins Bold"/>
                  <a:cs typeface="Poppins Bold"/>
                  <a:sym typeface="Poppins Bold"/>
                </a:rPr>
                <a:t>No</a:t>
              </a:r>
            </a:p>
          </p:txBody>
        </p:sp>
        <p:sp>
          <p:nvSpPr>
            <p:cNvPr name="TextBox 41" id="41"/>
            <p:cNvSpPr txBox="true"/>
            <p:nvPr/>
          </p:nvSpPr>
          <p:spPr>
            <a:xfrm rot="0">
              <a:off x="2184479" y="48747"/>
              <a:ext cx="3280976" cy="925689"/>
            </a:xfrm>
            <a:prstGeom prst="rect">
              <a:avLst/>
            </a:prstGeom>
          </p:spPr>
          <p:txBody>
            <a:bodyPr anchor="t" rtlCol="false" tIns="0" lIns="0" bIns="0" rIns="0">
              <a:spAutoFit/>
            </a:bodyPr>
            <a:lstStyle/>
            <a:p>
              <a:pPr algn="l">
                <a:lnSpc>
                  <a:spcPts val="5594"/>
                </a:lnSpc>
                <a:spcBef>
                  <a:spcPct val="0"/>
                </a:spcBef>
              </a:pPr>
              <a:r>
                <a:rPr lang="en-US" b="true" sz="3996">
                  <a:solidFill>
                    <a:srgbClr val="FFFFFF"/>
                  </a:solidFill>
                  <a:latin typeface="Poppins Semi-Bold"/>
                  <a:ea typeface="Poppins Semi-Bold"/>
                  <a:cs typeface="Poppins Semi-Bold"/>
                  <a:sym typeface="Poppins Semi-Bold"/>
                </a:rPr>
                <a:t>Parking</a:t>
              </a:r>
            </a:p>
          </p:txBody>
        </p:sp>
      </p:grpSp>
      <p:sp>
        <p:nvSpPr>
          <p:cNvPr name="TextBox 42" id="4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20</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8B7BDB"/>
        </a:solidFill>
      </p:bgPr>
    </p:bg>
    <p:spTree>
      <p:nvGrpSpPr>
        <p:cNvPr id="1" name=""/>
        <p:cNvGrpSpPr/>
        <p:nvPr/>
      </p:nvGrpSpPr>
      <p:grpSpPr>
        <a:xfrm>
          <a:off x="0" y="0"/>
          <a:ext cx="0" cy="0"/>
          <a:chOff x="0" y="0"/>
          <a:chExt cx="0" cy="0"/>
        </a:xfrm>
      </p:grpSpPr>
      <p:sp>
        <p:nvSpPr>
          <p:cNvPr name="TextBox 2" id="2"/>
          <p:cNvSpPr txBox="true"/>
          <p:nvPr/>
        </p:nvSpPr>
        <p:spPr>
          <a:xfrm rot="0">
            <a:off x="3326068" y="247121"/>
            <a:ext cx="12544022" cy="1273257"/>
          </a:xfrm>
          <a:prstGeom prst="rect">
            <a:avLst/>
          </a:prstGeom>
        </p:spPr>
        <p:txBody>
          <a:bodyPr anchor="t" rtlCol="false" tIns="0" lIns="0" bIns="0" rIns="0">
            <a:spAutoFit/>
          </a:bodyPr>
          <a:lstStyle/>
          <a:p>
            <a:pPr algn="l">
              <a:lnSpc>
                <a:spcPts val="9075"/>
              </a:lnSpc>
            </a:pPr>
            <a:r>
              <a:rPr lang="en-US" sz="8561" b="true">
                <a:solidFill>
                  <a:srgbClr val="FFFFFF"/>
                </a:solidFill>
                <a:latin typeface="Poppins Semi-Bold"/>
                <a:ea typeface="Poppins Semi-Bold"/>
                <a:cs typeface="Poppins Semi-Bold"/>
                <a:sym typeface="Poppins Semi-Bold"/>
              </a:rPr>
              <a:t>Business Plan (Contd)</a:t>
            </a:r>
          </a:p>
        </p:txBody>
      </p:sp>
      <p:grpSp>
        <p:nvGrpSpPr>
          <p:cNvPr name="Group 3" id="3"/>
          <p:cNvGrpSpPr/>
          <p:nvPr/>
        </p:nvGrpSpPr>
        <p:grpSpPr>
          <a:xfrm rot="0">
            <a:off x="-5466775" y="-512435"/>
            <a:ext cx="6652904" cy="11002661"/>
            <a:chOff x="0" y="0"/>
            <a:chExt cx="1752205" cy="2897820"/>
          </a:xfrm>
        </p:grpSpPr>
        <p:sp>
          <p:nvSpPr>
            <p:cNvPr name="Freeform 4" id="4"/>
            <p:cNvSpPr/>
            <p:nvPr/>
          </p:nvSpPr>
          <p:spPr>
            <a:xfrm flipH="false" flipV="false" rot="0">
              <a:off x="0" y="0"/>
              <a:ext cx="1752205" cy="2897820"/>
            </a:xfrm>
            <a:custGeom>
              <a:avLst/>
              <a:gdLst/>
              <a:ahLst/>
              <a:cxnLst/>
              <a:rect r="r" b="b" t="t" l="l"/>
              <a:pathLst>
                <a:path h="2897820" w="1752205">
                  <a:moveTo>
                    <a:pt x="36074" y="0"/>
                  </a:moveTo>
                  <a:lnTo>
                    <a:pt x="1716131" y="0"/>
                  </a:lnTo>
                  <a:cubicBezTo>
                    <a:pt x="1725698" y="0"/>
                    <a:pt x="1734874" y="3801"/>
                    <a:pt x="1741639" y="10566"/>
                  </a:cubicBezTo>
                  <a:cubicBezTo>
                    <a:pt x="1748405" y="17331"/>
                    <a:pt x="1752205" y="26507"/>
                    <a:pt x="1752205" y="36074"/>
                  </a:cubicBezTo>
                  <a:lnTo>
                    <a:pt x="1752205" y="2861746"/>
                  </a:lnTo>
                  <a:cubicBezTo>
                    <a:pt x="1752205" y="2871313"/>
                    <a:pt x="1748405" y="2880489"/>
                    <a:pt x="1741639" y="2887254"/>
                  </a:cubicBezTo>
                  <a:cubicBezTo>
                    <a:pt x="1734874" y="2894019"/>
                    <a:pt x="1725698" y="2897820"/>
                    <a:pt x="1716131" y="2897820"/>
                  </a:cubicBezTo>
                  <a:lnTo>
                    <a:pt x="36074" y="2897820"/>
                  </a:lnTo>
                  <a:cubicBezTo>
                    <a:pt x="26507" y="2897820"/>
                    <a:pt x="17331" y="2894019"/>
                    <a:pt x="10566" y="2887254"/>
                  </a:cubicBezTo>
                  <a:cubicBezTo>
                    <a:pt x="3801" y="2880489"/>
                    <a:pt x="0" y="2871313"/>
                    <a:pt x="0" y="2861746"/>
                  </a:cubicBezTo>
                  <a:lnTo>
                    <a:pt x="0" y="36074"/>
                  </a:lnTo>
                  <a:cubicBezTo>
                    <a:pt x="0" y="26507"/>
                    <a:pt x="3801" y="17331"/>
                    <a:pt x="10566" y="10566"/>
                  </a:cubicBezTo>
                  <a:cubicBezTo>
                    <a:pt x="17331" y="3801"/>
                    <a:pt x="26507" y="0"/>
                    <a:pt x="36074" y="0"/>
                  </a:cubicBezTo>
                  <a:close/>
                </a:path>
              </a:pathLst>
            </a:custGeom>
            <a:solidFill>
              <a:srgbClr val="443880"/>
            </a:solidFill>
          </p:spPr>
        </p:sp>
        <p:sp>
          <p:nvSpPr>
            <p:cNvPr name="TextBox 5" id="5"/>
            <p:cNvSpPr txBox="true"/>
            <p:nvPr/>
          </p:nvSpPr>
          <p:spPr>
            <a:xfrm>
              <a:off x="0" y="-38100"/>
              <a:ext cx="1752205" cy="293592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2103033" y="2521155"/>
            <a:ext cx="13476142" cy="6612712"/>
            <a:chOff x="0" y="0"/>
            <a:chExt cx="3549272" cy="1741620"/>
          </a:xfrm>
        </p:grpSpPr>
        <p:sp>
          <p:nvSpPr>
            <p:cNvPr name="Freeform 7" id="7"/>
            <p:cNvSpPr/>
            <p:nvPr/>
          </p:nvSpPr>
          <p:spPr>
            <a:xfrm flipH="false" flipV="false" rot="0">
              <a:off x="0" y="0"/>
              <a:ext cx="3549272" cy="1741619"/>
            </a:xfrm>
            <a:custGeom>
              <a:avLst/>
              <a:gdLst/>
              <a:ahLst/>
              <a:cxnLst/>
              <a:rect r="r" b="b" t="t" l="l"/>
              <a:pathLst>
                <a:path h="1741619" w="3549272">
                  <a:moveTo>
                    <a:pt x="30448" y="0"/>
                  </a:moveTo>
                  <a:lnTo>
                    <a:pt x="3518824" y="0"/>
                  </a:lnTo>
                  <a:cubicBezTo>
                    <a:pt x="3535640" y="0"/>
                    <a:pt x="3549272" y="13632"/>
                    <a:pt x="3549272" y="30448"/>
                  </a:cubicBezTo>
                  <a:lnTo>
                    <a:pt x="3549272" y="1711172"/>
                  </a:lnTo>
                  <a:cubicBezTo>
                    <a:pt x="3549272" y="1727987"/>
                    <a:pt x="3535640" y="1741619"/>
                    <a:pt x="3518824" y="1741619"/>
                  </a:cubicBezTo>
                  <a:lnTo>
                    <a:pt x="30448" y="1741619"/>
                  </a:lnTo>
                  <a:cubicBezTo>
                    <a:pt x="13632" y="1741619"/>
                    <a:pt x="0" y="1727987"/>
                    <a:pt x="0" y="1711172"/>
                  </a:cubicBezTo>
                  <a:lnTo>
                    <a:pt x="0" y="30448"/>
                  </a:lnTo>
                  <a:cubicBezTo>
                    <a:pt x="0" y="13632"/>
                    <a:pt x="13632" y="0"/>
                    <a:pt x="30448" y="0"/>
                  </a:cubicBezTo>
                  <a:close/>
                </a:path>
              </a:pathLst>
            </a:custGeom>
            <a:solidFill>
              <a:srgbClr val="FFFFFF"/>
            </a:solidFill>
            <a:ln w="28575" cap="rnd">
              <a:solidFill>
                <a:srgbClr val="000000"/>
              </a:solidFill>
              <a:prstDash val="solid"/>
              <a:round/>
            </a:ln>
          </p:spPr>
        </p:sp>
        <p:sp>
          <p:nvSpPr>
            <p:cNvPr name="TextBox 8" id="8"/>
            <p:cNvSpPr txBox="true"/>
            <p:nvPr/>
          </p:nvSpPr>
          <p:spPr>
            <a:xfrm>
              <a:off x="0" y="-38100"/>
              <a:ext cx="3549272" cy="177972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3354034" y="7925620"/>
            <a:ext cx="1692893" cy="682965"/>
            <a:chOff x="0" y="0"/>
            <a:chExt cx="1007361" cy="406400"/>
          </a:xfrm>
        </p:grpSpPr>
        <p:sp>
          <p:nvSpPr>
            <p:cNvPr name="Freeform 10" id="10"/>
            <p:cNvSpPr/>
            <p:nvPr/>
          </p:nvSpPr>
          <p:spPr>
            <a:xfrm flipH="false" flipV="false" rot="0">
              <a:off x="0" y="0"/>
              <a:ext cx="1007361" cy="406400"/>
            </a:xfrm>
            <a:custGeom>
              <a:avLst/>
              <a:gdLst/>
              <a:ahLst/>
              <a:cxnLst/>
              <a:rect r="r" b="b" t="t" l="l"/>
              <a:pathLst>
                <a:path h="406400" w="1007361">
                  <a:moveTo>
                    <a:pt x="804161" y="0"/>
                  </a:moveTo>
                  <a:cubicBezTo>
                    <a:pt x="916385" y="0"/>
                    <a:pt x="1007361" y="90976"/>
                    <a:pt x="1007361" y="203200"/>
                  </a:cubicBezTo>
                  <a:cubicBezTo>
                    <a:pt x="1007361" y="315424"/>
                    <a:pt x="916385" y="406400"/>
                    <a:pt x="804161"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38100" cap="sq">
              <a:solidFill>
                <a:srgbClr val="000000"/>
              </a:solidFill>
              <a:prstDash val="solid"/>
              <a:miter/>
            </a:ln>
          </p:spPr>
        </p:sp>
        <p:sp>
          <p:nvSpPr>
            <p:cNvPr name="TextBox 11" id="11"/>
            <p:cNvSpPr txBox="true"/>
            <p:nvPr/>
          </p:nvSpPr>
          <p:spPr>
            <a:xfrm>
              <a:off x="0" y="95250"/>
              <a:ext cx="1007361" cy="311150"/>
            </a:xfrm>
            <a:prstGeom prst="rect">
              <a:avLst/>
            </a:prstGeom>
          </p:spPr>
          <p:txBody>
            <a:bodyPr anchor="ctr" rtlCol="false" tIns="50800" lIns="50800" bIns="50800" rIns="50800"/>
            <a:lstStyle/>
            <a:p>
              <a:pPr algn="ctr">
                <a:lnSpc>
                  <a:spcPts val="1625"/>
                </a:lnSpc>
              </a:pPr>
            </a:p>
          </p:txBody>
        </p:sp>
      </p:grpSp>
      <p:sp>
        <p:nvSpPr>
          <p:cNvPr name="AutoShape 12" id="12"/>
          <p:cNvSpPr/>
          <p:nvPr/>
        </p:nvSpPr>
        <p:spPr>
          <a:xfrm>
            <a:off x="3960989" y="8248052"/>
            <a:ext cx="529431" cy="0"/>
          </a:xfrm>
          <a:prstGeom prst="line">
            <a:avLst/>
          </a:prstGeom>
          <a:ln cap="flat" w="38100">
            <a:solidFill>
              <a:srgbClr val="010111"/>
            </a:solidFill>
            <a:prstDash val="solid"/>
            <a:headEnd type="none" len="sm" w="sm"/>
            <a:tailEnd type="arrow" len="sm" w="med"/>
          </a:ln>
        </p:spPr>
      </p:sp>
      <p:sp>
        <p:nvSpPr>
          <p:cNvPr name="Freeform 13" id="13"/>
          <p:cNvSpPr/>
          <p:nvPr/>
        </p:nvSpPr>
        <p:spPr>
          <a:xfrm flipH="false" flipV="false" rot="0">
            <a:off x="10640612" y="2235136"/>
            <a:ext cx="8027193" cy="9507566"/>
          </a:xfrm>
          <a:custGeom>
            <a:avLst/>
            <a:gdLst/>
            <a:ahLst/>
            <a:cxnLst/>
            <a:rect r="r" b="b" t="t" l="l"/>
            <a:pathLst>
              <a:path h="9507566" w="8027193">
                <a:moveTo>
                  <a:pt x="0" y="0"/>
                </a:moveTo>
                <a:lnTo>
                  <a:pt x="8027193" y="0"/>
                </a:lnTo>
                <a:lnTo>
                  <a:pt x="8027193" y="9507565"/>
                </a:lnTo>
                <a:lnTo>
                  <a:pt x="0" y="950756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986718" y="3194663"/>
            <a:ext cx="4030836" cy="6463439"/>
          </a:xfrm>
          <a:custGeom>
            <a:avLst/>
            <a:gdLst/>
            <a:ahLst/>
            <a:cxnLst/>
            <a:rect r="r" b="b" t="t" l="l"/>
            <a:pathLst>
              <a:path h="6463439" w="4030836">
                <a:moveTo>
                  <a:pt x="0" y="0"/>
                </a:moveTo>
                <a:lnTo>
                  <a:pt x="4030836" y="0"/>
                </a:lnTo>
                <a:lnTo>
                  <a:pt x="4030836" y="6463439"/>
                </a:lnTo>
                <a:lnTo>
                  <a:pt x="0" y="646343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5" id="15"/>
          <p:cNvSpPr txBox="true"/>
          <p:nvPr/>
        </p:nvSpPr>
        <p:spPr>
          <a:xfrm rot="0">
            <a:off x="3326068" y="3175613"/>
            <a:ext cx="7965360" cy="4257381"/>
          </a:xfrm>
          <a:prstGeom prst="rect">
            <a:avLst/>
          </a:prstGeom>
        </p:spPr>
        <p:txBody>
          <a:bodyPr anchor="t" rtlCol="false" tIns="0" lIns="0" bIns="0" rIns="0">
            <a:spAutoFit/>
          </a:bodyPr>
          <a:lstStyle/>
          <a:p>
            <a:pPr algn="l" marL="523112" indent="-261556" lvl="1">
              <a:lnSpc>
                <a:spcPts val="2834"/>
              </a:lnSpc>
              <a:buFont typeface="Arial"/>
              <a:buChar char="•"/>
            </a:pPr>
            <a:r>
              <a:rPr lang="en-US" b="true" sz="2422">
                <a:solidFill>
                  <a:srgbClr val="000000"/>
                </a:solidFill>
                <a:latin typeface="Poppins Bold"/>
                <a:ea typeface="Poppins Bold"/>
                <a:cs typeface="Poppins Bold"/>
                <a:sym typeface="Poppins Bold"/>
              </a:rPr>
              <a:t>24/7 Suppor</a:t>
            </a:r>
            <a:r>
              <a:rPr lang="en-US" b="true" sz="2422">
                <a:solidFill>
                  <a:srgbClr val="000000"/>
                </a:solidFill>
                <a:latin typeface="Poppins Medium"/>
                <a:ea typeface="Poppins Medium"/>
                <a:cs typeface="Poppins Medium"/>
                <a:sym typeface="Poppins Medium"/>
              </a:rPr>
              <a:t>t: </a:t>
            </a:r>
            <a:r>
              <a:rPr lang="en-US" sz="2422">
                <a:solidFill>
                  <a:srgbClr val="000000"/>
                </a:solidFill>
                <a:latin typeface="Poppins"/>
                <a:ea typeface="Poppins"/>
                <a:cs typeface="Poppins"/>
                <a:sym typeface="Poppins"/>
              </a:rPr>
              <a:t>The chatbot provides round-the-clock assistance, addressing customer inquiries and issues at any time, thereby improving satisfaction and loyalty.</a:t>
            </a:r>
          </a:p>
          <a:p>
            <a:pPr algn="l" marL="523112" indent="-261556" lvl="1">
              <a:lnSpc>
                <a:spcPts val="2834"/>
              </a:lnSpc>
              <a:buFont typeface="Arial"/>
              <a:buChar char="•"/>
            </a:pPr>
            <a:r>
              <a:rPr lang="en-US" b="true" sz="2422">
                <a:solidFill>
                  <a:srgbClr val="000000"/>
                </a:solidFill>
                <a:latin typeface="Poppins Bold"/>
                <a:ea typeface="Poppins Bold"/>
                <a:cs typeface="Poppins Bold"/>
                <a:sym typeface="Poppins Bold"/>
              </a:rPr>
              <a:t>Automated Order Management:</a:t>
            </a:r>
            <a:r>
              <a:rPr lang="en-US" sz="2422">
                <a:solidFill>
                  <a:srgbClr val="000000"/>
                </a:solidFill>
                <a:latin typeface="Poppins"/>
                <a:ea typeface="Poppins"/>
                <a:cs typeface="Poppins"/>
                <a:sym typeface="Poppins"/>
              </a:rPr>
              <a:t> The chatbot handles order tracking, returns, refunds, and cancellations, reducing the workload on human staff and minimizing errors.</a:t>
            </a:r>
          </a:p>
          <a:p>
            <a:pPr algn="l" marL="523112" indent="-261556" lvl="1">
              <a:lnSpc>
                <a:spcPts val="2834"/>
              </a:lnSpc>
              <a:buFont typeface="Arial"/>
              <a:buChar char="•"/>
            </a:pPr>
            <a:r>
              <a:rPr lang="en-US" b="true" sz="2422">
                <a:solidFill>
                  <a:srgbClr val="000000"/>
                </a:solidFill>
                <a:latin typeface="Poppins Bold"/>
                <a:ea typeface="Poppins Bold"/>
                <a:cs typeface="Poppins Bold"/>
                <a:sym typeface="Poppins Bold"/>
              </a:rPr>
              <a:t>Scalability</a:t>
            </a:r>
            <a:r>
              <a:rPr lang="en-US" sz="2422">
                <a:solidFill>
                  <a:srgbClr val="000000"/>
                </a:solidFill>
                <a:latin typeface="Poppins"/>
                <a:ea typeface="Poppins"/>
                <a:cs typeface="Poppins"/>
                <a:sym typeface="Poppins"/>
              </a:rPr>
              <a:t>: The chatbot can manage increasing customer interactions without proportional increases in staffing costs.</a:t>
            </a:r>
          </a:p>
          <a:p>
            <a:pPr algn="l">
              <a:lnSpc>
                <a:spcPts val="2834"/>
              </a:lnSpc>
            </a:pPr>
          </a:p>
        </p:txBody>
      </p:sp>
      <p:sp>
        <p:nvSpPr>
          <p:cNvPr name="TextBox 16" id="16"/>
          <p:cNvSpPr txBox="true"/>
          <p:nvPr/>
        </p:nvSpPr>
        <p:spPr>
          <a:xfrm rot="0">
            <a:off x="3354034" y="1491803"/>
            <a:ext cx="7416972" cy="634452"/>
          </a:xfrm>
          <a:prstGeom prst="rect">
            <a:avLst/>
          </a:prstGeom>
        </p:spPr>
        <p:txBody>
          <a:bodyPr anchor="t" rtlCol="false" tIns="0" lIns="0" bIns="0" rIns="0">
            <a:spAutoFit/>
          </a:bodyPr>
          <a:lstStyle/>
          <a:p>
            <a:pPr algn="l">
              <a:lnSpc>
                <a:spcPts val="4706"/>
              </a:lnSpc>
            </a:pPr>
            <a:r>
              <a:rPr lang="en-US" sz="4022" b="true">
                <a:solidFill>
                  <a:srgbClr val="FFFFFF"/>
                </a:solidFill>
                <a:latin typeface="Poppins Medium"/>
                <a:ea typeface="Poppins Medium"/>
                <a:cs typeface="Poppins Medium"/>
                <a:sym typeface="Poppins Medium"/>
              </a:rPr>
              <a:t>What value does it bring ?</a:t>
            </a:r>
          </a:p>
        </p:txBody>
      </p:sp>
      <p:grpSp>
        <p:nvGrpSpPr>
          <p:cNvPr name="Group 17" id="17"/>
          <p:cNvGrpSpPr/>
          <p:nvPr/>
        </p:nvGrpSpPr>
        <p:grpSpPr>
          <a:xfrm rot="0">
            <a:off x="0" y="9555697"/>
            <a:ext cx="4099091" cy="731303"/>
            <a:chOff x="0" y="0"/>
            <a:chExt cx="5465455" cy="975071"/>
          </a:xfrm>
        </p:grpSpPr>
        <p:grpSp>
          <p:nvGrpSpPr>
            <p:cNvPr name="Group 18" id="18"/>
            <p:cNvGrpSpPr/>
            <p:nvPr/>
          </p:nvGrpSpPr>
          <p:grpSpPr>
            <a:xfrm rot="0">
              <a:off x="0" y="0"/>
              <a:ext cx="975071" cy="975071"/>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l="0" t="-446" r="0" b="0"/>
                </a:stretch>
              </a:blipFill>
            </p:spPr>
          </p:sp>
        </p:grpSp>
        <p:sp>
          <p:nvSpPr>
            <p:cNvPr name="TextBox 20" id="20"/>
            <p:cNvSpPr txBox="true"/>
            <p:nvPr/>
          </p:nvSpPr>
          <p:spPr>
            <a:xfrm rot="0">
              <a:off x="1141360" y="48747"/>
              <a:ext cx="2860498" cy="925689"/>
            </a:xfrm>
            <a:prstGeom prst="rect">
              <a:avLst/>
            </a:prstGeom>
          </p:spPr>
          <p:txBody>
            <a:bodyPr anchor="t" rtlCol="false" tIns="0" lIns="0" bIns="0" rIns="0">
              <a:spAutoFit/>
            </a:bodyPr>
            <a:lstStyle/>
            <a:p>
              <a:pPr algn="l">
                <a:lnSpc>
                  <a:spcPts val="5594"/>
                </a:lnSpc>
                <a:spcBef>
                  <a:spcPct val="0"/>
                </a:spcBef>
              </a:pPr>
              <a:r>
                <a:rPr lang="en-US" b="true" sz="3996">
                  <a:solidFill>
                    <a:srgbClr val="FFFFFF"/>
                  </a:solidFill>
                  <a:latin typeface="Poppins Bold"/>
                  <a:ea typeface="Poppins Bold"/>
                  <a:cs typeface="Poppins Bold"/>
                  <a:sym typeface="Poppins Bold"/>
                </a:rPr>
                <a:t>No</a:t>
              </a:r>
            </a:p>
          </p:txBody>
        </p:sp>
        <p:sp>
          <p:nvSpPr>
            <p:cNvPr name="TextBox 21" id="21"/>
            <p:cNvSpPr txBox="true"/>
            <p:nvPr/>
          </p:nvSpPr>
          <p:spPr>
            <a:xfrm rot="0">
              <a:off x="2184479" y="48747"/>
              <a:ext cx="3280976" cy="925689"/>
            </a:xfrm>
            <a:prstGeom prst="rect">
              <a:avLst/>
            </a:prstGeom>
          </p:spPr>
          <p:txBody>
            <a:bodyPr anchor="t" rtlCol="false" tIns="0" lIns="0" bIns="0" rIns="0">
              <a:spAutoFit/>
            </a:bodyPr>
            <a:lstStyle/>
            <a:p>
              <a:pPr algn="l">
                <a:lnSpc>
                  <a:spcPts val="5594"/>
                </a:lnSpc>
                <a:spcBef>
                  <a:spcPct val="0"/>
                </a:spcBef>
              </a:pPr>
              <a:r>
                <a:rPr lang="en-US" b="true" sz="3996">
                  <a:solidFill>
                    <a:srgbClr val="FFFFFF"/>
                  </a:solidFill>
                  <a:latin typeface="Poppins Semi-Bold"/>
                  <a:ea typeface="Poppins Semi-Bold"/>
                  <a:cs typeface="Poppins Semi-Bold"/>
                  <a:sym typeface="Poppins Semi-Bold"/>
                </a:rPr>
                <a:t>Parking</a:t>
              </a:r>
            </a:p>
          </p:txBody>
        </p:sp>
      </p:grpSp>
      <p:sp>
        <p:nvSpPr>
          <p:cNvPr name="TextBox 22" id="2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21</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DCD7F1"/>
        </a:solidFill>
      </p:bgPr>
    </p:bg>
    <p:spTree>
      <p:nvGrpSpPr>
        <p:cNvPr id="1" name=""/>
        <p:cNvGrpSpPr/>
        <p:nvPr/>
      </p:nvGrpSpPr>
      <p:grpSpPr>
        <a:xfrm>
          <a:off x="0" y="0"/>
          <a:ext cx="0" cy="0"/>
          <a:chOff x="0" y="0"/>
          <a:chExt cx="0" cy="0"/>
        </a:xfrm>
      </p:grpSpPr>
      <p:grpSp>
        <p:nvGrpSpPr>
          <p:cNvPr name="Group 2" id="2"/>
          <p:cNvGrpSpPr/>
          <p:nvPr/>
        </p:nvGrpSpPr>
        <p:grpSpPr>
          <a:xfrm rot="0">
            <a:off x="-592336" y="0"/>
            <a:ext cx="19923181" cy="11902629"/>
            <a:chOff x="0" y="0"/>
            <a:chExt cx="5247257" cy="3134849"/>
          </a:xfrm>
        </p:grpSpPr>
        <p:sp>
          <p:nvSpPr>
            <p:cNvPr name="Freeform 3" id="3"/>
            <p:cNvSpPr/>
            <p:nvPr/>
          </p:nvSpPr>
          <p:spPr>
            <a:xfrm flipH="false" flipV="false" rot="0">
              <a:off x="0" y="0"/>
              <a:ext cx="5247258" cy="3134849"/>
            </a:xfrm>
            <a:custGeom>
              <a:avLst/>
              <a:gdLst/>
              <a:ahLst/>
              <a:cxnLst/>
              <a:rect r="r" b="b" t="t" l="l"/>
              <a:pathLst>
                <a:path h="3134849" w="5247258">
                  <a:moveTo>
                    <a:pt x="0" y="0"/>
                  </a:moveTo>
                  <a:lnTo>
                    <a:pt x="5247258" y="0"/>
                  </a:lnTo>
                  <a:lnTo>
                    <a:pt x="5247258" y="3134849"/>
                  </a:lnTo>
                  <a:lnTo>
                    <a:pt x="0" y="3134849"/>
                  </a:lnTo>
                  <a:close/>
                </a:path>
              </a:pathLst>
            </a:custGeom>
            <a:solidFill>
              <a:srgbClr val="7061BD"/>
            </a:solidFill>
          </p:spPr>
        </p:sp>
        <p:sp>
          <p:nvSpPr>
            <p:cNvPr name="TextBox 4" id="4"/>
            <p:cNvSpPr txBox="true"/>
            <p:nvPr/>
          </p:nvSpPr>
          <p:spPr>
            <a:xfrm>
              <a:off x="0" y="-38100"/>
              <a:ext cx="5247257" cy="3172949"/>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2620294" y="331514"/>
            <a:ext cx="12544022" cy="1276177"/>
          </a:xfrm>
          <a:prstGeom prst="rect">
            <a:avLst/>
          </a:prstGeom>
        </p:spPr>
        <p:txBody>
          <a:bodyPr anchor="t" rtlCol="false" tIns="0" lIns="0" bIns="0" rIns="0">
            <a:spAutoFit/>
          </a:bodyPr>
          <a:lstStyle/>
          <a:p>
            <a:pPr algn="l">
              <a:lnSpc>
                <a:spcPts val="9075"/>
              </a:lnSpc>
            </a:pPr>
            <a:r>
              <a:rPr lang="en-US" sz="8561" b="true">
                <a:solidFill>
                  <a:srgbClr val="000000"/>
                </a:solidFill>
                <a:latin typeface="Poppins Semi-Bold"/>
                <a:ea typeface="Poppins Semi-Bold"/>
                <a:cs typeface="Poppins Semi-Bold"/>
                <a:sym typeface="Poppins Semi-Bold"/>
              </a:rPr>
              <a:t>Business</a:t>
            </a:r>
            <a:r>
              <a:rPr lang="en-US" sz="8561" b="true">
                <a:solidFill>
                  <a:srgbClr val="FFFFFF"/>
                </a:solidFill>
                <a:latin typeface="Poppins Semi-Bold"/>
                <a:ea typeface="Poppins Semi-Bold"/>
                <a:cs typeface="Poppins Semi-Bold"/>
                <a:sym typeface="Poppins Semi-Bold"/>
              </a:rPr>
              <a:t> Plan (Contd)</a:t>
            </a:r>
          </a:p>
        </p:txBody>
      </p:sp>
      <p:sp>
        <p:nvSpPr>
          <p:cNvPr name="TextBox 6" id="6"/>
          <p:cNvSpPr txBox="true"/>
          <p:nvPr/>
        </p:nvSpPr>
        <p:spPr>
          <a:xfrm rot="0">
            <a:off x="2620294" y="1347481"/>
            <a:ext cx="7416972" cy="634452"/>
          </a:xfrm>
          <a:prstGeom prst="rect">
            <a:avLst/>
          </a:prstGeom>
        </p:spPr>
        <p:txBody>
          <a:bodyPr anchor="t" rtlCol="false" tIns="0" lIns="0" bIns="0" rIns="0">
            <a:spAutoFit/>
          </a:bodyPr>
          <a:lstStyle/>
          <a:p>
            <a:pPr algn="l">
              <a:lnSpc>
                <a:spcPts val="4706"/>
              </a:lnSpc>
            </a:pPr>
            <a:r>
              <a:rPr lang="en-US" sz="4022" b="true">
                <a:solidFill>
                  <a:srgbClr val="FFFFFF"/>
                </a:solidFill>
                <a:latin typeface="Poppins Medium"/>
                <a:ea typeface="Poppins Medium"/>
                <a:cs typeface="Poppins Medium"/>
                <a:sym typeface="Poppins Medium"/>
              </a:rPr>
              <a:t>Global Strategy</a:t>
            </a:r>
          </a:p>
        </p:txBody>
      </p:sp>
      <p:grpSp>
        <p:nvGrpSpPr>
          <p:cNvPr name="Group 7" id="7"/>
          <p:cNvGrpSpPr/>
          <p:nvPr/>
        </p:nvGrpSpPr>
        <p:grpSpPr>
          <a:xfrm rot="0">
            <a:off x="1028700" y="3649249"/>
            <a:ext cx="4095750" cy="4552950"/>
            <a:chOff x="0" y="0"/>
            <a:chExt cx="1078716" cy="1199131"/>
          </a:xfrm>
        </p:grpSpPr>
        <p:sp>
          <p:nvSpPr>
            <p:cNvPr name="Freeform 8" id="8"/>
            <p:cNvSpPr/>
            <p:nvPr/>
          </p:nvSpPr>
          <p:spPr>
            <a:xfrm flipH="false" flipV="false" rot="0">
              <a:off x="0" y="0"/>
              <a:ext cx="1078716" cy="1199131"/>
            </a:xfrm>
            <a:custGeom>
              <a:avLst/>
              <a:gdLst/>
              <a:ahLst/>
              <a:cxnLst/>
              <a:rect r="r" b="b" t="t" l="l"/>
              <a:pathLst>
                <a:path h="1199131" w="1078716">
                  <a:moveTo>
                    <a:pt x="56707" y="0"/>
                  </a:moveTo>
                  <a:lnTo>
                    <a:pt x="1022009" y="0"/>
                  </a:lnTo>
                  <a:cubicBezTo>
                    <a:pt x="1037049" y="0"/>
                    <a:pt x="1051472" y="5974"/>
                    <a:pt x="1062107" y="16609"/>
                  </a:cubicBezTo>
                  <a:cubicBezTo>
                    <a:pt x="1072742" y="27244"/>
                    <a:pt x="1078716" y="41667"/>
                    <a:pt x="1078716" y="56707"/>
                  </a:cubicBezTo>
                  <a:lnTo>
                    <a:pt x="1078716" y="1142424"/>
                  </a:lnTo>
                  <a:cubicBezTo>
                    <a:pt x="1078716" y="1173742"/>
                    <a:pt x="1053327" y="1199131"/>
                    <a:pt x="1022009" y="1199131"/>
                  </a:cubicBezTo>
                  <a:lnTo>
                    <a:pt x="56707" y="1199131"/>
                  </a:lnTo>
                  <a:cubicBezTo>
                    <a:pt x="25389" y="1199131"/>
                    <a:pt x="0" y="1173742"/>
                    <a:pt x="0" y="1142424"/>
                  </a:cubicBezTo>
                  <a:lnTo>
                    <a:pt x="0" y="56707"/>
                  </a:lnTo>
                  <a:cubicBezTo>
                    <a:pt x="0" y="25389"/>
                    <a:pt x="25389" y="0"/>
                    <a:pt x="56707" y="0"/>
                  </a:cubicBezTo>
                  <a:close/>
                </a:path>
              </a:pathLst>
            </a:custGeom>
            <a:solidFill>
              <a:srgbClr val="FFFFFF"/>
            </a:solidFill>
          </p:spPr>
        </p:sp>
        <p:sp>
          <p:nvSpPr>
            <p:cNvPr name="TextBox 9" id="9"/>
            <p:cNvSpPr txBox="true"/>
            <p:nvPr/>
          </p:nvSpPr>
          <p:spPr>
            <a:xfrm>
              <a:off x="0" y="-38100"/>
              <a:ext cx="1078716" cy="1237231"/>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5251450" y="3649249"/>
            <a:ext cx="4095750" cy="4552950"/>
            <a:chOff x="0" y="0"/>
            <a:chExt cx="1078716" cy="1199131"/>
          </a:xfrm>
        </p:grpSpPr>
        <p:sp>
          <p:nvSpPr>
            <p:cNvPr name="Freeform 11" id="11"/>
            <p:cNvSpPr/>
            <p:nvPr/>
          </p:nvSpPr>
          <p:spPr>
            <a:xfrm flipH="false" flipV="false" rot="0">
              <a:off x="0" y="0"/>
              <a:ext cx="1078716" cy="1199131"/>
            </a:xfrm>
            <a:custGeom>
              <a:avLst/>
              <a:gdLst/>
              <a:ahLst/>
              <a:cxnLst/>
              <a:rect r="r" b="b" t="t" l="l"/>
              <a:pathLst>
                <a:path h="1199131" w="1078716">
                  <a:moveTo>
                    <a:pt x="56707" y="0"/>
                  </a:moveTo>
                  <a:lnTo>
                    <a:pt x="1022009" y="0"/>
                  </a:lnTo>
                  <a:cubicBezTo>
                    <a:pt x="1037049" y="0"/>
                    <a:pt x="1051472" y="5974"/>
                    <a:pt x="1062107" y="16609"/>
                  </a:cubicBezTo>
                  <a:cubicBezTo>
                    <a:pt x="1072742" y="27244"/>
                    <a:pt x="1078716" y="41667"/>
                    <a:pt x="1078716" y="56707"/>
                  </a:cubicBezTo>
                  <a:lnTo>
                    <a:pt x="1078716" y="1142424"/>
                  </a:lnTo>
                  <a:cubicBezTo>
                    <a:pt x="1078716" y="1173742"/>
                    <a:pt x="1053327" y="1199131"/>
                    <a:pt x="1022009" y="1199131"/>
                  </a:cubicBezTo>
                  <a:lnTo>
                    <a:pt x="56707" y="1199131"/>
                  </a:lnTo>
                  <a:cubicBezTo>
                    <a:pt x="25389" y="1199131"/>
                    <a:pt x="0" y="1173742"/>
                    <a:pt x="0" y="1142424"/>
                  </a:cubicBezTo>
                  <a:lnTo>
                    <a:pt x="0" y="56707"/>
                  </a:lnTo>
                  <a:cubicBezTo>
                    <a:pt x="0" y="25389"/>
                    <a:pt x="25389" y="0"/>
                    <a:pt x="56707" y="0"/>
                  </a:cubicBezTo>
                  <a:close/>
                </a:path>
              </a:pathLst>
            </a:custGeom>
            <a:solidFill>
              <a:srgbClr val="FFFFFF"/>
            </a:solidFill>
          </p:spPr>
        </p:sp>
        <p:sp>
          <p:nvSpPr>
            <p:cNvPr name="TextBox 12" id="12"/>
            <p:cNvSpPr txBox="true"/>
            <p:nvPr/>
          </p:nvSpPr>
          <p:spPr>
            <a:xfrm>
              <a:off x="0" y="-38100"/>
              <a:ext cx="1078716" cy="1237231"/>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9471025" y="3649249"/>
            <a:ext cx="4095750" cy="4552950"/>
            <a:chOff x="0" y="0"/>
            <a:chExt cx="1078716" cy="1199131"/>
          </a:xfrm>
        </p:grpSpPr>
        <p:sp>
          <p:nvSpPr>
            <p:cNvPr name="Freeform 14" id="14"/>
            <p:cNvSpPr/>
            <p:nvPr/>
          </p:nvSpPr>
          <p:spPr>
            <a:xfrm flipH="false" flipV="false" rot="0">
              <a:off x="0" y="0"/>
              <a:ext cx="1078716" cy="1199131"/>
            </a:xfrm>
            <a:custGeom>
              <a:avLst/>
              <a:gdLst/>
              <a:ahLst/>
              <a:cxnLst/>
              <a:rect r="r" b="b" t="t" l="l"/>
              <a:pathLst>
                <a:path h="1199131" w="1078716">
                  <a:moveTo>
                    <a:pt x="56707" y="0"/>
                  </a:moveTo>
                  <a:lnTo>
                    <a:pt x="1022009" y="0"/>
                  </a:lnTo>
                  <a:cubicBezTo>
                    <a:pt x="1037049" y="0"/>
                    <a:pt x="1051472" y="5974"/>
                    <a:pt x="1062107" y="16609"/>
                  </a:cubicBezTo>
                  <a:cubicBezTo>
                    <a:pt x="1072742" y="27244"/>
                    <a:pt x="1078716" y="41667"/>
                    <a:pt x="1078716" y="56707"/>
                  </a:cubicBezTo>
                  <a:lnTo>
                    <a:pt x="1078716" y="1142424"/>
                  </a:lnTo>
                  <a:cubicBezTo>
                    <a:pt x="1078716" y="1173742"/>
                    <a:pt x="1053327" y="1199131"/>
                    <a:pt x="1022009" y="1199131"/>
                  </a:cubicBezTo>
                  <a:lnTo>
                    <a:pt x="56707" y="1199131"/>
                  </a:lnTo>
                  <a:cubicBezTo>
                    <a:pt x="25389" y="1199131"/>
                    <a:pt x="0" y="1173742"/>
                    <a:pt x="0" y="1142424"/>
                  </a:cubicBezTo>
                  <a:lnTo>
                    <a:pt x="0" y="56707"/>
                  </a:lnTo>
                  <a:cubicBezTo>
                    <a:pt x="0" y="25389"/>
                    <a:pt x="25389" y="0"/>
                    <a:pt x="56707" y="0"/>
                  </a:cubicBezTo>
                  <a:close/>
                </a:path>
              </a:pathLst>
            </a:custGeom>
            <a:solidFill>
              <a:srgbClr val="FFFFFF"/>
            </a:solidFill>
          </p:spPr>
        </p:sp>
        <p:sp>
          <p:nvSpPr>
            <p:cNvPr name="TextBox 15" id="15"/>
            <p:cNvSpPr txBox="true"/>
            <p:nvPr/>
          </p:nvSpPr>
          <p:spPr>
            <a:xfrm>
              <a:off x="0" y="-38100"/>
              <a:ext cx="1078716" cy="1237231"/>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3690600" y="3649249"/>
            <a:ext cx="4095750" cy="4552950"/>
            <a:chOff x="0" y="0"/>
            <a:chExt cx="1078716" cy="1199131"/>
          </a:xfrm>
        </p:grpSpPr>
        <p:sp>
          <p:nvSpPr>
            <p:cNvPr name="Freeform 17" id="17"/>
            <p:cNvSpPr/>
            <p:nvPr/>
          </p:nvSpPr>
          <p:spPr>
            <a:xfrm flipH="false" flipV="false" rot="0">
              <a:off x="0" y="0"/>
              <a:ext cx="1078716" cy="1199131"/>
            </a:xfrm>
            <a:custGeom>
              <a:avLst/>
              <a:gdLst/>
              <a:ahLst/>
              <a:cxnLst/>
              <a:rect r="r" b="b" t="t" l="l"/>
              <a:pathLst>
                <a:path h="1199131" w="1078716">
                  <a:moveTo>
                    <a:pt x="56707" y="0"/>
                  </a:moveTo>
                  <a:lnTo>
                    <a:pt x="1022009" y="0"/>
                  </a:lnTo>
                  <a:cubicBezTo>
                    <a:pt x="1037049" y="0"/>
                    <a:pt x="1051472" y="5974"/>
                    <a:pt x="1062107" y="16609"/>
                  </a:cubicBezTo>
                  <a:cubicBezTo>
                    <a:pt x="1072742" y="27244"/>
                    <a:pt x="1078716" y="41667"/>
                    <a:pt x="1078716" y="56707"/>
                  </a:cubicBezTo>
                  <a:lnTo>
                    <a:pt x="1078716" y="1142424"/>
                  </a:lnTo>
                  <a:cubicBezTo>
                    <a:pt x="1078716" y="1173742"/>
                    <a:pt x="1053327" y="1199131"/>
                    <a:pt x="1022009" y="1199131"/>
                  </a:cubicBezTo>
                  <a:lnTo>
                    <a:pt x="56707" y="1199131"/>
                  </a:lnTo>
                  <a:cubicBezTo>
                    <a:pt x="25389" y="1199131"/>
                    <a:pt x="0" y="1173742"/>
                    <a:pt x="0" y="1142424"/>
                  </a:cubicBezTo>
                  <a:lnTo>
                    <a:pt x="0" y="56707"/>
                  </a:lnTo>
                  <a:cubicBezTo>
                    <a:pt x="0" y="25389"/>
                    <a:pt x="25389" y="0"/>
                    <a:pt x="56707" y="0"/>
                  </a:cubicBezTo>
                  <a:close/>
                </a:path>
              </a:pathLst>
            </a:custGeom>
            <a:solidFill>
              <a:srgbClr val="FFFFFF"/>
            </a:solidFill>
          </p:spPr>
        </p:sp>
        <p:sp>
          <p:nvSpPr>
            <p:cNvPr name="TextBox 18" id="18"/>
            <p:cNvSpPr txBox="true"/>
            <p:nvPr/>
          </p:nvSpPr>
          <p:spPr>
            <a:xfrm>
              <a:off x="0" y="-38100"/>
              <a:ext cx="1078716" cy="1237231"/>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1028700" y="2686783"/>
            <a:ext cx="4095750" cy="840557"/>
            <a:chOff x="0" y="0"/>
            <a:chExt cx="1078716" cy="221381"/>
          </a:xfrm>
        </p:grpSpPr>
        <p:sp>
          <p:nvSpPr>
            <p:cNvPr name="Freeform 20" id="20"/>
            <p:cNvSpPr/>
            <p:nvPr/>
          </p:nvSpPr>
          <p:spPr>
            <a:xfrm flipH="false" flipV="false" rot="0">
              <a:off x="0" y="0"/>
              <a:ext cx="1078716" cy="221381"/>
            </a:xfrm>
            <a:custGeom>
              <a:avLst/>
              <a:gdLst/>
              <a:ahLst/>
              <a:cxnLst/>
              <a:rect r="r" b="b" t="t" l="l"/>
              <a:pathLst>
                <a:path h="221381" w="1078716">
                  <a:moveTo>
                    <a:pt x="56707" y="0"/>
                  </a:moveTo>
                  <a:lnTo>
                    <a:pt x="1022009" y="0"/>
                  </a:lnTo>
                  <a:cubicBezTo>
                    <a:pt x="1037049" y="0"/>
                    <a:pt x="1051472" y="5974"/>
                    <a:pt x="1062107" y="16609"/>
                  </a:cubicBezTo>
                  <a:cubicBezTo>
                    <a:pt x="1072742" y="27244"/>
                    <a:pt x="1078716" y="41667"/>
                    <a:pt x="1078716" y="56707"/>
                  </a:cubicBezTo>
                  <a:lnTo>
                    <a:pt x="1078716" y="164674"/>
                  </a:lnTo>
                  <a:cubicBezTo>
                    <a:pt x="1078716" y="179714"/>
                    <a:pt x="1072742" y="194138"/>
                    <a:pt x="1062107" y="204772"/>
                  </a:cubicBezTo>
                  <a:cubicBezTo>
                    <a:pt x="1051472" y="215407"/>
                    <a:pt x="1037049" y="221381"/>
                    <a:pt x="1022009" y="221381"/>
                  </a:cubicBezTo>
                  <a:lnTo>
                    <a:pt x="56707" y="221381"/>
                  </a:lnTo>
                  <a:cubicBezTo>
                    <a:pt x="25389" y="221381"/>
                    <a:pt x="0" y="195993"/>
                    <a:pt x="0" y="164674"/>
                  </a:cubicBezTo>
                  <a:lnTo>
                    <a:pt x="0" y="56707"/>
                  </a:lnTo>
                  <a:cubicBezTo>
                    <a:pt x="0" y="25389"/>
                    <a:pt x="25389" y="0"/>
                    <a:pt x="56707" y="0"/>
                  </a:cubicBezTo>
                  <a:close/>
                </a:path>
              </a:pathLst>
            </a:custGeom>
            <a:solidFill>
              <a:srgbClr val="FEEAE1"/>
            </a:solidFill>
          </p:spPr>
        </p:sp>
        <p:sp>
          <p:nvSpPr>
            <p:cNvPr name="TextBox 21" id="21"/>
            <p:cNvSpPr txBox="true"/>
            <p:nvPr/>
          </p:nvSpPr>
          <p:spPr>
            <a:xfrm>
              <a:off x="0" y="-38100"/>
              <a:ext cx="1078716" cy="259481"/>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5251450" y="2686783"/>
            <a:ext cx="4095750" cy="840557"/>
            <a:chOff x="0" y="0"/>
            <a:chExt cx="1078716" cy="221381"/>
          </a:xfrm>
        </p:grpSpPr>
        <p:sp>
          <p:nvSpPr>
            <p:cNvPr name="Freeform 23" id="23"/>
            <p:cNvSpPr/>
            <p:nvPr/>
          </p:nvSpPr>
          <p:spPr>
            <a:xfrm flipH="false" flipV="false" rot="0">
              <a:off x="0" y="0"/>
              <a:ext cx="1078716" cy="221381"/>
            </a:xfrm>
            <a:custGeom>
              <a:avLst/>
              <a:gdLst/>
              <a:ahLst/>
              <a:cxnLst/>
              <a:rect r="r" b="b" t="t" l="l"/>
              <a:pathLst>
                <a:path h="221381" w="1078716">
                  <a:moveTo>
                    <a:pt x="56707" y="0"/>
                  </a:moveTo>
                  <a:lnTo>
                    <a:pt x="1022009" y="0"/>
                  </a:lnTo>
                  <a:cubicBezTo>
                    <a:pt x="1037049" y="0"/>
                    <a:pt x="1051472" y="5974"/>
                    <a:pt x="1062107" y="16609"/>
                  </a:cubicBezTo>
                  <a:cubicBezTo>
                    <a:pt x="1072742" y="27244"/>
                    <a:pt x="1078716" y="41667"/>
                    <a:pt x="1078716" y="56707"/>
                  </a:cubicBezTo>
                  <a:lnTo>
                    <a:pt x="1078716" y="164674"/>
                  </a:lnTo>
                  <a:cubicBezTo>
                    <a:pt x="1078716" y="179714"/>
                    <a:pt x="1072742" y="194138"/>
                    <a:pt x="1062107" y="204772"/>
                  </a:cubicBezTo>
                  <a:cubicBezTo>
                    <a:pt x="1051472" y="215407"/>
                    <a:pt x="1037049" y="221381"/>
                    <a:pt x="1022009" y="221381"/>
                  </a:cubicBezTo>
                  <a:lnTo>
                    <a:pt x="56707" y="221381"/>
                  </a:lnTo>
                  <a:cubicBezTo>
                    <a:pt x="25389" y="221381"/>
                    <a:pt x="0" y="195993"/>
                    <a:pt x="0" y="164674"/>
                  </a:cubicBezTo>
                  <a:lnTo>
                    <a:pt x="0" y="56707"/>
                  </a:lnTo>
                  <a:cubicBezTo>
                    <a:pt x="0" y="25389"/>
                    <a:pt x="25389" y="0"/>
                    <a:pt x="56707" y="0"/>
                  </a:cubicBezTo>
                  <a:close/>
                </a:path>
              </a:pathLst>
            </a:custGeom>
            <a:solidFill>
              <a:srgbClr val="D9D7FE"/>
            </a:solidFill>
          </p:spPr>
        </p:sp>
        <p:sp>
          <p:nvSpPr>
            <p:cNvPr name="TextBox 24" id="24"/>
            <p:cNvSpPr txBox="true"/>
            <p:nvPr/>
          </p:nvSpPr>
          <p:spPr>
            <a:xfrm>
              <a:off x="0" y="-38100"/>
              <a:ext cx="1078716" cy="259481"/>
            </a:xfrm>
            <a:prstGeom prst="rect">
              <a:avLst/>
            </a:prstGeom>
          </p:spPr>
          <p:txBody>
            <a:bodyPr anchor="ctr" rtlCol="false" tIns="50800" lIns="50800" bIns="50800" rIns="50800"/>
            <a:lstStyle/>
            <a:p>
              <a:pPr algn="ctr">
                <a:lnSpc>
                  <a:spcPts val="2659"/>
                </a:lnSpc>
              </a:pPr>
            </a:p>
          </p:txBody>
        </p:sp>
      </p:grpSp>
      <p:grpSp>
        <p:nvGrpSpPr>
          <p:cNvPr name="Group 25" id="25"/>
          <p:cNvGrpSpPr/>
          <p:nvPr/>
        </p:nvGrpSpPr>
        <p:grpSpPr>
          <a:xfrm rot="0">
            <a:off x="9471025" y="2686783"/>
            <a:ext cx="4095750" cy="840557"/>
            <a:chOff x="0" y="0"/>
            <a:chExt cx="1078716" cy="221381"/>
          </a:xfrm>
        </p:grpSpPr>
        <p:sp>
          <p:nvSpPr>
            <p:cNvPr name="Freeform 26" id="26"/>
            <p:cNvSpPr/>
            <p:nvPr/>
          </p:nvSpPr>
          <p:spPr>
            <a:xfrm flipH="false" flipV="false" rot="0">
              <a:off x="0" y="0"/>
              <a:ext cx="1078716" cy="221381"/>
            </a:xfrm>
            <a:custGeom>
              <a:avLst/>
              <a:gdLst/>
              <a:ahLst/>
              <a:cxnLst/>
              <a:rect r="r" b="b" t="t" l="l"/>
              <a:pathLst>
                <a:path h="221381" w="1078716">
                  <a:moveTo>
                    <a:pt x="56707" y="0"/>
                  </a:moveTo>
                  <a:lnTo>
                    <a:pt x="1022009" y="0"/>
                  </a:lnTo>
                  <a:cubicBezTo>
                    <a:pt x="1037049" y="0"/>
                    <a:pt x="1051472" y="5974"/>
                    <a:pt x="1062107" y="16609"/>
                  </a:cubicBezTo>
                  <a:cubicBezTo>
                    <a:pt x="1072742" y="27244"/>
                    <a:pt x="1078716" y="41667"/>
                    <a:pt x="1078716" y="56707"/>
                  </a:cubicBezTo>
                  <a:lnTo>
                    <a:pt x="1078716" y="164674"/>
                  </a:lnTo>
                  <a:cubicBezTo>
                    <a:pt x="1078716" y="179714"/>
                    <a:pt x="1072742" y="194138"/>
                    <a:pt x="1062107" y="204772"/>
                  </a:cubicBezTo>
                  <a:cubicBezTo>
                    <a:pt x="1051472" y="215407"/>
                    <a:pt x="1037049" y="221381"/>
                    <a:pt x="1022009" y="221381"/>
                  </a:cubicBezTo>
                  <a:lnTo>
                    <a:pt x="56707" y="221381"/>
                  </a:lnTo>
                  <a:cubicBezTo>
                    <a:pt x="25389" y="221381"/>
                    <a:pt x="0" y="195993"/>
                    <a:pt x="0" y="164674"/>
                  </a:cubicBezTo>
                  <a:lnTo>
                    <a:pt x="0" y="56707"/>
                  </a:lnTo>
                  <a:cubicBezTo>
                    <a:pt x="0" y="25389"/>
                    <a:pt x="25389" y="0"/>
                    <a:pt x="56707" y="0"/>
                  </a:cubicBezTo>
                  <a:close/>
                </a:path>
              </a:pathLst>
            </a:custGeom>
            <a:solidFill>
              <a:srgbClr val="D9FD99"/>
            </a:solidFill>
          </p:spPr>
        </p:sp>
        <p:sp>
          <p:nvSpPr>
            <p:cNvPr name="TextBox 27" id="27"/>
            <p:cNvSpPr txBox="true"/>
            <p:nvPr/>
          </p:nvSpPr>
          <p:spPr>
            <a:xfrm>
              <a:off x="0" y="-38100"/>
              <a:ext cx="1078716" cy="259481"/>
            </a:xfrm>
            <a:prstGeom prst="rect">
              <a:avLst/>
            </a:prstGeom>
          </p:spPr>
          <p:txBody>
            <a:bodyPr anchor="ctr" rtlCol="false" tIns="50800" lIns="50800" bIns="50800" rIns="50800"/>
            <a:lstStyle/>
            <a:p>
              <a:pPr algn="ctr">
                <a:lnSpc>
                  <a:spcPts val="2659"/>
                </a:lnSpc>
              </a:pPr>
            </a:p>
          </p:txBody>
        </p:sp>
      </p:grpSp>
      <p:grpSp>
        <p:nvGrpSpPr>
          <p:cNvPr name="Group 28" id="28"/>
          <p:cNvGrpSpPr/>
          <p:nvPr/>
        </p:nvGrpSpPr>
        <p:grpSpPr>
          <a:xfrm rot="0">
            <a:off x="13690600" y="2686783"/>
            <a:ext cx="4095750" cy="840557"/>
            <a:chOff x="0" y="0"/>
            <a:chExt cx="1078716" cy="221381"/>
          </a:xfrm>
        </p:grpSpPr>
        <p:sp>
          <p:nvSpPr>
            <p:cNvPr name="Freeform 29" id="29"/>
            <p:cNvSpPr/>
            <p:nvPr/>
          </p:nvSpPr>
          <p:spPr>
            <a:xfrm flipH="false" flipV="false" rot="0">
              <a:off x="0" y="0"/>
              <a:ext cx="1078716" cy="221381"/>
            </a:xfrm>
            <a:custGeom>
              <a:avLst/>
              <a:gdLst/>
              <a:ahLst/>
              <a:cxnLst/>
              <a:rect r="r" b="b" t="t" l="l"/>
              <a:pathLst>
                <a:path h="221381" w="1078716">
                  <a:moveTo>
                    <a:pt x="56707" y="0"/>
                  </a:moveTo>
                  <a:lnTo>
                    <a:pt x="1022009" y="0"/>
                  </a:lnTo>
                  <a:cubicBezTo>
                    <a:pt x="1037049" y="0"/>
                    <a:pt x="1051472" y="5974"/>
                    <a:pt x="1062107" y="16609"/>
                  </a:cubicBezTo>
                  <a:cubicBezTo>
                    <a:pt x="1072742" y="27244"/>
                    <a:pt x="1078716" y="41667"/>
                    <a:pt x="1078716" y="56707"/>
                  </a:cubicBezTo>
                  <a:lnTo>
                    <a:pt x="1078716" y="164674"/>
                  </a:lnTo>
                  <a:cubicBezTo>
                    <a:pt x="1078716" y="179714"/>
                    <a:pt x="1072742" y="194138"/>
                    <a:pt x="1062107" y="204772"/>
                  </a:cubicBezTo>
                  <a:cubicBezTo>
                    <a:pt x="1051472" y="215407"/>
                    <a:pt x="1037049" y="221381"/>
                    <a:pt x="1022009" y="221381"/>
                  </a:cubicBezTo>
                  <a:lnTo>
                    <a:pt x="56707" y="221381"/>
                  </a:lnTo>
                  <a:cubicBezTo>
                    <a:pt x="25389" y="221381"/>
                    <a:pt x="0" y="195993"/>
                    <a:pt x="0" y="164674"/>
                  </a:cubicBezTo>
                  <a:lnTo>
                    <a:pt x="0" y="56707"/>
                  </a:lnTo>
                  <a:cubicBezTo>
                    <a:pt x="0" y="25389"/>
                    <a:pt x="25389" y="0"/>
                    <a:pt x="56707" y="0"/>
                  </a:cubicBezTo>
                  <a:close/>
                </a:path>
              </a:pathLst>
            </a:custGeom>
            <a:solidFill>
              <a:srgbClr val="DCE8FF"/>
            </a:solidFill>
          </p:spPr>
        </p:sp>
        <p:sp>
          <p:nvSpPr>
            <p:cNvPr name="TextBox 30" id="30"/>
            <p:cNvSpPr txBox="true"/>
            <p:nvPr/>
          </p:nvSpPr>
          <p:spPr>
            <a:xfrm>
              <a:off x="0" y="-38100"/>
              <a:ext cx="1078716" cy="259481"/>
            </a:xfrm>
            <a:prstGeom prst="rect">
              <a:avLst/>
            </a:prstGeom>
          </p:spPr>
          <p:txBody>
            <a:bodyPr anchor="ctr" rtlCol="false" tIns="50800" lIns="50800" bIns="50800" rIns="50800"/>
            <a:lstStyle/>
            <a:p>
              <a:pPr algn="ctr">
                <a:lnSpc>
                  <a:spcPts val="2659"/>
                </a:lnSpc>
              </a:pPr>
            </a:p>
          </p:txBody>
        </p:sp>
      </p:grpSp>
      <p:sp>
        <p:nvSpPr>
          <p:cNvPr name="Freeform 31" id="31"/>
          <p:cNvSpPr/>
          <p:nvPr/>
        </p:nvSpPr>
        <p:spPr>
          <a:xfrm flipH="false" flipV="false" rot="0">
            <a:off x="4669555" y="6759940"/>
            <a:ext cx="903440" cy="903440"/>
          </a:xfrm>
          <a:custGeom>
            <a:avLst/>
            <a:gdLst/>
            <a:ahLst/>
            <a:cxnLst/>
            <a:rect r="r" b="b" t="t" l="l"/>
            <a:pathLst>
              <a:path h="903440" w="903440">
                <a:moveTo>
                  <a:pt x="0" y="0"/>
                </a:moveTo>
                <a:lnTo>
                  <a:pt x="903440" y="0"/>
                </a:lnTo>
                <a:lnTo>
                  <a:pt x="903440" y="903440"/>
                </a:lnTo>
                <a:lnTo>
                  <a:pt x="0" y="9034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2" id="32"/>
          <p:cNvSpPr/>
          <p:nvPr/>
        </p:nvSpPr>
        <p:spPr>
          <a:xfrm flipH="false" flipV="false" rot="0">
            <a:off x="8892305" y="6759940"/>
            <a:ext cx="903440" cy="903440"/>
          </a:xfrm>
          <a:custGeom>
            <a:avLst/>
            <a:gdLst/>
            <a:ahLst/>
            <a:cxnLst/>
            <a:rect r="r" b="b" t="t" l="l"/>
            <a:pathLst>
              <a:path h="903440" w="903440">
                <a:moveTo>
                  <a:pt x="0" y="0"/>
                </a:moveTo>
                <a:lnTo>
                  <a:pt x="903440" y="0"/>
                </a:lnTo>
                <a:lnTo>
                  <a:pt x="903440" y="903440"/>
                </a:lnTo>
                <a:lnTo>
                  <a:pt x="0" y="9034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3" id="33"/>
          <p:cNvSpPr/>
          <p:nvPr/>
        </p:nvSpPr>
        <p:spPr>
          <a:xfrm flipH="false" flipV="false" rot="0">
            <a:off x="13115055" y="6759940"/>
            <a:ext cx="903440" cy="903440"/>
          </a:xfrm>
          <a:custGeom>
            <a:avLst/>
            <a:gdLst/>
            <a:ahLst/>
            <a:cxnLst/>
            <a:rect r="r" b="b" t="t" l="l"/>
            <a:pathLst>
              <a:path h="903440" w="903440">
                <a:moveTo>
                  <a:pt x="0" y="0"/>
                </a:moveTo>
                <a:lnTo>
                  <a:pt x="903440" y="0"/>
                </a:lnTo>
                <a:lnTo>
                  <a:pt x="903440" y="903440"/>
                </a:lnTo>
                <a:lnTo>
                  <a:pt x="0" y="9034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4" id="34"/>
          <p:cNvSpPr txBox="true"/>
          <p:nvPr/>
        </p:nvSpPr>
        <p:spPr>
          <a:xfrm rot="0">
            <a:off x="1356939" y="4027522"/>
            <a:ext cx="3408736" cy="3521075"/>
          </a:xfrm>
          <a:prstGeom prst="rect">
            <a:avLst/>
          </a:prstGeom>
        </p:spPr>
        <p:txBody>
          <a:bodyPr anchor="t" rtlCol="false" tIns="0" lIns="0" bIns="0" rIns="0">
            <a:spAutoFit/>
          </a:bodyPr>
          <a:lstStyle/>
          <a:p>
            <a:pPr algn="l">
              <a:lnSpc>
                <a:spcPts val="2799"/>
              </a:lnSpc>
              <a:spcBef>
                <a:spcPct val="0"/>
              </a:spcBef>
            </a:pPr>
            <a:r>
              <a:rPr lang="en-US" b="true" sz="1999">
                <a:solidFill>
                  <a:srgbClr val="052F25"/>
                </a:solidFill>
                <a:latin typeface="Cy Grotesk Wide Bold"/>
                <a:ea typeface="Cy Grotesk Wide Bold"/>
                <a:cs typeface="Cy Grotesk Wide Bold"/>
                <a:sym typeface="Cy Grotesk Wide Bold"/>
              </a:rPr>
              <a:t>Resilience and Load Management:</a:t>
            </a:r>
            <a:r>
              <a:rPr lang="en-US" sz="1999">
                <a:solidFill>
                  <a:srgbClr val="052F25"/>
                </a:solidFill>
                <a:latin typeface="Cy Grotesk Wide"/>
                <a:ea typeface="Cy Grotesk Wide"/>
                <a:cs typeface="Cy Grotesk Wide"/>
                <a:sym typeface="Cy Grotesk Wide"/>
              </a:rPr>
              <a:t> Implement load-balancing and failover mechanisms to handle peak times and unexpected surges, maintaining performance across all regions.</a:t>
            </a:r>
          </a:p>
        </p:txBody>
      </p:sp>
      <p:sp>
        <p:nvSpPr>
          <p:cNvPr name="TextBox 35" id="35"/>
          <p:cNvSpPr txBox="true"/>
          <p:nvPr/>
        </p:nvSpPr>
        <p:spPr>
          <a:xfrm rot="0">
            <a:off x="1480420" y="2965775"/>
            <a:ext cx="3192310" cy="406398"/>
          </a:xfrm>
          <a:prstGeom prst="rect">
            <a:avLst/>
          </a:prstGeom>
        </p:spPr>
        <p:txBody>
          <a:bodyPr anchor="t" rtlCol="false" tIns="0" lIns="0" bIns="0" rIns="0">
            <a:spAutoFit/>
          </a:bodyPr>
          <a:lstStyle/>
          <a:p>
            <a:pPr algn="ctr">
              <a:lnSpc>
                <a:spcPts val="2799"/>
              </a:lnSpc>
            </a:pPr>
            <a:r>
              <a:rPr lang="en-US" b="true" sz="3499">
                <a:solidFill>
                  <a:srgbClr val="052F25"/>
                </a:solidFill>
                <a:latin typeface="Cy Grotesk Wide Bold"/>
                <a:ea typeface="Cy Grotesk Wide Bold"/>
                <a:cs typeface="Cy Grotesk Wide Bold"/>
                <a:sym typeface="Cy Grotesk Wide Bold"/>
              </a:rPr>
              <a:t>Scalable</a:t>
            </a:r>
          </a:p>
        </p:txBody>
      </p:sp>
      <p:sp>
        <p:nvSpPr>
          <p:cNvPr name="TextBox 36" id="36"/>
          <p:cNvSpPr txBox="true"/>
          <p:nvPr/>
        </p:nvSpPr>
        <p:spPr>
          <a:xfrm rot="0">
            <a:off x="5703170" y="2965775"/>
            <a:ext cx="3192310" cy="406398"/>
          </a:xfrm>
          <a:prstGeom prst="rect">
            <a:avLst/>
          </a:prstGeom>
        </p:spPr>
        <p:txBody>
          <a:bodyPr anchor="t" rtlCol="false" tIns="0" lIns="0" bIns="0" rIns="0">
            <a:spAutoFit/>
          </a:bodyPr>
          <a:lstStyle/>
          <a:p>
            <a:pPr algn="ctr">
              <a:lnSpc>
                <a:spcPts val="2799"/>
              </a:lnSpc>
            </a:pPr>
            <a:r>
              <a:rPr lang="en-US" b="true" sz="3499">
                <a:solidFill>
                  <a:srgbClr val="052F25"/>
                </a:solidFill>
                <a:latin typeface="Cy Grotesk Wide Bold"/>
                <a:ea typeface="Cy Grotesk Wide Bold"/>
                <a:cs typeface="Cy Grotesk Wide Bold"/>
                <a:sym typeface="Cy Grotesk Wide Bold"/>
              </a:rPr>
              <a:t>Pricing</a:t>
            </a:r>
          </a:p>
        </p:txBody>
      </p:sp>
      <p:sp>
        <p:nvSpPr>
          <p:cNvPr name="TextBox 37" id="37"/>
          <p:cNvSpPr txBox="true"/>
          <p:nvPr/>
        </p:nvSpPr>
        <p:spPr>
          <a:xfrm rot="0">
            <a:off x="9928225" y="2965775"/>
            <a:ext cx="3192310" cy="406398"/>
          </a:xfrm>
          <a:prstGeom prst="rect">
            <a:avLst/>
          </a:prstGeom>
        </p:spPr>
        <p:txBody>
          <a:bodyPr anchor="t" rtlCol="false" tIns="0" lIns="0" bIns="0" rIns="0">
            <a:spAutoFit/>
          </a:bodyPr>
          <a:lstStyle/>
          <a:p>
            <a:pPr algn="ctr">
              <a:lnSpc>
                <a:spcPts val="2799"/>
              </a:lnSpc>
            </a:pPr>
            <a:r>
              <a:rPr lang="en-US" b="true" sz="3499">
                <a:solidFill>
                  <a:srgbClr val="052F25"/>
                </a:solidFill>
                <a:latin typeface="Cy Grotesk Wide Bold"/>
                <a:ea typeface="Cy Grotesk Wide Bold"/>
                <a:cs typeface="Cy Grotesk Wide Bold"/>
                <a:sym typeface="Cy Grotesk Wide Bold"/>
              </a:rPr>
              <a:t>Ethical AI</a:t>
            </a:r>
          </a:p>
        </p:txBody>
      </p:sp>
      <p:sp>
        <p:nvSpPr>
          <p:cNvPr name="TextBox 38" id="38"/>
          <p:cNvSpPr txBox="true"/>
          <p:nvPr/>
        </p:nvSpPr>
        <p:spPr>
          <a:xfrm rot="0">
            <a:off x="14142320" y="2965775"/>
            <a:ext cx="3192310" cy="406398"/>
          </a:xfrm>
          <a:prstGeom prst="rect">
            <a:avLst/>
          </a:prstGeom>
        </p:spPr>
        <p:txBody>
          <a:bodyPr anchor="t" rtlCol="false" tIns="0" lIns="0" bIns="0" rIns="0">
            <a:spAutoFit/>
          </a:bodyPr>
          <a:lstStyle/>
          <a:p>
            <a:pPr algn="ctr">
              <a:lnSpc>
                <a:spcPts val="2799"/>
              </a:lnSpc>
            </a:pPr>
            <a:r>
              <a:rPr lang="en-US" b="true" sz="3499">
                <a:solidFill>
                  <a:srgbClr val="052F25"/>
                </a:solidFill>
                <a:latin typeface="Cy Grotesk Wide Bold"/>
                <a:ea typeface="Cy Grotesk Wide Bold"/>
                <a:cs typeface="Cy Grotesk Wide Bold"/>
                <a:sym typeface="Cy Grotesk Wide Bold"/>
              </a:rPr>
              <a:t>Analytics</a:t>
            </a:r>
          </a:p>
        </p:txBody>
      </p:sp>
      <p:sp>
        <p:nvSpPr>
          <p:cNvPr name="TextBox 39" id="39"/>
          <p:cNvSpPr txBox="true"/>
          <p:nvPr/>
        </p:nvSpPr>
        <p:spPr>
          <a:xfrm rot="0">
            <a:off x="5594957" y="3883357"/>
            <a:ext cx="3390293" cy="4088289"/>
          </a:xfrm>
          <a:prstGeom prst="rect">
            <a:avLst/>
          </a:prstGeom>
        </p:spPr>
        <p:txBody>
          <a:bodyPr anchor="t" rtlCol="false" tIns="0" lIns="0" bIns="0" rIns="0">
            <a:spAutoFit/>
          </a:bodyPr>
          <a:lstStyle/>
          <a:p>
            <a:pPr algn="l">
              <a:lnSpc>
                <a:spcPts val="2511"/>
              </a:lnSpc>
              <a:spcBef>
                <a:spcPct val="0"/>
              </a:spcBef>
            </a:pPr>
            <a:r>
              <a:rPr lang="en-US" b="true" sz="1793">
                <a:solidFill>
                  <a:srgbClr val="052F25"/>
                </a:solidFill>
                <a:latin typeface="Cy Grotesk Wide Bold"/>
                <a:ea typeface="Cy Grotesk Wide Bold"/>
                <a:cs typeface="Cy Grotesk Wide Bold"/>
                <a:sym typeface="Cy Grotesk Wide Bold"/>
              </a:rPr>
              <a:t>Tiered Pricing to Fit U.S. Business Segments:</a:t>
            </a:r>
            <a:r>
              <a:rPr lang="en-US" sz="1793">
                <a:solidFill>
                  <a:srgbClr val="052F25"/>
                </a:solidFill>
                <a:latin typeface="Cy Grotesk Wide"/>
                <a:ea typeface="Cy Grotesk Wide"/>
                <a:cs typeface="Cy Grotesk Wide"/>
                <a:sym typeface="Cy Grotesk Wide"/>
              </a:rPr>
              <a:t> Develop pricing plans based on U.S. business needs, with tiered options for small, medium, and large enterprises. Include value-added features (e.g., advanced analytics, sentiment analysis) in premium tiers to justify higher pricing.</a:t>
            </a:r>
          </a:p>
        </p:txBody>
      </p:sp>
      <p:sp>
        <p:nvSpPr>
          <p:cNvPr name="TextBox 40" id="40"/>
          <p:cNvSpPr txBox="true"/>
          <p:nvPr/>
        </p:nvSpPr>
        <p:spPr>
          <a:xfrm rot="0">
            <a:off x="9814795" y="3766774"/>
            <a:ext cx="3518881" cy="3990138"/>
          </a:xfrm>
          <a:prstGeom prst="rect">
            <a:avLst/>
          </a:prstGeom>
        </p:spPr>
        <p:txBody>
          <a:bodyPr anchor="t" rtlCol="false" tIns="0" lIns="0" bIns="0" rIns="0">
            <a:spAutoFit/>
          </a:bodyPr>
          <a:lstStyle/>
          <a:p>
            <a:pPr algn="l">
              <a:lnSpc>
                <a:spcPts val="2671"/>
              </a:lnSpc>
              <a:spcBef>
                <a:spcPct val="0"/>
              </a:spcBef>
            </a:pPr>
            <a:r>
              <a:rPr lang="en-US" b="true" sz="1907">
                <a:solidFill>
                  <a:srgbClr val="052F25"/>
                </a:solidFill>
                <a:latin typeface="Cy Grotesk Wide Bold"/>
                <a:ea typeface="Cy Grotesk Wide Bold"/>
                <a:cs typeface="Cy Grotesk Wide Bold"/>
                <a:sym typeface="Cy Grotesk Wide Bold"/>
              </a:rPr>
              <a:t>Transparent Data Use and AI Ethics:</a:t>
            </a:r>
            <a:r>
              <a:rPr lang="en-US" sz="1907">
                <a:solidFill>
                  <a:srgbClr val="052F25"/>
                </a:solidFill>
                <a:latin typeface="Cy Grotesk Wide"/>
                <a:ea typeface="Cy Grotesk Wide"/>
                <a:cs typeface="Cy Grotesk Wide"/>
                <a:sym typeface="Cy Grotesk Wide"/>
              </a:rPr>
              <a:t> Emphasize transparency in data usage, AI ethics, and privacy to align with U.S. consumer expectations for ethical AI. Highlight these features in marketing to build trust, especially as data privacy concerns grow.</a:t>
            </a:r>
          </a:p>
        </p:txBody>
      </p:sp>
      <p:sp>
        <p:nvSpPr>
          <p:cNvPr name="TextBox 41" id="41"/>
          <p:cNvSpPr txBox="true"/>
          <p:nvPr/>
        </p:nvSpPr>
        <p:spPr>
          <a:xfrm rot="0">
            <a:off x="14046635" y="3788127"/>
            <a:ext cx="3383680" cy="3999865"/>
          </a:xfrm>
          <a:prstGeom prst="rect">
            <a:avLst/>
          </a:prstGeom>
        </p:spPr>
        <p:txBody>
          <a:bodyPr anchor="t" rtlCol="false" tIns="0" lIns="0" bIns="0" rIns="0">
            <a:spAutoFit/>
          </a:bodyPr>
          <a:lstStyle/>
          <a:p>
            <a:pPr algn="l">
              <a:lnSpc>
                <a:spcPts val="2659"/>
              </a:lnSpc>
              <a:spcBef>
                <a:spcPct val="0"/>
              </a:spcBef>
            </a:pPr>
            <a:r>
              <a:rPr lang="en-US" b="true" sz="1899">
                <a:solidFill>
                  <a:srgbClr val="052F25"/>
                </a:solidFill>
                <a:latin typeface="Cy Grotesk Wide Bold"/>
                <a:ea typeface="Cy Grotesk Wide Bold"/>
                <a:cs typeface="Cy Grotesk Wide Bold"/>
                <a:sym typeface="Cy Grotesk Wide Bold"/>
              </a:rPr>
              <a:t>Real-Time Performance Metrics:</a:t>
            </a:r>
            <a:r>
              <a:rPr lang="en-US" sz="1899">
                <a:solidFill>
                  <a:srgbClr val="052F25"/>
                </a:solidFill>
                <a:latin typeface="Cy Grotesk Wide"/>
                <a:ea typeface="Cy Grotesk Wide"/>
                <a:cs typeface="Cy Grotesk Wide"/>
                <a:sym typeface="Cy Grotesk Wide"/>
              </a:rPr>
              <a:t> Offer metrics tailored to U.S. retail cycles and customer preferences, such as customer satisfaction, response times, and query trends, enabling businesses to respond rapidly to market changes.</a:t>
            </a:r>
          </a:p>
        </p:txBody>
      </p:sp>
      <p:grpSp>
        <p:nvGrpSpPr>
          <p:cNvPr name="Group 42" id="42"/>
          <p:cNvGrpSpPr/>
          <p:nvPr/>
        </p:nvGrpSpPr>
        <p:grpSpPr>
          <a:xfrm rot="0">
            <a:off x="0" y="9555697"/>
            <a:ext cx="4099091" cy="731303"/>
            <a:chOff x="0" y="0"/>
            <a:chExt cx="5465455" cy="975071"/>
          </a:xfrm>
        </p:grpSpPr>
        <p:grpSp>
          <p:nvGrpSpPr>
            <p:cNvPr name="Group 43" id="43"/>
            <p:cNvGrpSpPr/>
            <p:nvPr/>
          </p:nvGrpSpPr>
          <p:grpSpPr>
            <a:xfrm rot="0">
              <a:off x="0" y="0"/>
              <a:ext cx="975071" cy="975071"/>
              <a:chOff x="0" y="0"/>
              <a:chExt cx="812800" cy="812800"/>
            </a:xfrm>
          </p:grpSpPr>
          <p:sp>
            <p:nvSpPr>
              <p:cNvPr name="Freeform 44" id="4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0" t="-446" r="0" b="0"/>
                </a:stretch>
              </a:blipFill>
            </p:spPr>
          </p:sp>
        </p:grpSp>
        <p:sp>
          <p:nvSpPr>
            <p:cNvPr name="TextBox 45" id="45"/>
            <p:cNvSpPr txBox="true"/>
            <p:nvPr/>
          </p:nvSpPr>
          <p:spPr>
            <a:xfrm rot="0">
              <a:off x="1141360" y="48747"/>
              <a:ext cx="2860498" cy="925689"/>
            </a:xfrm>
            <a:prstGeom prst="rect">
              <a:avLst/>
            </a:prstGeom>
          </p:spPr>
          <p:txBody>
            <a:bodyPr anchor="t" rtlCol="false" tIns="0" lIns="0" bIns="0" rIns="0">
              <a:spAutoFit/>
            </a:bodyPr>
            <a:lstStyle/>
            <a:p>
              <a:pPr algn="l">
                <a:lnSpc>
                  <a:spcPts val="5594"/>
                </a:lnSpc>
                <a:spcBef>
                  <a:spcPct val="0"/>
                </a:spcBef>
              </a:pPr>
              <a:r>
                <a:rPr lang="en-US" b="true" sz="3996">
                  <a:solidFill>
                    <a:srgbClr val="FFFFFF"/>
                  </a:solidFill>
                  <a:latin typeface="Poppins Bold"/>
                  <a:ea typeface="Poppins Bold"/>
                  <a:cs typeface="Poppins Bold"/>
                  <a:sym typeface="Poppins Bold"/>
                </a:rPr>
                <a:t>No</a:t>
              </a:r>
            </a:p>
          </p:txBody>
        </p:sp>
        <p:sp>
          <p:nvSpPr>
            <p:cNvPr name="TextBox 46" id="46"/>
            <p:cNvSpPr txBox="true"/>
            <p:nvPr/>
          </p:nvSpPr>
          <p:spPr>
            <a:xfrm rot="0">
              <a:off x="2184479" y="48747"/>
              <a:ext cx="3280976" cy="925689"/>
            </a:xfrm>
            <a:prstGeom prst="rect">
              <a:avLst/>
            </a:prstGeom>
          </p:spPr>
          <p:txBody>
            <a:bodyPr anchor="t" rtlCol="false" tIns="0" lIns="0" bIns="0" rIns="0">
              <a:spAutoFit/>
            </a:bodyPr>
            <a:lstStyle/>
            <a:p>
              <a:pPr algn="l">
                <a:lnSpc>
                  <a:spcPts val="5594"/>
                </a:lnSpc>
                <a:spcBef>
                  <a:spcPct val="0"/>
                </a:spcBef>
              </a:pPr>
              <a:r>
                <a:rPr lang="en-US" b="true" sz="3996">
                  <a:solidFill>
                    <a:srgbClr val="FFFFFF"/>
                  </a:solidFill>
                  <a:latin typeface="Poppins Semi-Bold"/>
                  <a:ea typeface="Poppins Semi-Bold"/>
                  <a:cs typeface="Poppins Semi-Bold"/>
                  <a:sym typeface="Poppins Semi-Bold"/>
                </a:rPr>
                <a:t>Parking</a:t>
              </a:r>
            </a:p>
          </p:txBody>
        </p:sp>
      </p:grpSp>
      <p:sp>
        <p:nvSpPr>
          <p:cNvPr name="TextBox 47" id="4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22</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443880"/>
        </a:solidFill>
      </p:bgPr>
    </p:bg>
    <p:spTree>
      <p:nvGrpSpPr>
        <p:cNvPr id="1" name=""/>
        <p:cNvGrpSpPr/>
        <p:nvPr/>
      </p:nvGrpSpPr>
      <p:grpSpPr>
        <a:xfrm>
          <a:off x="0" y="0"/>
          <a:ext cx="0" cy="0"/>
          <a:chOff x="0" y="0"/>
          <a:chExt cx="0" cy="0"/>
        </a:xfrm>
      </p:grpSpPr>
      <p:grpSp>
        <p:nvGrpSpPr>
          <p:cNvPr name="Group 2" id="2"/>
          <p:cNvGrpSpPr/>
          <p:nvPr/>
        </p:nvGrpSpPr>
        <p:grpSpPr>
          <a:xfrm rot="0">
            <a:off x="-239920" y="7611555"/>
            <a:ext cx="19633980" cy="5857009"/>
            <a:chOff x="0" y="0"/>
            <a:chExt cx="5171089" cy="1542587"/>
          </a:xfrm>
        </p:grpSpPr>
        <p:sp>
          <p:nvSpPr>
            <p:cNvPr name="Freeform 3" id="3"/>
            <p:cNvSpPr/>
            <p:nvPr/>
          </p:nvSpPr>
          <p:spPr>
            <a:xfrm flipH="false" flipV="false" rot="0">
              <a:off x="0" y="0"/>
              <a:ext cx="5171089" cy="1542587"/>
            </a:xfrm>
            <a:custGeom>
              <a:avLst/>
              <a:gdLst/>
              <a:ahLst/>
              <a:cxnLst/>
              <a:rect r="r" b="b" t="t" l="l"/>
              <a:pathLst>
                <a:path h="1542587" w="5171089">
                  <a:moveTo>
                    <a:pt x="0" y="0"/>
                  </a:moveTo>
                  <a:lnTo>
                    <a:pt x="5171089" y="0"/>
                  </a:lnTo>
                  <a:lnTo>
                    <a:pt x="5171089" y="1542587"/>
                  </a:lnTo>
                  <a:lnTo>
                    <a:pt x="0" y="1542587"/>
                  </a:lnTo>
                  <a:close/>
                </a:path>
              </a:pathLst>
            </a:custGeom>
            <a:solidFill>
              <a:srgbClr val="DCD7F1"/>
            </a:solidFill>
          </p:spPr>
        </p:sp>
        <p:sp>
          <p:nvSpPr>
            <p:cNvPr name="TextBox 4" id="4"/>
            <p:cNvSpPr txBox="true"/>
            <p:nvPr/>
          </p:nvSpPr>
          <p:spPr>
            <a:xfrm>
              <a:off x="0" y="-38100"/>
              <a:ext cx="5171089" cy="1580687"/>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5937207" y="5143500"/>
            <a:ext cx="1669058" cy="3671927"/>
          </a:xfrm>
          <a:custGeom>
            <a:avLst/>
            <a:gdLst/>
            <a:ahLst/>
            <a:cxnLst/>
            <a:rect r="r" b="b" t="t" l="l"/>
            <a:pathLst>
              <a:path h="3671927" w="1669058">
                <a:moveTo>
                  <a:pt x="0" y="0"/>
                </a:moveTo>
                <a:lnTo>
                  <a:pt x="1669058" y="0"/>
                </a:lnTo>
                <a:lnTo>
                  <a:pt x="1669058" y="3671927"/>
                </a:lnTo>
                <a:lnTo>
                  <a:pt x="0" y="36719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643715" y="6280811"/>
            <a:ext cx="7315200" cy="3777303"/>
          </a:xfrm>
          <a:custGeom>
            <a:avLst/>
            <a:gdLst/>
            <a:ahLst/>
            <a:cxnLst/>
            <a:rect r="r" b="b" t="t" l="l"/>
            <a:pathLst>
              <a:path h="3777303" w="7315200">
                <a:moveTo>
                  <a:pt x="0" y="0"/>
                </a:moveTo>
                <a:lnTo>
                  <a:pt x="7315200" y="0"/>
                </a:lnTo>
                <a:lnTo>
                  <a:pt x="7315200" y="3777303"/>
                </a:lnTo>
                <a:lnTo>
                  <a:pt x="0" y="377730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251890" y="5143500"/>
            <a:ext cx="776810" cy="1547992"/>
          </a:xfrm>
          <a:custGeom>
            <a:avLst/>
            <a:gdLst/>
            <a:ahLst/>
            <a:cxnLst/>
            <a:rect r="r" b="b" t="t" l="l"/>
            <a:pathLst>
              <a:path h="1547992" w="776810">
                <a:moveTo>
                  <a:pt x="0" y="0"/>
                </a:moveTo>
                <a:lnTo>
                  <a:pt x="776810" y="0"/>
                </a:lnTo>
                <a:lnTo>
                  <a:pt x="776810" y="1547992"/>
                </a:lnTo>
                <a:lnTo>
                  <a:pt x="0" y="154799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6771736" y="-127297"/>
            <a:ext cx="1588156" cy="1660619"/>
          </a:xfrm>
          <a:custGeom>
            <a:avLst/>
            <a:gdLst/>
            <a:ahLst/>
            <a:cxnLst/>
            <a:rect r="r" b="b" t="t" l="l"/>
            <a:pathLst>
              <a:path h="1660619" w="1588156">
                <a:moveTo>
                  <a:pt x="0" y="0"/>
                </a:moveTo>
                <a:lnTo>
                  <a:pt x="1588156" y="0"/>
                </a:lnTo>
                <a:lnTo>
                  <a:pt x="1588156" y="1660619"/>
                </a:lnTo>
                <a:lnTo>
                  <a:pt x="0" y="166061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9" id="9"/>
          <p:cNvSpPr txBox="true"/>
          <p:nvPr/>
        </p:nvSpPr>
        <p:spPr>
          <a:xfrm rot="0">
            <a:off x="5106737" y="3577922"/>
            <a:ext cx="8074527" cy="1276177"/>
          </a:xfrm>
          <a:prstGeom prst="rect">
            <a:avLst/>
          </a:prstGeom>
        </p:spPr>
        <p:txBody>
          <a:bodyPr anchor="t" rtlCol="false" tIns="0" lIns="0" bIns="0" rIns="0">
            <a:spAutoFit/>
          </a:bodyPr>
          <a:lstStyle/>
          <a:p>
            <a:pPr algn="ctr">
              <a:lnSpc>
                <a:spcPts val="9075"/>
              </a:lnSpc>
            </a:pPr>
            <a:r>
              <a:rPr lang="en-US" b="true" sz="8561">
                <a:solidFill>
                  <a:srgbClr val="FFFFFF"/>
                </a:solidFill>
                <a:latin typeface="Poppins Semi-Bold"/>
                <a:ea typeface="Poppins Semi-Bold"/>
                <a:cs typeface="Poppins Semi-Bold"/>
                <a:sym typeface="Poppins Semi-Bold"/>
              </a:rPr>
              <a:t>Thank You!</a:t>
            </a:r>
          </a:p>
        </p:txBody>
      </p:sp>
      <p:sp>
        <p:nvSpPr>
          <p:cNvPr name="Freeform 10" id="10"/>
          <p:cNvSpPr/>
          <p:nvPr/>
        </p:nvSpPr>
        <p:spPr>
          <a:xfrm flipH="false" flipV="false" rot="0">
            <a:off x="-5047904" y="-7123963"/>
            <a:ext cx="12911838" cy="12648221"/>
          </a:xfrm>
          <a:custGeom>
            <a:avLst/>
            <a:gdLst/>
            <a:ahLst/>
            <a:cxnLst/>
            <a:rect r="r" b="b" t="t" l="l"/>
            <a:pathLst>
              <a:path h="12648221" w="12911838">
                <a:moveTo>
                  <a:pt x="0" y="0"/>
                </a:moveTo>
                <a:lnTo>
                  <a:pt x="12911838" y="0"/>
                </a:lnTo>
                <a:lnTo>
                  <a:pt x="12911838" y="12648221"/>
                </a:lnTo>
                <a:lnTo>
                  <a:pt x="0" y="12648221"/>
                </a:lnTo>
                <a:lnTo>
                  <a:pt x="0" y="0"/>
                </a:lnTo>
                <a:close/>
              </a:path>
            </a:pathLst>
          </a:custGeom>
          <a:blipFill>
            <a:blip r:embed="rId10">
              <a:alphaModFix amt="18999"/>
            </a:blip>
            <a:stretch>
              <a:fillRect l="0" t="0" r="0" b="0"/>
            </a:stretch>
          </a:blipFill>
        </p:spPr>
      </p:sp>
      <p:sp>
        <p:nvSpPr>
          <p:cNvPr name="TextBox 11" id="11"/>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DAGVROMi6z8</dc:identifier>
  <dcterms:modified xsi:type="dcterms:W3CDTF">2011-08-01T06:04:30Z</dcterms:modified>
  <cp:revision>1</cp:revision>
  <dc:title>No_Parking_TPB</dc:title>
</cp:coreProperties>
</file>