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nton" pitchFamily="2" charset="0"/>
      <p:regular r:id="rId15"/>
    </p:embeddedFont>
    <p:embeddedFont>
      <p:font typeface="IBM Plex Sans" panose="020B0503050203000203" pitchFamily="34" charset="0"/>
      <p:regular r:id="rId16"/>
    </p:embeddedFont>
    <p:embeddedFont>
      <p:font typeface="IBM Plex Sans Bold" panose="020B0604020202020204" charset="0"/>
      <p:regular r:id="rId17"/>
    </p:embeddedFont>
    <p:embeddedFont>
      <p:font typeface="Montserrat Bold" panose="020B0604020202020204" charset="0"/>
      <p:regular r:id="rId18"/>
    </p:embeddedFont>
    <p:embeddedFont>
      <p:font typeface="Open Sans" panose="020B0606030504020204" pitchFamily="34" charset="0"/>
      <p:regular r:id="rId19"/>
    </p:embeddedFont>
    <p:embeddedFont>
      <p:font typeface="Open Sans Bold" panose="020B0604020202020204" charset="0"/>
      <p:regular r:id="rId20"/>
    </p:embeddedFont>
    <p:embeddedFont>
      <p:font typeface="Open Sans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312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hericalinsights.com/reports/airlines-market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globenewswire.com/news-release/2025/03/07/3038782/28124/en/AI-in-Customer-Service-Market-Report-2025-2030-Case-Studies-Emerging-Trends-Leading-Strategies-of-Microsoft-IBM-Google-AWS-Salesforce-More.html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0237" y="5063109"/>
            <a:ext cx="5684534" cy="1081184"/>
            <a:chOff x="0" y="0"/>
            <a:chExt cx="2136727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6727" cy="406400"/>
            </a:xfrm>
            <a:custGeom>
              <a:avLst/>
              <a:gdLst/>
              <a:ahLst/>
              <a:cxnLst/>
              <a:rect l="l" t="t" r="r" b="b"/>
              <a:pathLst>
                <a:path w="2136727" h="406400">
                  <a:moveTo>
                    <a:pt x="193352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933527" y="406400"/>
                  </a:lnTo>
                  <a:lnTo>
                    <a:pt x="2136727" y="203200"/>
                  </a:lnTo>
                  <a:lnTo>
                    <a:pt x="1933527" y="0"/>
                  </a:lnTo>
                  <a:close/>
                </a:path>
              </a:pathLst>
            </a:custGeom>
            <a:solidFill>
              <a:srgbClr val="458CC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22427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61429" y="2146367"/>
            <a:ext cx="7858916" cy="2802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99"/>
              </a:lnSpc>
            </a:pPr>
            <a:r>
              <a:rPr lang="en-US" sz="16428">
                <a:solidFill>
                  <a:srgbClr val="458CC8"/>
                </a:solidFill>
                <a:latin typeface="Anton"/>
                <a:ea typeface="Anton"/>
                <a:cs typeface="Anton"/>
                <a:sym typeface="Anton"/>
              </a:rPr>
              <a:t>SkySolve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9921" y="5116831"/>
            <a:ext cx="4825166" cy="133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0"/>
              </a:lnSpc>
            </a:pPr>
            <a:r>
              <a:rPr lang="en-US" sz="2522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SMARTER CONVERSATIONS. HAPPIER TRAVELERS</a:t>
            </a:r>
          </a:p>
          <a:p>
            <a:pPr algn="l">
              <a:lnSpc>
                <a:spcPts val="3530"/>
              </a:lnSpc>
            </a:pPr>
            <a:endParaRPr lang="en-US" sz="2522" i="1">
              <a:solidFill>
                <a:srgbClr val="FFFFFF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8272180" y="10255570"/>
            <a:ext cx="15820" cy="31430"/>
          </a:xfrm>
          <a:custGeom>
            <a:avLst/>
            <a:gdLst/>
            <a:ahLst/>
            <a:cxnLst/>
            <a:rect l="l" t="t" r="r" b="b"/>
            <a:pathLst>
              <a:path w="15820" h="31430">
                <a:moveTo>
                  <a:pt x="0" y="0"/>
                </a:moveTo>
                <a:lnTo>
                  <a:pt x="15820" y="0"/>
                </a:lnTo>
                <a:lnTo>
                  <a:pt x="15820" y="31430"/>
                </a:lnTo>
                <a:lnTo>
                  <a:pt x="0" y="31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836135" y="473228"/>
            <a:ext cx="11970327" cy="10287000"/>
            <a:chOff x="0" y="0"/>
            <a:chExt cx="812800" cy="698500"/>
          </a:xfrm>
        </p:grpSpPr>
        <p:sp>
          <p:nvSpPr>
            <p:cNvPr id="9" name="Freeform 9"/>
            <p:cNvSpPr/>
            <p:nvPr/>
          </p:nvSpPr>
          <p:spPr>
            <a:xfrm>
              <a:off x="6458" y="0"/>
              <a:ext cx="799884" cy="698500"/>
            </a:xfrm>
            <a:custGeom>
              <a:avLst/>
              <a:gdLst/>
              <a:ahLst/>
              <a:cxnLst/>
              <a:rect l="l" t="t" r="r" b="b"/>
              <a:pathLst>
                <a:path w="799884" h="698500">
                  <a:moveTo>
                    <a:pt x="789429" y="378319"/>
                  </a:moveTo>
                  <a:lnTo>
                    <a:pt x="620055" y="669431"/>
                  </a:lnTo>
                  <a:cubicBezTo>
                    <a:pt x="609584" y="687428"/>
                    <a:pt x="590333" y="698500"/>
                    <a:pt x="569511" y="698500"/>
                  </a:cubicBezTo>
                  <a:lnTo>
                    <a:pt x="230373" y="698500"/>
                  </a:lnTo>
                  <a:cubicBezTo>
                    <a:pt x="209552" y="698500"/>
                    <a:pt x="190300" y="687428"/>
                    <a:pt x="179829" y="669431"/>
                  </a:cubicBezTo>
                  <a:lnTo>
                    <a:pt x="10455" y="378319"/>
                  </a:lnTo>
                  <a:cubicBezTo>
                    <a:pt x="0" y="360350"/>
                    <a:pt x="0" y="338150"/>
                    <a:pt x="10455" y="320181"/>
                  </a:cubicBezTo>
                  <a:lnTo>
                    <a:pt x="179829" y="29069"/>
                  </a:lnTo>
                  <a:cubicBezTo>
                    <a:pt x="190300" y="11072"/>
                    <a:pt x="209552" y="0"/>
                    <a:pt x="230373" y="0"/>
                  </a:cubicBezTo>
                  <a:lnTo>
                    <a:pt x="569511" y="0"/>
                  </a:lnTo>
                  <a:cubicBezTo>
                    <a:pt x="590333" y="0"/>
                    <a:pt x="609584" y="11072"/>
                    <a:pt x="620055" y="29069"/>
                  </a:cubicBezTo>
                  <a:lnTo>
                    <a:pt x="789429" y="320181"/>
                  </a:lnTo>
                  <a:cubicBezTo>
                    <a:pt x="799884" y="338150"/>
                    <a:pt x="799884" y="360350"/>
                    <a:pt x="789429" y="378319"/>
                  </a:cubicBezTo>
                  <a:close/>
                </a:path>
              </a:pathLst>
            </a:custGeom>
            <a:gradFill rotWithShape="1">
              <a:gsLst>
                <a:gs pos="0">
                  <a:srgbClr val="2841C7">
                    <a:alpha val="100000"/>
                  </a:srgbClr>
                </a:gs>
                <a:gs pos="100000">
                  <a:srgbClr val="4EE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95973" y="0"/>
            <a:ext cx="14949618" cy="10287000"/>
            <a:chOff x="0" y="0"/>
            <a:chExt cx="1015097" cy="698500"/>
          </a:xfrm>
        </p:grpSpPr>
        <p:sp>
          <p:nvSpPr>
            <p:cNvPr id="12" name="Freeform 12"/>
            <p:cNvSpPr/>
            <p:nvPr/>
          </p:nvSpPr>
          <p:spPr>
            <a:xfrm>
              <a:off x="5370" y="0"/>
              <a:ext cx="1004358" cy="698500"/>
            </a:xfrm>
            <a:custGeom>
              <a:avLst/>
              <a:gdLst/>
              <a:ahLst/>
              <a:cxnLst/>
              <a:rect l="l" t="t" r="r" b="b"/>
              <a:pathLst>
                <a:path w="1004358" h="698500">
                  <a:moveTo>
                    <a:pt x="995664" y="373421"/>
                  </a:moveTo>
                  <a:lnTo>
                    <a:pt x="820591" y="674329"/>
                  </a:lnTo>
                  <a:cubicBezTo>
                    <a:pt x="811884" y="689294"/>
                    <a:pt x="795876" y="698500"/>
                    <a:pt x="778563" y="698500"/>
                  </a:cubicBezTo>
                  <a:lnTo>
                    <a:pt x="225795" y="698500"/>
                  </a:lnTo>
                  <a:cubicBezTo>
                    <a:pt x="208481" y="698500"/>
                    <a:pt x="192474" y="689294"/>
                    <a:pt x="183767" y="674329"/>
                  </a:cubicBezTo>
                  <a:lnTo>
                    <a:pt x="8693" y="373421"/>
                  </a:lnTo>
                  <a:cubicBezTo>
                    <a:pt x="0" y="358480"/>
                    <a:pt x="0" y="340020"/>
                    <a:pt x="8693" y="325079"/>
                  </a:cubicBezTo>
                  <a:lnTo>
                    <a:pt x="183767" y="24171"/>
                  </a:lnTo>
                  <a:cubicBezTo>
                    <a:pt x="192474" y="9206"/>
                    <a:pt x="208481" y="0"/>
                    <a:pt x="225795" y="0"/>
                  </a:cubicBezTo>
                  <a:lnTo>
                    <a:pt x="778563" y="0"/>
                  </a:lnTo>
                  <a:cubicBezTo>
                    <a:pt x="795876" y="0"/>
                    <a:pt x="811884" y="9206"/>
                    <a:pt x="820591" y="24171"/>
                  </a:cubicBezTo>
                  <a:lnTo>
                    <a:pt x="995664" y="325079"/>
                  </a:lnTo>
                  <a:cubicBezTo>
                    <a:pt x="1004358" y="340020"/>
                    <a:pt x="1004358" y="358480"/>
                    <a:pt x="995664" y="373421"/>
                  </a:cubicBezTo>
                  <a:close/>
                </a:path>
              </a:pathLst>
            </a:custGeom>
            <a:blipFill>
              <a:blip r:embed="rId4"/>
              <a:stretch>
                <a:fillRect l="-2386" r="-238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5990065" y="1220721"/>
            <a:ext cx="7686726" cy="4102790"/>
          </a:xfrm>
          <a:custGeom>
            <a:avLst/>
            <a:gdLst/>
            <a:ahLst/>
            <a:cxnLst/>
            <a:rect l="l" t="t" r="r" b="b"/>
            <a:pathLst>
              <a:path w="7686726" h="4102790">
                <a:moveTo>
                  <a:pt x="0" y="0"/>
                </a:moveTo>
                <a:lnTo>
                  <a:pt x="7686726" y="0"/>
                </a:lnTo>
                <a:lnTo>
                  <a:pt x="7686726" y="4102789"/>
                </a:lnTo>
                <a:lnTo>
                  <a:pt x="0" y="41027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6395087" y="5707661"/>
            <a:ext cx="7686726" cy="4102790"/>
          </a:xfrm>
          <a:custGeom>
            <a:avLst/>
            <a:gdLst/>
            <a:ahLst/>
            <a:cxnLst/>
            <a:rect l="l" t="t" r="r" b="b"/>
            <a:pathLst>
              <a:path w="7686726" h="4102790">
                <a:moveTo>
                  <a:pt x="7686726" y="0"/>
                </a:moveTo>
                <a:lnTo>
                  <a:pt x="0" y="0"/>
                </a:lnTo>
                <a:lnTo>
                  <a:pt x="0" y="4102790"/>
                </a:lnTo>
                <a:lnTo>
                  <a:pt x="7686726" y="4102790"/>
                </a:lnTo>
                <a:lnTo>
                  <a:pt x="768672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291449">
            <a:off x="8435031" y="2612884"/>
            <a:ext cx="15871501" cy="7062818"/>
          </a:xfrm>
          <a:custGeom>
            <a:avLst/>
            <a:gdLst/>
            <a:ahLst/>
            <a:cxnLst/>
            <a:rect l="l" t="t" r="r" b="b"/>
            <a:pathLst>
              <a:path w="15871501" h="7062818">
                <a:moveTo>
                  <a:pt x="0" y="0"/>
                </a:moveTo>
                <a:lnTo>
                  <a:pt x="15871501" y="0"/>
                </a:lnTo>
                <a:lnTo>
                  <a:pt x="15871501" y="7062818"/>
                </a:lnTo>
                <a:lnTo>
                  <a:pt x="0" y="70628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2789049">
            <a:off x="6640670" y="5304157"/>
            <a:ext cx="627495" cy="625142"/>
          </a:xfrm>
          <a:custGeom>
            <a:avLst/>
            <a:gdLst/>
            <a:ahLst/>
            <a:cxnLst/>
            <a:rect l="l" t="t" r="r" b="b"/>
            <a:pathLst>
              <a:path w="627495" h="625142">
                <a:moveTo>
                  <a:pt x="0" y="0"/>
                </a:moveTo>
                <a:lnTo>
                  <a:pt x="627495" y="0"/>
                </a:lnTo>
                <a:lnTo>
                  <a:pt x="627495" y="625141"/>
                </a:lnTo>
                <a:lnTo>
                  <a:pt x="0" y="625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140237" y="6759475"/>
            <a:ext cx="6362523" cy="203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0"/>
              </a:lnSpc>
            </a:pPr>
            <a:r>
              <a:rPr lang="en-US" sz="3864" i="1">
                <a:solidFill>
                  <a:srgbClr val="458CC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Transforming Airline Customer Service with AI</a:t>
            </a:r>
          </a:p>
          <a:p>
            <a:pPr marL="0" lvl="0" indent="0" algn="l">
              <a:lnSpc>
                <a:spcPts val="5410"/>
              </a:lnSpc>
              <a:spcBef>
                <a:spcPct val="0"/>
              </a:spcBef>
            </a:pPr>
            <a:endParaRPr lang="en-US" sz="3864" i="1">
              <a:solidFill>
                <a:srgbClr val="458CC8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40237" y="8251610"/>
            <a:ext cx="6362523" cy="66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0"/>
              </a:lnSpc>
              <a:spcBef>
                <a:spcPct val="0"/>
              </a:spcBef>
            </a:pPr>
            <a:r>
              <a:rPr lang="en-US" sz="3864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Team 7</a:t>
            </a:r>
            <a:endParaRPr lang="en-US" sz="3864" i="1" dirty="0">
              <a:solidFill>
                <a:srgbClr val="000000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83699" y="1028700"/>
            <a:ext cx="7329409" cy="8777735"/>
          </a:xfrm>
          <a:custGeom>
            <a:avLst/>
            <a:gdLst/>
            <a:ahLst/>
            <a:cxnLst/>
            <a:rect l="l" t="t" r="r" b="b"/>
            <a:pathLst>
              <a:path w="7329409" h="8777735">
                <a:moveTo>
                  <a:pt x="0" y="0"/>
                </a:moveTo>
                <a:lnTo>
                  <a:pt x="7329408" y="0"/>
                </a:lnTo>
                <a:lnTo>
                  <a:pt x="7329408" y="8777735"/>
                </a:lnTo>
                <a:lnTo>
                  <a:pt x="0" y="8777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20300" y="2995190"/>
            <a:ext cx="6345540" cy="729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4919" lvl="1" indent="-352460" algn="l">
              <a:lnSpc>
                <a:spcPts val="5289"/>
              </a:lnSpc>
              <a:buFont typeface="Arial"/>
              <a:buChar char="•"/>
            </a:pPr>
            <a:r>
              <a:rPr lang="en-US" sz="326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Airline customer service struggles with:</a:t>
            </a:r>
          </a:p>
          <a:p>
            <a:pPr marL="1409839" lvl="2" indent="-469946" algn="l">
              <a:lnSpc>
                <a:spcPts val="5289"/>
              </a:lnSpc>
              <a:buFont typeface="Arial"/>
              <a:buChar char="⚬"/>
            </a:pPr>
            <a:r>
              <a:rPr lang="en-US" sz="326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Long call handling times</a:t>
            </a:r>
          </a:p>
          <a:p>
            <a:pPr marL="1409839" lvl="2" indent="-469946" algn="l">
              <a:lnSpc>
                <a:spcPts val="5289"/>
              </a:lnSpc>
              <a:buFont typeface="Arial"/>
              <a:buChar char="⚬"/>
            </a:pPr>
            <a:r>
              <a:rPr lang="en-US" sz="326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Repetitive issues</a:t>
            </a:r>
          </a:p>
          <a:p>
            <a:pPr marL="1409839" lvl="2" indent="-469946" algn="l">
              <a:lnSpc>
                <a:spcPts val="5289"/>
              </a:lnSpc>
              <a:buFont typeface="Arial"/>
              <a:buChar char="⚬"/>
            </a:pPr>
            <a:r>
              <a:rPr lang="en-US" sz="326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Manual call summarization</a:t>
            </a:r>
          </a:p>
          <a:p>
            <a:pPr marL="1409839" lvl="2" indent="-469946" algn="l">
              <a:lnSpc>
                <a:spcPts val="5289"/>
              </a:lnSpc>
              <a:buFont typeface="Arial"/>
              <a:buChar char="⚬"/>
            </a:pPr>
            <a:r>
              <a:rPr lang="en-US" sz="326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Low agent productivity</a:t>
            </a:r>
          </a:p>
          <a:p>
            <a:pPr marL="704919" lvl="1" indent="-352460" algn="l">
              <a:lnSpc>
                <a:spcPts val="5289"/>
              </a:lnSpc>
              <a:buFont typeface="Arial"/>
              <a:buChar char="•"/>
            </a:pPr>
            <a:r>
              <a:rPr lang="en-US" sz="326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Customer expectations for fast, efficient support are rising</a:t>
            </a:r>
          </a:p>
          <a:p>
            <a:pPr algn="l">
              <a:lnSpc>
                <a:spcPts val="5289"/>
              </a:lnSpc>
            </a:pPr>
            <a:endParaRPr lang="en-US" sz="326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20300" y="384623"/>
            <a:ext cx="8323700" cy="244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03"/>
              </a:lnSpc>
            </a:pPr>
            <a:r>
              <a:rPr lang="en-US" sz="9594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64494" y="1128496"/>
            <a:ext cx="1224871" cy="122487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64494" y="2878493"/>
            <a:ext cx="1224871" cy="122487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69809" y="1265047"/>
            <a:ext cx="940075" cy="889546"/>
          </a:xfrm>
          <a:custGeom>
            <a:avLst/>
            <a:gdLst/>
            <a:ahLst/>
            <a:cxnLst/>
            <a:rect l="l" t="t" r="r" b="b"/>
            <a:pathLst>
              <a:path w="940075" h="889546">
                <a:moveTo>
                  <a:pt x="0" y="0"/>
                </a:moveTo>
                <a:lnTo>
                  <a:pt x="940075" y="0"/>
                </a:lnTo>
                <a:lnTo>
                  <a:pt x="940075" y="889546"/>
                </a:lnTo>
                <a:lnTo>
                  <a:pt x="0" y="889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256154" y="3034094"/>
            <a:ext cx="889546" cy="889546"/>
          </a:xfrm>
          <a:custGeom>
            <a:avLst/>
            <a:gdLst/>
            <a:ahLst/>
            <a:cxnLst/>
            <a:rect l="l" t="t" r="r" b="b"/>
            <a:pathLst>
              <a:path w="889546" h="889546">
                <a:moveTo>
                  <a:pt x="0" y="0"/>
                </a:moveTo>
                <a:lnTo>
                  <a:pt x="889546" y="0"/>
                </a:lnTo>
                <a:lnTo>
                  <a:pt x="889546" y="889546"/>
                </a:lnTo>
                <a:lnTo>
                  <a:pt x="0" y="88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8064494" y="4628490"/>
            <a:ext cx="1224871" cy="122487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64494" y="6378487"/>
            <a:ext cx="1224871" cy="122487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64494" y="8128484"/>
            <a:ext cx="1224871" cy="122487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256154" y="4823058"/>
            <a:ext cx="835734" cy="835734"/>
          </a:xfrm>
          <a:custGeom>
            <a:avLst/>
            <a:gdLst/>
            <a:ahLst/>
            <a:cxnLst/>
            <a:rect l="l" t="t" r="r" b="b"/>
            <a:pathLst>
              <a:path w="835734" h="835734">
                <a:moveTo>
                  <a:pt x="0" y="0"/>
                </a:moveTo>
                <a:lnTo>
                  <a:pt x="835734" y="0"/>
                </a:lnTo>
                <a:lnTo>
                  <a:pt x="835734" y="835734"/>
                </a:lnTo>
                <a:lnTo>
                  <a:pt x="0" y="8357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256154" y="6492912"/>
            <a:ext cx="967385" cy="996021"/>
          </a:xfrm>
          <a:custGeom>
            <a:avLst/>
            <a:gdLst/>
            <a:ahLst/>
            <a:cxnLst/>
            <a:rect l="l" t="t" r="r" b="b"/>
            <a:pathLst>
              <a:path w="967385" h="996021">
                <a:moveTo>
                  <a:pt x="0" y="0"/>
                </a:moveTo>
                <a:lnTo>
                  <a:pt x="967385" y="0"/>
                </a:lnTo>
                <a:lnTo>
                  <a:pt x="967385" y="996020"/>
                </a:lnTo>
                <a:lnTo>
                  <a:pt x="0" y="996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8230561" y="8309159"/>
            <a:ext cx="892737" cy="863520"/>
          </a:xfrm>
          <a:custGeom>
            <a:avLst/>
            <a:gdLst/>
            <a:ahLst/>
            <a:cxnLst/>
            <a:rect l="l" t="t" r="r" b="b"/>
            <a:pathLst>
              <a:path w="892737" h="863520">
                <a:moveTo>
                  <a:pt x="0" y="0"/>
                </a:moveTo>
                <a:lnTo>
                  <a:pt x="892737" y="0"/>
                </a:lnTo>
                <a:lnTo>
                  <a:pt x="892737" y="863520"/>
                </a:lnTo>
                <a:lnTo>
                  <a:pt x="0" y="8635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 rot="923356" flipH="1">
            <a:off x="1171054" y="4945846"/>
            <a:ext cx="5493153" cy="1815029"/>
          </a:xfrm>
          <a:custGeom>
            <a:avLst/>
            <a:gdLst/>
            <a:ahLst/>
            <a:cxnLst/>
            <a:rect l="l" t="t" r="r" b="b"/>
            <a:pathLst>
              <a:path w="5493153" h="1815029">
                <a:moveTo>
                  <a:pt x="5493153" y="0"/>
                </a:moveTo>
                <a:lnTo>
                  <a:pt x="0" y="0"/>
                </a:lnTo>
                <a:lnTo>
                  <a:pt x="0" y="1815029"/>
                </a:lnTo>
                <a:lnTo>
                  <a:pt x="5493153" y="1815029"/>
                </a:lnTo>
                <a:lnTo>
                  <a:pt x="5493153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474777" y="2297468"/>
            <a:ext cx="5536638" cy="178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5"/>
              </a:lnSpc>
            </a:pPr>
            <a:r>
              <a:rPr lang="en-US" sz="6995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Capabilities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02155" y="981075"/>
            <a:ext cx="7873672" cy="831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Transcription:</a:t>
            </a:r>
            <a:r>
              <a:rPr lang="en-US" sz="248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Converts speech to text in real-time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Summarization:</a:t>
            </a:r>
            <a:r>
              <a:rPr lang="en-US" sz="248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Summarizes the conversation highlighting the problem and recommended solution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CRM Integration:</a:t>
            </a:r>
            <a:r>
              <a:rPr lang="en-US" sz="248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Automatically updates airline CRM systems with summaries and metadata, reducing manual agent effort.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Resolution Recommendations</a:t>
            </a:r>
            <a:r>
              <a:rPr lang="en-US" sz="248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: AI suggests the best next steps based on historical data, previous case resolutions,  and customer queries.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Multi-Language Support: </a:t>
            </a:r>
            <a:r>
              <a:rPr lang="en-US" sz="248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Seamless support for global airlines with multilingual transcription and summarization.  (PROPOSED SCOPE FOR FUTURE)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2686" y="406127"/>
            <a:ext cx="17502627" cy="84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Value Proposition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9151" y="2041345"/>
            <a:ext cx="7873672" cy="675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0"/>
              </a:lnSpc>
            </a:pPr>
            <a:r>
              <a:rPr lang="en-US" sz="3585" b="1">
                <a:solidFill>
                  <a:srgbClr val="458C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Pain Point :</a:t>
            </a: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Long call duration </a:t>
            </a: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Repetitive Queries</a:t>
            </a:r>
            <a:r>
              <a:rPr lang="en-US" sz="248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Agent Burnout</a:t>
            </a: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Rising Expectations </a:t>
            </a: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0" y="2041345"/>
            <a:ext cx="7873672" cy="5876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0"/>
              </a:lnSpc>
            </a:pPr>
            <a:r>
              <a:rPr lang="en-US" sz="3585" b="1">
                <a:solidFill>
                  <a:srgbClr val="458C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we Solve It :</a:t>
            </a: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transcription cuts handling time</a:t>
            </a: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 suggests resolutions based on past data</a:t>
            </a: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Summarization &amp; CRM integration reduce workload</a:t>
            </a:r>
          </a:p>
          <a:p>
            <a:pPr algn="l">
              <a:lnSpc>
                <a:spcPts val="3480"/>
              </a:lnSpc>
            </a:pPr>
            <a:endParaRPr lang="en-US" sz="2485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480"/>
              </a:lnSpc>
            </a:pPr>
            <a:r>
              <a:rPr lang="en-US" sz="2485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Fast responses, 24/7 capability (future-ready)</a:t>
            </a:r>
            <a:r>
              <a:rPr lang="en-US" sz="2485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188324" y="2932457"/>
            <a:ext cx="178137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188324" y="4313582"/>
            <a:ext cx="178137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188324" y="5702273"/>
            <a:ext cx="178137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188324" y="7092923"/>
            <a:ext cx="178137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52176" y="-1094343"/>
            <a:ext cx="2897479" cy="289747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87084" y="4523444"/>
            <a:ext cx="18288000" cy="5325758"/>
            <a:chOff x="0" y="0"/>
            <a:chExt cx="4816593" cy="14026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402669"/>
            </a:xfrm>
            <a:custGeom>
              <a:avLst/>
              <a:gdLst/>
              <a:ahLst/>
              <a:cxnLst/>
              <a:rect l="l" t="t" r="r" b="b"/>
              <a:pathLst>
                <a:path w="4816592" h="1402669">
                  <a:moveTo>
                    <a:pt x="0" y="0"/>
                  </a:moveTo>
                  <a:lnTo>
                    <a:pt x="4816592" y="0"/>
                  </a:lnTo>
                  <a:lnTo>
                    <a:pt x="4816592" y="1402669"/>
                  </a:lnTo>
                  <a:lnTo>
                    <a:pt x="0" y="1402669"/>
                  </a:ln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816593" cy="1459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28227" y="3263759"/>
            <a:ext cx="9107846" cy="6071897"/>
          </a:xfrm>
          <a:custGeom>
            <a:avLst/>
            <a:gdLst/>
            <a:ahLst/>
            <a:cxnLst/>
            <a:rect l="l" t="t" r="r" b="b"/>
            <a:pathLst>
              <a:path w="9107846" h="6071897">
                <a:moveTo>
                  <a:pt x="0" y="0"/>
                </a:moveTo>
                <a:lnTo>
                  <a:pt x="9107846" y="0"/>
                </a:lnTo>
                <a:lnTo>
                  <a:pt x="9107846" y="6071898"/>
                </a:lnTo>
                <a:lnTo>
                  <a:pt x="0" y="607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20300" y="609766"/>
            <a:ext cx="8323700" cy="253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1"/>
              </a:lnSpc>
            </a:pPr>
            <a:r>
              <a:rPr lang="en-US" sz="6695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in Customer Service Market Growth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46956" y="1745986"/>
            <a:ext cx="7592868" cy="236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2" b="1">
                <a:solidFill>
                  <a:srgbClr val="3D3D3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global AI for customer service market is experiencing robust expansion, reflecting a compound annual growth rate (CAGR) of 25.8% during the period of 2024 to 2030.</a:t>
            </a:r>
          </a:p>
          <a:p>
            <a:pPr algn="l">
              <a:lnSpc>
                <a:spcPts val="3798"/>
              </a:lnSpc>
            </a:pPr>
            <a:endParaRPr lang="en-US" sz="2712" b="1">
              <a:solidFill>
                <a:srgbClr val="3D3D3D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3364395" y="9389864"/>
            <a:ext cx="16693089" cy="45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sz="26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sphericalinsights.com/reports/airlines-market"/>
              </a:rPr>
              <a:t>Sources: </a:t>
            </a:r>
            <a:r>
              <a:rPr lang="en-US" sz="26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www.globenewswire.com/news-release/2025/03/07/3038782/28124/en/AI-in-Customer-Service-Market-Report-2025-2030-Case-Studies-Emerging-Trends-Leading-Strategies-of-Microsoft-IBM-Google-AWS-Salesforce-More.html?utm_source=chatgpt.com"/>
              </a:rPr>
              <a:t>AI in</a:t>
            </a:r>
            <a:r>
              <a:rPr lang="en-US" sz="26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" tooltip="https://www.globenewswire.com/news-release/2025/03/07/3038782/28124/en/AI-in-Customer-Service-Market-Report-2025-2030-Case-Studies-Emerging-Trends-Leading-Strategies-of-Microsoft-IBM-Google-AWS-Salesforce-More.html?utm_source=chatgpt.com"/>
              </a:rPr>
              <a:t> Customer Service Market Report 2025-2030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46956" y="5086350"/>
            <a:ext cx="7669340" cy="236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  <a:spcBef>
                <a:spcPct val="0"/>
              </a:spcBef>
            </a:pPr>
            <a:r>
              <a:rPr lang="en-US" sz="270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TAM encompasses the broader AI-driven customer service market across all industries. </a:t>
            </a:r>
          </a:p>
          <a:p>
            <a:pPr algn="l">
              <a:lnSpc>
                <a:spcPts val="3793"/>
              </a:lnSpc>
              <a:spcBef>
                <a:spcPct val="0"/>
              </a:spcBef>
            </a:pPr>
            <a:r>
              <a:rPr lang="en-US" sz="270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market is projected to grow to USD 47.82 billion by 2030,with a CAGR of 25.8%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2686" y="374080"/>
            <a:ext cx="17502627" cy="84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Competitive Analysis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1221668"/>
          <a:ext cx="15913350" cy="8582026"/>
        </p:xfrm>
        <a:graphic>
          <a:graphicData uri="http://schemas.openxmlformats.org/drawingml/2006/table">
            <a:tbl>
              <a:tblPr/>
              <a:tblGrid>
                <a:gridCol w="318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2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2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82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866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Our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Observe.ai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LivePerson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NICE CXone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521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Objective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Airline call support automation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Agent coaching &amp; QA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Omnichannel automation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Contact center analytics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962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Real-time Transcription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62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Smart Summarization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CRM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Native (airline-specific)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Partial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Limited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962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Resolution Suggestions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AI-driven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Limited (chatbot)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866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Multilingual 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🔜 Planned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9626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Airline-Focused Design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✅ 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❌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54460" y="1253714"/>
            <a:ext cx="13579081" cy="9033286"/>
          </a:xfrm>
          <a:custGeom>
            <a:avLst/>
            <a:gdLst/>
            <a:ahLst/>
            <a:cxnLst/>
            <a:rect l="l" t="t" r="r" b="b"/>
            <a:pathLst>
              <a:path w="13579081" h="9033286">
                <a:moveTo>
                  <a:pt x="0" y="0"/>
                </a:moveTo>
                <a:lnTo>
                  <a:pt x="13579080" y="0"/>
                </a:lnTo>
                <a:lnTo>
                  <a:pt x="13579080" y="9033286"/>
                </a:lnTo>
                <a:lnTo>
                  <a:pt x="0" y="903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13" b="-57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92686" y="406127"/>
            <a:ext cx="17502627" cy="84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19766" y="2742216"/>
            <a:ext cx="12048468" cy="7967049"/>
          </a:xfrm>
          <a:custGeom>
            <a:avLst/>
            <a:gdLst/>
            <a:ahLst/>
            <a:cxnLst/>
            <a:rect l="l" t="t" r="r" b="b"/>
            <a:pathLst>
              <a:path w="12048468" h="7967049">
                <a:moveTo>
                  <a:pt x="0" y="0"/>
                </a:moveTo>
                <a:lnTo>
                  <a:pt x="12048468" y="0"/>
                </a:lnTo>
                <a:lnTo>
                  <a:pt x="12048468" y="7967049"/>
                </a:lnTo>
                <a:lnTo>
                  <a:pt x="0" y="7967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92686" y="406127"/>
            <a:ext cx="17502627" cy="84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94185" y="1712829"/>
            <a:ext cx="6499630" cy="51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7"/>
              </a:lnSpc>
              <a:spcBef>
                <a:spcPct val="0"/>
              </a:spcBef>
            </a:pPr>
            <a:r>
              <a:rPr lang="en-US" sz="3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Automatic Sound Recognition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8254" y="313133"/>
            <a:ext cx="12711491" cy="9660733"/>
          </a:xfrm>
          <a:custGeom>
            <a:avLst/>
            <a:gdLst/>
            <a:ahLst/>
            <a:cxnLst/>
            <a:rect l="l" t="t" r="r" b="b"/>
            <a:pathLst>
              <a:path w="12711491" h="9660733">
                <a:moveTo>
                  <a:pt x="0" y="0"/>
                </a:moveTo>
                <a:lnTo>
                  <a:pt x="12711492" y="0"/>
                </a:lnTo>
                <a:lnTo>
                  <a:pt x="12711492" y="9660734"/>
                </a:lnTo>
                <a:lnTo>
                  <a:pt x="0" y="9660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92686" y="406127"/>
            <a:ext cx="17502627" cy="84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94185" y="1712829"/>
            <a:ext cx="6499630" cy="51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7"/>
              </a:lnSpc>
              <a:spcBef>
                <a:spcPct val="0"/>
              </a:spcBef>
            </a:pPr>
            <a:r>
              <a:rPr lang="en-US" sz="304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Natural Language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54460" y="1253714"/>
            <a:ext cx="13579081" cy="9033286"/>
          </a:xfrm>
          <a:custGeom>
            <a:avLst/>
            <a:gdLst/>
            <a:ahLst/>
            <a:cxnLst/>
            <a:rect l="l" t="t" r="r" b="b"/>
            <a:pathLst>
              <a:path w="13579081" h="9033286">
                <a:moveTo>
                  <a:pt x="0" y="0"/>
                </a:moveTo>
                <a:lnTo>
                  <a:pt x="13579080" y="0"/>
                </a:lnTo>
                <a:lnTo>
                  <a:pt x="13579080" y="9033286"/>
                </a:lnTo>
                <a:lnTo>
                  <a:pt x="0" y="903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13" b="-57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735404" y="8600588"/>
            <a:ext cx="1315424" cy="131542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2841C7">
                    <a:alpha val="100000"/>
                  </a:srgbClr>
                </a:gs>
                <a:gs pos="100000">
                  <a:srgbClr val="4EEA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3200" y="53975"/>
              <a:ext cx="406400" cy="758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2686" y="406127"/>
            <a:ext cx="17502627" cy="84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799270" y="7562849"/>
            <a:ext cx="4503116" cy="1695451"/>
            <a:chOff x="0" y="0"/>
            <a:chExt cx="6004155" cy="2260602"/>
          </a:xfrm>
        </p:grpSpPr>
        <p:sp>
          <p:nvSpPr>
            <p:cNvPr id="8" name="AutoShape 8"/>
            <p:cNvSpPr/>
            <p:nvPr/>
          </p:nvSpPr>
          <p:spPr>
            <a:xfrm>
              <a:off x="6574" y="713109"/>
              <a:ext cx="5581914" cy="149566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 flipH="1">
              <a:off x="28939" y="12040"/>
              <a:ext cx="370936" cy="68902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AutoShape 10"/>
            <p:cNvSpPr/>
            <p:nvPr/>
          </p:nvSpPr>
          <p:spPr>
            <a:xfrm flipH="1">
              <a:off x="5610853" y="1559532"/>
              <a:ext cx="370936" cy="68902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2686" y="1908292"/>
            <a:ext cx="17396468" cy="7350008"/>
          </a:xfrm>
          <a:custGeom>
            <a:avLst/>
            <a:gdLst/>
            <a:ahLst/>
            <a:cxnLst/>
            <a:rect l="l" t="t" r="r" b="b"/>
            <a:pathLst>
              <a:path w="17396468" h="7350008">
                <a:moveTo>
                  <a:pt x="0" y="0"/>
                </a:moveTo>
                <a:lnTo>
                  <a:pt x="17396469" y="0"/>
                </a:lnTo>
                <a:lnTo>
                  <a:pt x="17396469" y="7350008"/>
                </a:lnTo>
                <a:lnTo>
                  <a:pt x="0" y="7350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92686" y="406127"/>
            <a:ext cx="17502627" cy="164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Architecture for Audio Transcription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3877" y="1546386"/>
            <a:ext cx="19115754" cy="9247246"/>
          </a:xfrm>
          <a:custGeom>
            <a:avLst/>
            <a:gdLst/>
            <a:ahLst/>
            <a:cxnLst/>
            <a:rect l="l" t="t" r="r" b="b"/>
            <a:pathLst>
              <a:path w="19115754" h="9247246">
                <a:moveTo>
                  <a:pt x="0" y="0"/>
                </a:moveTo>
                <a:lnTo>
                  <a:pt x="19115754" y="0"/>
                </a:lnTo>
                <a:lnTo>
                  <a:pt x="19115754" y="9247246"/>
                </a:lnTo>
                <a:lnTo>
                  <a:pt x="0" y="9247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92686" y="406127"/>
            <a:ext cx="17502627" cy="84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42"/>
              </a:lnSpc>
            </a:pPr>
            <a:r>
              <a:rPr lang="en-US" sz="6472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Flow for Audio Transcription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38024" y="-1094343"/>
            <a:ext cx="3611631" cy="36116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9411" y="7817474"/>
            <a:ext cx="3611631" cy="361163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66C4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07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064425" y="4210467"/>
            <a:ext cx="8735972" cy="93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35"/>
              </a:lnSpc>
            </a:pPr>
            <a:r>
              <a:rPr lang="en-US" sz="7077" b="1">
                <a:solidFill>
                  <a:srgbClr val="458CC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9" name="Freeform 9"/>
          <p:cNvSpPr/>
          <p:nvPr/>
        </p:nvSpPr>
        <p:spPr>
          <a:xfrm>
            <a:off x="18272180" y="10255570"/>
            <a:ext cx="15820" cy="31430"/>
          </a:xfrm>
          <a:custGeom>
            <a:avLst/>
            <a:gdLst/>
            <a:ahLst/>
            <a:cxnLst/>
            <a:rect l="l" t="t" r="r" b="b"/>
            <a:pathLst>
              <a:path w="15820" h="31430">
                <a:moveTo>
                  <a:pt x="0" y="0"/>
                </a:moveTo>
                <a:lnTo>
                  <a:pt x="15820" y="0"/>
                </a:lnTo>
                <a:lnTo>
                  <a:pt x="15820" y="31430"/>
                </a:lnTo>
                <a:lnTo>
                  <a:pt x="0" y="31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Custom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Montserrat Bold</vt:lpstr>
      <vt:lpstr>IBM Plex Sans</vt:lpstr>
      <vt:lpstr>Anton</vt:lpstr>
      <vt:lpstr>Open Sans Bold</vt:lpstr>
      <vt:lpstr>IBM Plex Sans Bold</vt:lpstr>
      <vt:lpstr>Open Sans Italics</vt:lpstr>
      <vt:lpstr>Open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</dc:title>
  <cp:lastModifiedBy>Aditya Vvs</cp:lastModifiedBy>
  <cp:revision>2</cp:revision>
  <dcterms:created xsi:type="dcterms:W3CDTF">2006-08-16T00:00:00Z</dcterms:created>
  <dcterms:modified xsi:type="dcterms:W3CDTF">2026-03-11T14:56:14Z</dcterms:modified>
  <dc:identifier>DAGiexh94gM</dc:identifier>
</cp:coreProperties>
</file>